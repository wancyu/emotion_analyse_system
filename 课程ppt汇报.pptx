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76" r:id="rId3"/>
    <p:sldId id="285" r:id="rId4"/>
    <p:sldId id="257" r:id="rId5"/>
    <p:sldId id="277" r:id="rId6"/>
    <p:sldId id="278" r:id="rId7"/>
    <p:sldId id="279" r:id="rId8"/>
    <p:sldId id="283" r:id="rId9"/>
    <p:sldId id="281" r:id="rId10"/>
    <p:sldId id="290" r:id="rId11"/>
    <p:sldId id="280" r:id="rId12"/>
    <p:sldId id="282" r:id="rId13"/>
    <p:sldId id="291" r:id="rId14"/>
    <p:sldId id="286" r:id="rId15"/>
    <p:sldId id="284" r:id="rId16"/>
    <p:sldId id="266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92917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1" d="100"/>
          <a:sy n="81" d="100"/>
        </p:scale>
        <p:origin x="61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 55"/>
          <p:cNvSpPr/>
          <p:nvPr/>
        </p:nvSpPr>
        <p:spPr>
          <a:xfrm>
            <a:off x="0" y="4534296"/>
            <a:ext cx="12192000" cy="2323704"/>
          </a:xfrm>
          <a:prstGeom prst="rect">
            <a:avLst/>
          </a:prstGeom>
          <a:blipFill dpi="0" rotWithShape="1">
            <a:blip r:embed="rId3">
              <a:alphaModFix amt="17000"/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4" name="图片占位符 5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" r="44"/>
          <a:stretch>
            <a:fillRect/>
          </a:stretch>
        </p:blipFill>
        <p:spPr>
          <a:xfrm>
            <a:off x="0" y="-2"/>
            <a:ext cx="12192000" cy="3429000"/>
          </a:xfrm>
          <a:prstGeom prst="rect">
            <a:avLst/>
          </a:prstGeom>
        </p:spPr>
      </p:pic>
      <p:grpSp>
        <p:nvGrpSpPr>
          <p:cNvPr id="58" name="组合 57"/>
          <p:cNvGrpSpPr/>
          <p:nvPr/>
        </p:nvGrpSpPr>
        <p:grpSpPr>
          <a:xfrm>
            <a:off x="3265715" y="3810569"/>
            <a:ext cx="5384033" cy="1360573"/>
            <a:chOff x="3265716" y="3882585"/>
            <a:chExt cx="5384033" cy="1360573"/>
          </a:xfrm>
        </p:grpSpPr>
        <p:sp>
          <p:nvSpPr>
            <p:cNvPr id="51" name="矩形 50"/>
            <p:cNvSpPr/>
            <p:nvPr/>
          </p:nvSpPr>
          <p:spPr>
            <a:xfrm>
              <a:off x="3540658" y="3882585"/>
              <a:ext cx="5109091" cy="9036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4800">
                  <a:solidFill>
                    <a:srgbClr val="B92917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人工智能基础</a:t>
              </a:r>
              <a:r>
                <a:rPr lang="zh-CN" altLang="en-US" sz="48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汇报</a:t>
              </a:r>
            </a:p>
          </p:txBody>
        </p:sp>
        <p:sp>
          <p:nvSpPr>
            <p:cNvPr id="52" name="矩形 51"/>
            <p:cNvSpPr/>
            <p:nvPr/>
          </p:nvSpPr>
          <p:spPr>
            <a:xfrm>
              <a:off x="3265716" y="4745201"/>
              <a:ext cx="3173044" cy="49795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2400"/>
                <a:t>多模态情感分析系统</a:t>
              </a:r>
              <a:endParaRPr lang="en-US" altLang="zh-CN" sz="2400">
                <a:solidFill>
                  <a:schemeClr val="tx1">
                    <a:lumMod val="65000"/>
                    <a:lumOff val="3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</p:txBody>
        </p:sp>
      </p:grpSp>
      <p:sp>
        <p:nvSpPr>
          <p:cNvPr id="57" name="矩形 56"/>
          <p:cNvSpPr/>
          <p:nvPr/>
        </p:nvSpPr>
        <p:spPr>
          <a:xfrm>
            <a:off x="0" y="-2"/>
            <a:ext cx="12192000" cy="3429000"/>
          </a:xfrm>
          <a:prstGeom prst="rect">
            <a:avLst/>
          </a:prstGeom>
          <a:solidFill>
            <a:srgbClr val="B92917">
              <a:alpha val="86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5" name="763a3f4e-9d53-4af4-bab9-7348766026be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4902958" y="1589289"/>
            <a:ext cx="1867069" cy="571814"/>
            <a:chOff x="2988659" y="2478922"/>
            <a:chExt cx="6214680" cy="1903326"/>
          </a:xfrm>
          <a:solidFill>
            <a:schemeClr val="bg1"/>
          </a:solidFill>
        </p:grpSpPr>
        <p:grpSp>
          <p:nvGrpSpPr>
            <p:cNvPr id="26" name="îṡlïḓe"/>
            <p:cNvGrpSpPr/>
            <p:nvPr/>
          </p:nvGrpSpPr>
          <p:grpSpPr>
            <a:xfrm>
              <a:off x="2988659" y="2478922"/>
              <a:ext cx="1901065" cy="1903326"/>
              <a:chOff x="1735138" y="2095500"/>
              <a:chExt cx="2667000" cy="2670175"/>
            </a:xfrm>
            <a:grpFill/>
          </p:grpSpPr>
          <p:sp>
            <p:nvSpPr>
              <p:cNvPr id="33" name="ïSľïdé"/>
              <p:cNvSpPr/>
              <p:nvPr/>
            </p:nvSpPr>
            <p:spPr bwMode="auto">
              <a:xfrm>
                <a:off x="2913063" y="3238500"/>
                <a:ext cx="319088" cy="762000"/>
              </a:xfrm>
              <a:custGeom>
                <a:avLst/>
                <a:gdLst>
                  <a:gd name="T0" fmla="*/ 56 w 97"/>
                  <a:gd name="T1" fmla="*/ 193 h 231"/>
                  <a:gd name="T2" fmla="*/ 41 w 97"/>
                  <a:gd name="T3" fmla="*/ 193 h 231"/>
                  <a:gd name="T4" fmla="*/ 41 w 97"/>
                  <a:gd name="T5" fmla="*/ 22 h 231"/>
                  <a:gd name="T6" fmla="*/ 23 w 97"/>
                  <a:gd name="T7" fmla="*/ 0 h 231"/>
                  <a:gd name="T8" fmla="*/ 4 w 97"/>
                  <a:gd name="T9" fmla="*/ 22 h 231"/>
                  <a:gd name="T10" fmla="*/ 1 w 97"/>
                  <a:gd name="T11" fmla="*/ 175 h 231"/>
                  <a:gd name="T12" fmla="*/ 48 w 97"/>
                  <a:gd name="T13" fmla="*/ 231 h 231"/>
                  <a:gd name="T14" fmla="*/ 96 w 97"/>
                  <a:gd name="T15" fmla="*/ 175 h 231"/>
                  <a:gd name="T16" fmla="*/ 92 w 97"/>
                  <a:gd name="T17" fmla="*/ 22 h 231"/>
                  <a:gd name="T18" fmla="*/ 73 w 97"/>
                  <a:gd name="T19" fmla="*/ 0 h 231"/>
                  <a:gd name="T20" fmla="*/ 56 w 97"/>
                  <a:gd name="T21" fmla="*/ 22 h 231"/>
                  <a:gd name="T22" fmla="*/ 56 w 97"/>
                  <a:gd name="T23" fmla="*/ 19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7" h="231">
                    <a:moveTo>
                      <a:pt x="56" y="193"/>
                    </a:moveTo>
                    <a:cubicBezTo>
                      <a:pt x="41" y="193"/>
                      <a:pt x="41" y="193"/>
                      <a:pt x="41" y="193"/>
                    </a:cubicBezTo>
                    <a:cubicBezTo>
                      <a:pt x="41" y="136"/>
                      <a:pt x="41" y="79"/>
                      <a:pt x="41" y="22"/>
                    </a:cubicBezTo>
                    <a:cubicBezTo>
                      <a:pt x="40" y="11"/>
                      <a:pt x="38" y="1"/>
                      <a:pt x="23" y="0"/>
                    </a:cubicBezTo>
                    <a:cubicBezTo>
                      <a:pt x="13" y="0"/>
                      <a:pt x="4" y="7"/>
                      <a:pt x="4" y="22"/>
                    </a:cubicBezTo>
                    <a:cubicBezTo>
                      <a:pt x="3" y="73"/>
                      <a:pt x="2" y="124"/>
                      <a:pt x="1" y="175"/>
                    </a:cubicBezTo>
                    <a:cubicBezTo>
                      <a:pt x="0" y="206"/>
                      <a:pt x="15" y="231"/>
                      <a:pt x="48" y="231"/>
                    </a:cubicBezTo>
                    <a:cubicBezTo>
                      <a:pt x="82" y="231"/>
                      <a:pt x="97" y="206"/>
                      <a:pt x="96" y="175"/>
                    </a:cubicBezTo>
                    <a:cubicBezTo>
                      <a:pt x="95" y="124"/>
                      <a:pt x="94" y="73"/>
                      <a:pt x="92" y="22"/>
                    </a:cubicBezTo>
                    <a:cubicBezTo>
                      <a:pt x="92" y="7"/>
                      <a:pt x="84" y="0"/>
                      <a:pt x="73" y="0"/>
                    </a:cubicBezTo>
                    <a:cubicBezTo>
                      <a:pt x="58" y="1"/>
                      <a:pt x="56" y="11"/>
                      <a:pt x="56" y="22"/>
                    </a:cubicBezTo>
                    <a:cubicBezTo>
                      <a:pt x="56" y="79"/>
                      <a:pt x="56" y="136"/>
                      <a:pt x="56" y="1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" name="îs1iḋe"/>
              <p:cNvSpPr/>
              <p:nvPr/>
            </p:nvSpPr>
            <p:spPr bwMode="auto">
              <a:xfrm>
                <a:off x="2008188" y="2713038"/>
                <a:ext cx="257175" cy="342900"/>
              </a:xfrm>
              <a:custGeom>
                <a:avLst/>
                <a:gdLst>
                  <a:gd name="T0" fmla="*/ 13 w 78"/>
                  <a:gd name="T1" fmla="*/ 80 h 104"/>
                  <a:gd name="T2" fmla="*/ 6 w 78"/>
                  <a:gd name="T3" fmla="*/ 80 h 104"/>
                  <a:gd name="T4" fmla="*/ 1 w 78"/>
                  <a:gd name="T5" fmla="*/ 85 h 104"/>
                  <a:gd name="T6" fmla="*/ 7 w 78"/>
                  <a:gd name="T7" fmla="*/ 96 h 104"/>
                  <a:gd name="T8" fmla="*/ 36 w 78"/>
                  <a:gd name="T9" fmla="*/ 103 h 104"/>
                  <a:gd name="T10" fmla="*/ 40 w 78"/>
                  <a:gd name="T11" fmla="*/ 94 h 104"/>
                  <a:gd name="T12" fmla="*/ 26 w 78"/>
                  <a:gd name="T13" fmla="*/ 87 h 104"/>
                  <a:gd name="T14" fmla="*/ 20 w 78"/>
                  <a:gd name="T15" fmla="*/ 62 h 104"/>
                  <a:gd name="T16" fmla="*/ 27 w 78"/>
                  <a:gd name="T17" fmla="*/ 38 h 104"/>
                  <a:gd name="T18" fmla="*/ 32 w 78"/>
                  <a:gd name="T19" fmla="*/ 40 h 104"/>
                  <a:gd name="T20" fmla="*/ 38 w 78"/>
                  <a:gd name="T21" fmla="*/ 54 h 104"/>
                  <a:gd name="T22" fmla="*/ 35 w 78"/>
                  <a:gd name="T23" fmla="*/ 56 h 104"/>
                  <a:gd name="T24" fmla="*/ 28 w 78"/>
                  <a:gd name="T25" fmla="*/ 56 h 104"/>
                  <a:gd name="T26" fmla="*/ 26 w 78"/>
                  <a:gd name="T27" fmla="*/ 63 h 104"/>
                  <a:gd name="T28" fmla="*/ 34 w 78"/>
                  <a:gd name="T29" fmla="*/ 65 h 104"/>
                  <a:gd name="T30" fmla="*/ 38 w 78"/>
                  <a:gd name="T31" fmla="*/ 65 h 104"/>
                  <a:gd name="T32" fmla="*/ 37 w 78"/>
                  <a:gd name="T33" fmla="*/ 74 h 104"/>
                  <a:gd name="T34" fmla="*/ 37 w 78"/>
                  <a:gd name="T35" fmla="*/ 80 h 104"/>
                  <a:gd name="T36" fmla="*/ 45 w 78"/>
                  <a:gd name="T37" fmla="*/ 80 h 104"/>
                  <a:gd name="T38" fmla="*/ 45 w 78"/>
                  <a:gd name="T39" fmla="*/ 68 h 104"/>
                  <a:gd name="T40" fmla="*/ 49 w 78"/>
                  <a:gd name="T41" fmla="*/ 57 h 104"/>
                  <a:gd name="T42" fmla="*/ 58 w 78"/>
                  <a:gd name="T43" fmla="*/ 55 h 104"/>
                  <a:gd name="T44" fmla="*/ 66 w 78"/>
                  <a:gd name="T45" fmla="*/ 42 h 104"/>
                  <a:gd name="T46" fmla="*/ 71 w 78"/>
                  <a:gd name="T47" fmla="*/ 17 h 104"/>
                  <a:gd name="T48" fmla="*/ 73 w 78"/>
                  <a:gd name="T49" fmla="*/ 7 h 104"/>
                  <a:gd name="T50" fmla="*/ 38 w 78"/>
                  <a:gd name="T51" fmla="*/ 8 h 104"/>
                  <a:gd name="T52" fmla="*/ 16 w 78"/>
                  <a:gd name="T53" fmla="*/ 40 h 104"/>
                  <a:gd name="T54" fmla="*/ 12 w 78"/>
                  <a:gd name="T55" fmla="*/ 69 h 104"/>
                  <a:gd name="T56" fmla="*/ 13 w 78"/>
                  <a:gd name="T57" fmla="*/ 80 h 104"/>
                  <a:gd name="T58" fmla="*/ 13 w 78"/>
                  <a:gd name="T59" fmla="*/ 80 h 104"/>
                  <a:gd name="T60" fmla="*/ 44 w 78"/>
                  <a:gd name="T61" fmla="*/ 54 h 104"/>
                  <a:gd name="T62" fmla="*/ 42 w 78"/>
                  <a:gd name="T63" fmla="*/ 56 h 104"/>
                  <a:gd name="T64" fmla="*/ 42 w 78"/>
                  <a:gd name="T65" fmla="*/ 39 h 104"/>
                  <a:gd name="T66" fmla="*/ 35 w 78"/>
                  <a:gd name="T67" fmla="*/ 35 h 104"/>
                  <a:gd name="T68" fmla="*/ 29 w 78"/>
                  <a:gd name="T69" fmla="*/ 35 h 104"/>
                  <a:gd name="T70" fmla="*/ 36 w 78"/>
                  <a:gd name="T71" fmla="*/ 23 h 104"/>
                  <a:gd name="T72" fmla="*/ 54 w 78"/>
                  <a:gd name="T73" fmla="*/ 11 h 104"/>
                  <a:gd name="T74" fmla="*/ 55 w 78"/>
                  <a:gd name="T75" fmla="*/ 28 h 104"/>
                  <a:gd name="T76" fmla="*/ 54 w 78"/>
                  <a:gd name="T77" fmla="*/ 45 h 104"/>
                  <a:gd name="T78" fmla="*/ 48 w 78"/>
                  <a:gd name="T79" fmla="*/ 48 h 104"/>
                  <a:gd name="T80" fmla="*/ 44 w 78"/>
                  <a:gd name="T81" fmla="*/ 54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8" h="104">
                    <a:moveTo>
                      <a:pt x="13" y="80"/>
                    </a:moveTo>
                    <a:cubicBezTo>
                      <a:pt x="12" y="81"/>
                      <a:pt x="9" y="79"/>
                      <a:pt x="6" y="80"/>
                    </a:cubicBezTo>
                    <a:cubicBezTo>
                      <a:pt x="3" y="82"/>
                      <a:pt x="2" y="84"/>
                      <a:pt x="1" y="85"/>
                    </a:cubicBezTo>
                    <a:cubicBezTo>
                      <a:pt x="0" y="87"/>
                      <a:pt x="1" y="92"/>
                      <a:pt x="7" y="96"/>
                    </a:cubicBezTo>
                    <a:cubicBezTo>
                      <a:pt x="12" y="100"/>
                      <a:pt x="32" y="104"/>
                      <a:pt x="36" y="103"/>
                    </a:cubicBezTo>
                    <a:cubicBezTo>
                      <a:pt x="40" y="102"/>
                      <a:pt x="43" y="94"/>
                      <a:pt x="40" y="94"/>
                    </a:cubicBezTo>
                    <a:cubicBezTo>
                      <a:pt x="36" y="93"/>
                      <a:pt x="28" y="91"/>
                      <a:pt x="26" y="87"/>
                    </a:cubicBezTo>
                    <a:cubicBezTo>
                      <a:pt x="23" y="83"/>
                      <a:pt x="19" y="76"/>
                      <a:pt x="20" y="62"/>
                    </a:cubicBezTo>
                    <a:cubicBezTo>
                      <a:pt x="20" y="48"/>
                      <a:pt x="25" y="40"/>
                      <a:pt x="27" y="38"/>
                    </a:cubicBezTo>
                    <a:cubicBezTo>
                      <a:pt x="29" y="37"/>
                      <a:pt x="32" y="39"/>
                      <a:pt x="32" y="40"/>
                    </a:cubicBezTo>
                    <a:cubicBezTo>
                      <a:pt x="33" y="41"/>
                      <a:pt x="37" y="53"/>
                      <a:pt x="38" y="54"/>
                    </a:cubicBezTo>
                    <a:cubicBezTo>
                      <a:pt x="38" y="54"/>
                      <a:pt x="38" y="58"/>
                      <a:pt x="35" y="56"/>
                    </a:cubicBezTo>
                    <a:cubicBezTo>
                      <a:pt x="33" y="55"/>
                      <a:pt x="30" y="54"/>
                      <a:pt x="28" y="56"/>
                    </a:cubicBezTo>
                    <a:cubicBezTo>
                      <a:pt x="25" y="57"/>
                      <a:pt x="23" y="60"/>
                      <a:pt x="26" y="63"/>
                    </a:cubicBezTo>
                    <a:cubicBezTo>
                      <a:pt x="29" y="66"/>
                      <a:pt x="32" y="65"/>
                      <a:pt x="34" y="65"/>
                    </a:cubicBezTo>
                    <a:cubicBezTo>
                      <a:pt x="35" y="64"/>
                      <a:pt x="39" y="63"/>
                      <a:pt x="38" y="65"/>
                    </a:cubicBezTo>
                    <a:cubicBezTo>
                      <a:pt x="37" y="67"/>
                      <a:pt x="37" y="74"/>
                      <a:pt x="37" y="74"/>
                    </a:cubicBezTo>
                    <a:cubicBezTo>
                      <a:pt x="37" y="74"/>
                      <a:pt x="34" y="78"/>
                      <a:pt x="37" y="80"/>
                    </a:cubicBezTo>
                    <a:cubicBezTo>
                      <a:pt x="40" y="82"/>
                      <a:pt x="45" y="82"/>
                      <a:pt x="45" y="80"/>
                    </a:cubicBezTo>
                    <a:cubicBezTo>
                      <a:pt x="45" y="78"/>
                      <a:pt x="45" y="72"/>
                      <a:pt x="45" y="68"/>
                    </a:cubicBezTo>
                    <a:cubicBezTo>
                      <a:pt x="46" y="65"/>
                      <a:pt x="47" y="59"/>
                      <a:pt x="49" y="57"/>
                    </a:cubicBezTo>
                    <a:cubicBezTo>
                      <a:pt x="52" y="56"/>
                      <a:pt x="54" y="57"/>
                      <a:pt x="58" y="55"/>
                    </a:cubicBezTo>
                    <a:cubicBezTo>
                      <a:pt x="61" y="52"/>
                      <a:pt x="66" y="46"/>
                      <a:pt x="66" y="42"/>
                    </a:cubicBezTo>
                    <a:cubicBezTo>
                      <a:pt x="66" y="39"/>
                      <a:pt x="69" y="20"/>
                      <a:pt x="71" y="17"/>
                    </a:cubicBezTo>
                    <a:cubicBezTo>
                      <a:pt x="73" y="14"/>
                      <a:pt x="78" y="12"/>
                      <a:pt x="73" y="7"/>
                    </a:cubicBezTo>
                    <a:cubicBezTo>
                      <a:pt x="68" y="2"/>
                      <a:pt x="48" y="0"/>
                      <a:pt x="38" y="8"/>
                    </a:cubicBezTo>
                    <a:cubicBezTo>
                      <a:pt x="29" y="15"/>
                      <a:pt x="21" y="26"/>
                      <a:pt x="16" y="40"/>
                    </a:cubicBezTo>
                    <a:cubicBezTo>
                      <a:pt x="11" y="54"/>
                      <a:pt x="10" y="62"/>
                      <a:pt x="12" y="69"/>
                    </a:cubicBezTo>
                    <a:cubicBezTo>
                      <a:pt x="14" y="77"/>
                      <a:pt x="15" y="79"/>
                      <a:pt x="13" y="80"/>
                    </a:cubicBezTo>
                    <a:cubicBezTo>
                      <a:pt x="13" y="80"/>
                      <a:pt x="13" y="80"/>
                      <a:pt x="13" y="80"/>
                    </a:cubicBezTo>
                    <a:close/>
                    <a:moveTo>
                      <a:pt x="44" y="54"/>
                    </a:moveTo>
                    <a:cubicBezTo>
                      <a:pt x="44" y="54"/>
                      <a:pt x="43" y="54"/>
                      <a:pt x="42" y="56"/>
                    </a:cubicBezTo>
                    <a:cubicBezTo>
                      <a:pt x="42" y="57"/>
                      <a:pt x="42" y="44"/>
                      <a:pt x="42" y="39"/>
                    </a:cubicBezTo>
                    <a:cubicBezTo>
                      <a:pt x="42" y="34"/>
                      <a:pt x="38" y="34"/>
                      <a:pt x="35" y="35"/>
                    </a:cubicBezTo>
                    <a:cubicBezTo>
                      <a:pt x="31" y="35"/>
                      <a:pt x="31" y="35"/>
                      <a:pt x="29" y="35"/>
                    </a:cubicBezTo>
                    <a:cubicBezTo>
                      <a:pt x="31" y="31"/>
                      <a:pt x="33" y="28"/>
                      <a:pt x="36" y="23"/>
                    </a:cubicBezTo>
                    <a:cubicBezTo>
                      <a:pt x="40" y="17"/>
                      <a:pt x="46" y="11"/>
                      <a:pt x="54" y="11"/>
                    </a:cubicBezTo>
                    <a:cubicBezTo>
                      <a:pt x="58" y="10"/>
                      <a:pt x="56" y="24"/>
                      <a:pt x="55" y="28"/>
                    </a:cubicBezTo>
                    <a:cubicBezTo>
                      <a:pt x="55" y="31"/>
                      <a:pt x="55" y="43"/>
                      <a:pt x="54" y="45"/>
                    </a:cubicBezTo>
                    <a:cubicBezTo>
                      <a:pt x="54" y="48"/>
                      <a:pt x="52" y="47"/>
                      <a:pt x="48" y="48"/>
                    </a:cubicBezTo>
                    <a:cubicBezTo>
                      <a:pt x="45" y="49"/>
                      <a:pt x="44" y="54"/>
                      <a:pt x="44" y="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5" name="ïṣḻïḋé"/>
              <p:cNvSpPr/>
              <p:nvPr/>
            </p:nvSpPr>
            <p:spPr bwMode="auto">
              <a:xfrm>
                <a:off x="2540001" y="2389188"/>
                <a:ext cx="98425" cy="225425"/>
              </a:xfrm>
              <a:custGeom>
                <a:avLst/>
                <a:gdLst>
                  <a:gd name="T0" fmla="*/ 4 w 30"/>
                  <a:gd name="T1" fmla="*/ 2 h 68"/>
                  <a:gd name="T2" fmla="*/ 2 w 30"/>
                  <a:gd name="T3" fmla="*/ 10 h 68"/>
                  <a:gd name="T4" fmla="*/ 10 w 30"/>
                  <a:gd name="T5" fmla="*/ 22 h 68"/>
                  <a:gd name="T6" fmla="*/ 19 w 30"/>
                  <a:gd name="T7" fmla="*/ 50 h 68"/>
                  <a:gd name="T8" fmla="*/ 20 w 30"/>
                  <a:gd name="T9" fmla="*/ 60 h 68"/>
                  <a:gd name="T10" fmla="*/ 25 w 30"/>
                  <a:gd name="T11" fmla="*/ 67 h 68"/>
                  <a:gd name="T12" fmla="*/ 27 w 30"/>
                  <a:gd name="T13" fmla="*/ 58 h 68"/>
                  <a:gd name="T14" fmla="*/ 19 w 30"/>
                  <a:gd name="T15" fmla="*/ 30 h 68"/>
                  <a:gd name="T16" fmla="*/ 14 w 30"/>
                  <a:gd name="T17" fmla="*/ 15 h 68"/>
                  <a:gd name="T18" fmla="*/ 11 w 30"/>
                  <a:gd name="T19" fmla="*/ 6 h 68"/>
                  <a:gd name="T20" fmla="*/ 4 w 30"/>
                  <a:gd name="T21" fmla="*/ 2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0" h="68">
                    <a:moveTo>
                      <a:pt x="4" y="2"/>
                    </a:moveTo>
                    <a:cubicBezTo>
                      <a:pt x="1" y="3"/>
                      <a:pt x="0" y="5"/>
                      <a:pt x="2" y="10"/>
                    </a:cubicBezTo>
                    <a:cubicBezTo>
                      <a:pt x="5" y="14"/>
                      <a:pt x="8" y="13"/>
                      <a:pt x="10" y="22"/>
                    </a:cubicBezTo>
                    <a:cubicBezTo>
                      <a:pt x="13" y="30"/>
                      <a:pt x="18" y="47"/>
                      <a:pt x="19" y="50"/>
                    </a:cubicBezTo>
                    <a:cubicBezTo>
                      <a:pt x="20" y="53"/>
                      <a:pt x="20" y="58"/>
                      <a:pt x="20" y="60"/>
                    </a:cubicBezTo>
                    <a:cubicBezTo>
                      <a:pt x="20" y="62"/>
                      <a:pt x="21" y="68"/>
                      <a:pt x="25" y="67"/>
                    </a:cubicBezTo>
                    <a:cubicBezTo>
                      <a:pt x="30" y="66"/>
                      <a:pt x="28" y="61"/>
                      <a:pt x="27" y="58"/>
                    </a:cubicBezTo>
                    <a:cubicBezTo>
                      <a:pt x="27" y="55"/>
                      <a:pt x="21" y="33"/>
                      <a:pt x="19" y="30"/>
                    </a:cubicBezTo>
                    <a:cubicBezTo>
                      <a:pt x="18" y="27"/>
                      <a:pt x="15" y="18"/>
                      <a:pt x="14" y="15"/>
                    </a:cubicBezTo>
                    <a:cubicBezTo>
                      <a:pt x="14" y="12"/>
                      <a:pt x="14" y="9"/>
                      <a:pt x="11" y="6"/>
                    </a:cubicBezTo>
                    <a:cubicBezTo>
                      <a:pt x="9" y="4"/>
                      <a:pt x="7" y="0"/>
                      <a:pt x="4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6" name="îśļîdè"/>
              <p:cNvSpPr/>
              <p:nvPr/>
            </p:nvSpPr>
            <p:spPr bwMode="auto">
              <a:xfrm>
                <a:off x="2608263" y="2376488"/>
                <a:ext cx="69850" cy="128588"/>
              </a:xfrm>
              <a:custGeom>
                <a:avLst/>
                <a:gdLst>
                  <a:gd name="T0" fmla="*/ 4 w 21"/>
                  <a:gd name="T1" fmla="*/ 1 h 39"/>
                  <a:gd name="T2" fmla="*/ 0 w 21"/>
                  <a:gd name="T3" fmla="*/ 5 h 39"/>
                  <a:gd name="T4" fmla="*/ 4 w 21"/>
                  <a:gd name="T5" fmla="*/ 13 h 39"/>
                  <a:gd name="T6" fmla="*/ 9 w 21"/>
                  <a:gd name="T7" fmla="*/ 19 h 39"/>
                  <a:gd name="T8" fmla="*/ 17 w 21"/>
                  <a:gd name="T9" fmla="*/ 38 h 39"/>
                  <a:gd name="T10" fmla="*/ 21 w 21"/>
                  <a:gd name="T11" fmla="*/ 32 h 39"/>
                  <a:gd name="T12" fmla="*/ 19 w 21"/>
                  <a:gd name="T13" fmla="*/ 21 h 39"/>
                  <a:gd name="T14" fmla="*/ 16 w 21"/>
                  <a:gd name="T15" fmla="*/ 14 h 39"/>
                  <a:gd name="T16" fmla="*/ 11 w 21"/>
                  <a:gd name="T17" fmla="*/ 3 h 39"/>
                  <a:gd name="T18" fmla="*/ 4 w 21"/>
                  <a:gd name="T19" fmla="*/ 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" h="39">
                    <a:moveTo>
                      <a:pt x="4" y="1"/>
                    </a:moveTo>
                    <a:cubicBezTo>
                      <a:pt x="2" y="2"/>
                      <a:pt x="0" y="2"/>
                      <a:pt x="0" y="5"/>
                    </a:cubicBezTo>
                    <a:cubicBezTo>
                      <a:pt x="0" y="8"/>
                      <a:pt x="3" y="11"/>
                      <a:pt x="4" y="13"/>
                    </a:cubicBezTo>
                    <a:cubicBezTo>
                      <a:pt x="6" y="15"/>
                      <a:pt x="8" y="17"/>
                      <a:pt x="9" y="19"/>
                    </a:cubicBezTo>
                    <a:cubicBezTo>
                      <a:pt x="9" y="22"/>
                      <a:pt x="15" y="37"/>
                      <a:pt x="17" y="38"/>
                    </a:cubicBezTo>
                    <a:cubicBezTo>
                      <a:pt x="19" y="39"/>
                      <a:pt x="21" y="36"/>
                      <a:pt x="21" y="32"/>
                    </a:cubicBezTo>
                    <a:cubicBezTo>
                      <a:pt x="21" y="28"/>
                      <a:pt x="20" y="23"/>
                      <a:pt x="19" y="21"/>
                    </a:cubicBezTo>
                    <a:cubicBezTo>
                      <a:pt x="17" y="20"/>
                      <a:pt x="16" y="17"/>
                      <a:pt x="16" y="14"/>
                    </a:cubicBezTo>
                    <a:cubicBezTo>
                      <a:pt x="16" y="10"/>
                      <a:pt x="13" y="6"/>
                      <a:pt x="11" y="3"/>
                    </a:cubicBezTo>
                    <a:cubicBezTo>
                      <a:pt x="8" y="0"/>
                      <a:pt x="5" y="1"/>
                      <a:pt x="4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7" name="iŝľîḍé"/>
              <p:cNvSpPr/>
              <p:nvPr/>
            </p:nvSpPr>
            <p:spPr bwMode="auto">
              <a:xfrm>
                <a:off x="2644776" y="2263775"/>
                <a:ext cx="155575" cy="300038"/>
              </a:xfrm>
              <a:custGeom>
                <a:avLst/>
                <a:gdLst>
                  <a:gd name="T0" fmla="*/ 7 w 47"/>
                  <a:gd name="T1" fmla="*/ 0 h 91"/>
                  <a:gd name="T2" fmla="*/ 1 w 47"/>
                  <a:gd name="T3" fmla="*/ 3 h 91"/>
                  <a:gd name="T4" fmla="*/ 4 w 47"/>
                  <a:gd name="T5" fmla="*/ 10 h 91"/>
                  <a:gd name="T6" fmla="*/ 8 w 47"/>
                  <a:gd name="T7" fmla="*/ 18 h 91"/>
                  <a:gd name="T8" fmla="*/ 20 w 47"/>
                  <a:gd name="T9" fmla="*/ 45 h 91"/>
                  <a:gd name="T10" fmla="*/ 29 w 47"/>
                  <a:gd name="T11" fmla="*/ 67 h 91"/>
                  <a:gd name="T12" fmla="*/ 41 w 47"/>
                  <a:gd name="T13" fmla="*/ 89 h 91"/>
                  <a:gd name="T14" fmla="*/ 44 w 47"/>
                  <a:gd name="T15" fmla="*/ 81 h 91"/>
                  <a:gd name="T16" fmla="*/ 38 w 47"/>
                  <a:gd name="T17" fmla="*/ 73 h 91"/>
                  <a:gd name="T18" fmla="*/ 20 w 47"/>
                  <a:gd name="T19" fmla="*/ 32 h 91"/>
                  <a:gd name="T20" fmla="*/ 16 w 47"/>
                  <a:gd name="T21" fmla="*/ 16 h 91"/>
                  <a:gd name="T22" fmla="*/ 16 w 47"/>
                  <a:gd name="T23" fmla="*/ 5 h 91"/>
                  <a:gd name="T24" fmla="*/ 7 w 47"/>
                  <a:gd name="T25" fmla="*/ 0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7" h="91">
                    <a:moveTo>
                      <a:pt x="7" y="0"/>
                    </a:moveTo>
                    <a:cubicBezTo>
                      <a:pt x="5" y="0"/>
                      <a:pt x="2" y="1"/>
                      <a:pt x="1" y="3"/>
                    </a:cubicBezTo>
                    <a:cubicBezTo>
                      <a:pt x="0" y="5"/>
                      <a:pt x="1" y="8"/>
                      <a:pt x="4" y="10"/>
                    </a:cubicBezTo>
                    <a:cubicBezTo>
                      <a:pt x="6" y="13"/>
                      <a:pt x="8" y="16"/>
                      <a:pt x="8" y="18"/>
                    </a:cubicBezTo>
                    <a:cubicBezTo>
                      <a:pt x="9" y="20"/>
                      <a:pt x="18" y="40"/>
                      <a:pt x="20" y="45"/>
                    </a:cubicBezTo>
                    <a:cubicBezTo>
                      <a:pt x="22" y="50"/>
                      <a:pt x="26" y="61"/>
                      <a:pt x="29" y="67"/>
                    </a:cubicBezTo>
                    <a:cubicBezTo>
                      <a:pt x="32" y="74"/>
                      <a:pt x="37" y="86"/>
                      <a:pt x="41" y="89"/>
                    </a:cubicBezTo>
                    <a:cubicBezTo>
                      <a:pt x="45" y="91"/>
                      <a:pt x="47" y="84"/>
                      <a:pt x="44" y="81"/>
                    </a:cubicBezTo>
                    <a:cubicBezTo>
                      <a:pt x="42" y="78"/>
                      <a:pt x="42" y="79"/>
                      <a:pt x="38" y="73"/>
                    </a:cubicBezTo>
                    <a:cubicBezTo>
                      <a:pt x="35" y="67"/>
                      <a:pt x="21" y="34"/>
                      <a:pt x="20" y="32"/>
                    </a:cubicBezTo>
                    <a:cubicBezTo>
                      <a:pt x="19" y="29"/>
                      <a:pt x="16" y="19"/>
                      <a:pt x="16" y="16"/>
                    </a:cubicBezTo>
                    <a:cubicBezTo>
                      <a:pt x="16" y="12"/>
                      <a:pt x="18" y="8"/>
                      <a:pt x="16" y="5"/>
                    </a:cubicBezTo>
                    <a:cubicBezTo>
                      <a:pt x="15" y="2"/>
                      <a:pt x="8" y="0"/>
                      <a:pt x="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8" name="îṣľiḑe"/>
              <p:cNvSpPr/>
              <p:nvPr/>
            </p:nvSpPr>
            <p:spPr bwMode="auto">
              <a:xfrm>
                <a:off x="3508376" y="2495550"/>
                <a:ext cx="69850" cy="111125"/>
              </a:xfrm>
              <a:custGeom>
                <a:avLst/>
                <a:gdLst>
                  <a:gd name="T0" fmla="*/ 0 w 21"/>
                  <a:gd name="T1" fmla="*/ 11 h 34"/>
                  <a:gd name="T2" fmla="*/ 12 w 21"/>
                  <a:gd name="T3" fmla="*/ 33 h 34"/>
                  <a:gd name="T4" fmla="*/ 19 w 21"/>
                  <a:gd name="T5" fmla="*/ 21 h 34"/>
                  <a:gd name="T6" fmla="*/ 6 w 21"/>
                  <a:gd name="T7" fmla="*/ 5 h 34"/>
                  <a:gd name="T8" fmla="*/ 0 w 21"/>
                  <a:gd name="T9" fmla="*/ 1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34">
                    <a:moveTo>
                      <a:pt x="0" y="11"/>
                    </a:moveTo>
                    <a:cubicBezTo>
                      <a:pt x="1" y="16"/>
                      <a:pt x="3" y="32"/>
                      <a:pt x="12" y="33"/>
                    </a:cubicBezTo>
                    <a:cubicBezTo>
                      <a:pt x="20" y="34"/>
                      <a:pt x="21" y="24"/>
                      <a:pt x="19" y="21"/>
                    </a:cubicBezTo>
                    <a:cubicBezTo>
                      <a:pt x="17" y="17"/>
                      <a:pt x="6" y="5"/>
                      <a:pt x="6" y="5"/>
                    </a:cubicBezTo>
                    <a:cubicBezTo>
                      <a:pt x="1" y="0"/>
                      <a:pt x="0" y="7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9" name="íṣliḋé"/>
              <p:cNvSpPr/>
              <p:nvPr/>
            </p:nvSpPr>
            <p:spPr bwMode="auto">
              <a:xfrm>
                <a:off x="3967163" y="2887663"/>
                <a:ext cx="274638" cy="192088"/>
              </a:xfrm>
              <a:custGeom>
                <a:avLst/>
                <a:gdLst>
                  <a:gd name="T0" fmla="*/ 50 w 83"/>
                  <a:gd name="T1" fmla="*/ 1 h 58"/>
                  <a:gd name="T2" fmla="*/ 47 w 83"/>
                  <a:gd name="T3" fmla="*/ 4 h 58"/>
                  <a:gd name="T4" fmla="*/ 44 w 83"/>
                  <a:gd name="T5" fmla="*/ 8 h 58"/>
                  <a:gd name="T6" fmla="*/ 35 w 83"/>
                  <a:gd name="T7" fmla="*/ 10 h 58"/>
                  <a:gd name="T8" fmla="*/ 29 w 83"/>
                  <a:gd name="T9" fmla="*/ 12 h 58"/>
                  <a:gd name="T10" fmla="*/ 25 w 83"/>
                  <a:gd name="T11" fmla="*/ 16 h 58"/>
                  <a:gd name="T12" fmla="*/ 27 w 83"/>
                  <a:gd name="T13" fmla="*/ 18 h 58"/>
                  <a:gd name="T14" fmla="*/ 29 w 83"/>
                  <a:gd name="T15" fmla="*/ 20 h 58"/>
                  <a:gd name="T16" fmla="*/ 28 w 83"/>
                  <a:gd name="T17" fmla="*/ 23 h 58"/>
                  <a:gd name="T18" fmla="*/ 25 w 83"/>
                  <a:gd name="T19" fmla="*/ 21 h 58"/>
                  <a:gd name="T20" fmla="*/ 12 w 83"/>
                  <a:gd name="T21" fmla="*/ 8 h 58"/>
                  <a:gd name="T22" fmla="*/ 8 w 83"/>
                  <a:gd name="T23" fmla="*/ 3 h 58"/>
                  <a:gd name="T24" fmla="*/ 5 w 83"/>
                  <a:gd name="T25" fmla="*/ 0 h 58"/>
                  <a:gd name="T26" fmla="*/ 0 w 83"/>
                  <a:gd name="T27" fmla="*/ 3 h 58"/>
                  <a:gd name="T28" fmla="*/ 2 w 83"/>
                  <a:gd name="T29" fmla="*/ 10 h 58"/>
                  <a:gd name="T30" fmla="*/ 13 w 83"/>
                  <a:gd name="T31" fmla="*/ 17 h 58"/>
                  <a:gd name="T32" fmla="*/ 25 w 83"/>
                  <a:gd name="T33" fmla="*/ 27 h 58"/>
                  <a:gd name="T34" fmla="*/ 37 w 83"/>
                  <a:gd name="T35" fmla="*/ 42 h 58"/>
                  <a:gd name="T36" fmla="*/ 35 w 83"/>
                  <a:gd name="T37" fmla="*/ 47 h 58"/>
                  <a:gd name="T38" fmla="*/ 30 w 83"/>
                  <a:gd name="T39" fmla="*/ 44 h 58"/>
                  <a:gd name="T40" fmla="*/ 28 w 83"/>
                  <a:gd name="T41" fmla="*/ 44 h 58"/>
                  <a:gd name="T42" fmla="*/ 31 w 83"/>
                  <a:gd name="T43" fmla="*/ 49 h 58"/>
                  <a:gd name="T44" fmla="*/ 36 w 83"/>
                  <a:gd name="T45" fmla="*/ 58 h 58"/>
                  <a:gd name="T46" fmla="*/ 43 w 83"/>
                  <a:gd name="T47" fmla="*/ 48 h 58"/>
                  <a:gd name="T48" fmla="*/ 38 w 83"/>
                  <a:gd name="T49" fmla="*/ 37 h 58"/>
                  <a:gd name="T50" fmla="*/ 40 w 83"/>
                  <a:gd name="T51" fmla="*/ 35 h 58"/>
                  <a:gd name="T52" fmla="*/ 49 w 83"/>
                  <a:gd name="T53" fmla="*/ 38 h 58"/>
                  <a:gd name="T54" fmla="*/ 55 w 83"/>
                  <a:gd name="T55" fmla="*/ 38 h 58"/>
                  <a:gd name="T56" fmla="*/ 59 w 83"/>
                  <a:gd name="T57" fmla="*/ 32 h 58"/>
                  <a:gd name="T58" fmla="*/ 64 w 83"/>
                  <a:gd name="T59" fmla="*/ 33 h 58"/>
                  <a:gd name="T60" fmla="*/ 71 w 83"/>
                  <a:gd name="T61" fmla="*/ 36 h 58"/>
                  <a:gd name="T62" fmla="*/ 72 w 83"/>
                  <a:gd name="T63" fmla="*/ 30 h 58"/>
                  <a:gd name="T64" fmla="*/ 76 w 83"/>
                  <a:gd name="T65" fmla="*/ 29 h 58"/>
                  <a:gd name="T66" fmla="*/ 79 w 83"/>
                  <a:gd name="T67" fmla="*/ 31 h 58"/>
                  <a:gd name="T68" fmla="*/ 82 w 83"/>
                  <a:gd name="T69" fmla="*/ 27 h 58"/>
                  <a:gd name="T70" fmla="*/ 81 w 83"/>
                  <a:gd name="T71" fmla="*/ 22 h 58"/>
                  <a:gd name="T72" fmla="*/ 75 w 83"/>
                  <a:gd name="T73" fmla="*/ 24 h 58"/>
                  <a:gd name="T74" fmla="*/ 71 w 83"/>
                  <a:gd name="T75" fmla="*/ 26 h 58"/>
                  <a:gd name="T76" fmla="*/ 69 w 83"/>
                  <a:gd name="T77" fmla="*/ 27 h 58"/>
                  <a:gd name="T78" fmla="*/ 65 w 83"/>
                  <a:gd name="T79" fmla="*/ 26 h 58"/>
                  <a:gd name="T80" fmla="*/ 61 w 83"/>
                  <a:gd name="T81" fmla="*/ 23 h 58"/>
                  <a:gd name="T82" fmla="*/ 56 w 83"/>
                  <a:gd name="T83" fmla="*/ 25 h 58"/>
                  <a:gd name="T84" fmla="*/ 54 w 83"/>
                  <a:gd name="T85" fmla="*/ 28 h 58"/>
                  <a:gd name="T86" fmla="*/ 42 w 83"/>
                  <a:gd name="T87" fmla="*/ 28 h 58"/>
                  <a:gd name="T88" fmla="*/ 41 w 83"/>
                  <a:gd name="T89" fmla="*/ 31 h 58"/>
                  <a:gd name="T90" fmla="*/ 36 w 83"/>
                  <a:gd name="T91" fmla="*/ 32 h 58"/>
                  <a:gd name="T92" fmla="*/ 32 w 83"/>
                  <a:gd name="T93" fmla="*/ 28 h 58"/>
                  <a:gd name="T94" fmla="*/ 34 w 83"/>
                  <a:gd name="T95" fmla="*/ 25 h 58"/>
                  <a:gd name="T96" fmla="*/ 43 w 83"/>
                  <a:gd name="T97" fmla="*/ 24 h 58"/>
                  <a:gd name="T98" fmla="*/ 46 w 83"/>
                  <a:gd name="T99" fmla="*/ 23 h 58"/>
                  <a:gd name="T100" fmla="*/ 47 w 83"/>
                  <a:gd name="T101" fmla="*/ 20 h 58"/>
                  <a:gd name="T102" fmla="*/ 47 w 83"/>
                  <a:gd name="T103" fmla="*/ 18 h 58"/>
                  <a:gd name="T104" fmla="*/ 63 w 83"/>
                  <a:gd name="T105" fmla="*/ 17 h 58"/>
                  <a:gd name="T106" fmla="*/ 68 w 83"/>
                  <a:gd name="T107" fmla="*/ 13 h 58"/>
                  <a:gd name="T108" fmla="*/ 63 w 83"/>
                  <a:gd name="T109" fmla="*/ 8 h 58"/>
                  <a:gd name="T110" fmla="*/ 58 w 83"/>
                  <a:gd name="T111" fmla="*/ 13 h 58"/>
                  <a:gd name="T112" fmla="*/ 49 w 83"/>
                  <a:gd name="T113" fmla="*/ 16 h 58"/>
                  <a:gd name="T114" fmla="*/ 42 w 83"/>
                  <a:gd name="T115" fmla="*/ 17 h 58"/>
                  <a:gd name="T116" fmla="*/ 40 w 83"/>
                  <a:gd name="T117" fmla="*/ 13 h 58"/>
                  <a:gd name="T118" fmla="*/ 51 w 83"/>
                  <a:gd name="T119" fmla="*/ 10 h 58"/>
                  <a:gd name="T120" fmla="*/ 54 w 83"/>
                  <a:gd name="T121" fmla="*/ 2 h 58"/>
                  <a:gd name="T122" fmla="*/ 50 w 83"/>
                  <a:gd name="T123" fmla="*/ 1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83" h="58">
                    <a:moveTo>
                      <a:pt x="50" y="1"/>
                    </a:moveTo>
                    <a:cubicBezTo>
                      <a:pt x="50" y="1"/>
                      <a:pt x="48" y="3"/>
                      <a:pt x="47" y="4"/>
                    </a:cubicBezTo>
                    <a:cubicBezTo>
                      <a:pt x="47" y="5"/>
                      <a:pt x="45" y="8"/>
                      <a:pt x="44" y="8"/>
                    </a:cubicBezTo>
                    <a:cubicBezTo>
                      <a:pt x="43" y="8"/>
                      <a:pt x="37" y="10"/>
                      <a:pt x="35" y="10"/>
                    </a:cubicBezTo>
                    <a:cubicBezTo>
                      <a:pt x="34" y="10"/>
                      <a:pt x="29" y="11"/>
                      <a:pt x="29" y="12"/>
                    </a:cubicBezTo>
                    <a:cubicBezTo>
                      <a:pt x="28" y="14"/>
                      <a:pt x="25" y="16"/>
                      <a:pt x="25" y="16"/>
                    </a:cubicBezTo>
                    <a:cubicBezTo>
                      <a:pt x="25" y="16"/>
                      <a:pt x="25" y="18"/>
                      <a:pt x="27" y="18"/>
                    </a:cubicBezTo>
                    <a:cubicBezTo>
                      <a:pt x="29" y="18"/>
                      <a:pt x="29" y="20"/>
                      <a:pt x="29" y="20"/>
                    </a:cubicBezTo>
                    <a:cubicBezTo>
                      <a:pt x="29" y="20"/>
                      <a:pt x="29" y="24"/>
                      <a:pt x="28" y="23"/>
                    </a:cubicBezTo>
                    <a:cubicBezTo>
                      <a:pt x="27" y="22"/>
                      <a:pt x="27" y="23"/>
                      <a:pt x="25" y="21"/>
                    </a:cubicBezTo>
                    <a:cubicBezTo>
                      <a:pt x="24" y="20"/>
                      <a:pt x="12" y="8"/>
                      <a:pt x="12" y="8"/>
                    </a:cubicBezTo>
                    <a:cubicBezTo>
                      <a:pt x="12" y="8"/>
                      <a:pt x="9" y="4"/>
                      <a:pt x="8" y="3"/>
                    </a:cubicBezTo>
                    <a:cubicBezTo>
                      <a:pt x="8" y="2"/>
                      <a:pt x="7" y="0"/>
                      <a:pt x="5" y="0"/>
                    </a:cubicBezTo>
                    <a:cubicBezTo>
                      <a:pt x="3" y="0"/>
                      <a:pt x="1" y="1"/>
                      <a:pt x="0" y="3"/>
                    </a:cubicBezTo>
                    <a:cubicBezTo>
                      <a:pt x="0" y="4"/>
                      <a:pt x="0" y="7"/>
                      <a:pt x="2" y="10"/>
                    </a:cubicBezTo>
                    <a:cubicBezTo>
                      <a:pt x="5" y="13"/>
                      <a:pt x="10" y="15"/>
                      <a:pt x="13" y="17"/>
                    </a:cubicBezTo>
                    <a:cubicBezTo>
                      <a:pt x="18" y="20"/>
                      <a:pt x="22" y="24"/>
                      <a:pt x="25" y="27"/>
                    </a:cubicBezTo>
                    <a:cubicBezTo>
                      <a:pt x="28" y="31"/>
                      <a:pt x="35" y="38"/>
                      <a:pt x="37" y="42"/>
                    </a:cubicBezTo>
                    <a:cubicBezTo>
                      <a:pt x="38" y="46"/>
                      <a:pt x="37" y="47"/>
                      <a:pt x="35" y="47"/>
                    </a:cubicBezTo>
                    <a:cubicBezTo>
                      <a:pt x="34" y="47"/>
                      <a:pt x="31" y="45"/>
                      <a:pt x="30" y="44"/>
                    </a:cubicBezTo>
                    <a:cubicBezTo>
                      <a:pt x="29" y="43"/>
                      <a:pt x="28" y="44"/>
                      <a:pt x="28" y="44"/>
                    </a:cubicBezTo>
                    <a:cubicBezTo>
                      <a:pt x="28" y="44"/>
                      <a:pt x="28" y="45"/>
                      <a:pt x="31" y="49"/>
                    </a:cubicBezTo>
                    <a:cubicBezTo>
                      <a:pt x="33" y="52"/>
                      <a:pt x="34" y="57"/>
                      <a:pt x="36" y="58"/>
                    </a:cubicBezTo>
                    <a:cubicBezTo>
                      <a:pt x="37" y="58"/>
                      <a:pt x="45" y="53"/>
                      <a:pt x="43" y="48"/>
                    </a:cubicBezTo>
                    <a:cubicBezTo>
                      <a:pt x="42" y="43"/>
                      <a:pt x="39" y="38"/>
                      <a:pt x="38" y="37"/>
                    </a:cubicBezTo>
                    <a:cubicBezTo>
                      <a:pt x="37" y="36"/>
                      <a:pt x="38" y="34"/>
                      <a:pt x="40" y="35"/>
                    </a:cubicBezTo>
                    <a:cubicBezTo>
                      <a:pt x="42" y="36"/>
                      <a:pt x="45" y="38"/>
                      <a:pt x="49" y="38"/>
                    </a:cubicBezTo>
                    <a:cubicBezTo>
                      <a:pt x="53" y="38"/>
                      <a:pt x="54" y="39"/>
                      <a:pt x="55" y="38"/>
                    </a:cubicBezTo>
                    <a:cubicBezTo>
                      <a:pt x="57" y="36"/>
                      <a:pt x="59" y="33"/>
                      <a:pt x="59" y="32"/>
                    </a:cubicBezTo>
                    <a:cubicBezTo>
                      <a:pt x="60" y="31"/>
                      <a:pt x="62" y="31"/>
                      <a:pt x="64" y="33"/>
                    </a:cubicBezTo>
                    <a:cubicBezTo>
                      <a:pt x="66" y="36"/>
                      <a:pt x="69" y="38"/>
                      <a:pt x="71" y="36"/>
                    </a:cubicBezTo>
                    <a:cubicBezTo>
                      <a:pt x="72" y="33"/>
                      <a:pt x="70" y="30"/>
                      <a:pt x="72" y="30"/>
                    </a:cubicBezTo>
                    <a:cubicBezTo>
                      <a:pt x="74" y="29"/>
                      <a:pt x="75" y="27"/>
                      <a:pt x="76" y="29"/>
                    </a:cubicBezTo>
                    <a:cubicBezTo>
                      <a:pt x="77" y="30"/>
                      <a:pt x="78" y="32"/>
                      <a:pt x="79" y="31"/>
                    </a:cubicBezTo>
                    <a:cubicBezTo>
                      <a:pt x="79" y="30"/>
                      <a:pt x="81" y="29"/>
                      <a:pt x="82" y="27"/>
                    </a:cubicBezTo>
                    <a:cubicBezTo>
                      <a:pt x="83" y="25"/>
                      <a:pt x="82" y="22"/>
                      <a:pt x="81" y="22"/>
                    </a:cubicBezTo>
                    <a:cubicBezTo>
                      <a:pt x="79" y="23"/>
                      <a:pt x="76" y="23"/>
                      <a:pt x="75" y="24"/>
                    </a:cubicBezTo>
                    <a:cubicBezTo>
                      <a:pt x="74" y="24"/>
                      <a:pt x="72" y="24"/>
                      <a:pt x="71" y="26"/>
                    </a:cubicBezTo>
                    <a:cubicBezTo>
                      <a:pt x="70" y="27"/>
                      <a:pt x="70" y="27"/>
                      <a:pt x="69" y="27"/>
                    </a:cubicBezTo>
                    <a:cubicBezTo>
                      <a:pt x="68" y="27"/>
                      <a:pt x="66" y="28"/>
                      <a:pt x="65" y="26"/>
                    </a:cubicBezTo>
                    <a:cubicBezTo>
                      <a:pt x="63" y="25"/>
                      <a:pt x="63" y="23"/>
                      <a:pt x="61" y="23"/>
                    </a:cubicBezTo>
                    <a:cubicBezTo>
                      <a:pt x="60" y="23"/>
                      <a:pt x="56" y="24"/>
                      <a:pt x="56" y="25"/>
                    </a:cubicBezTo>
                    <a:cubicBezTo>
                      <a:pt x="55" y="26"/>
                      <a:pt x="57" y="28"/>
                      <a:pt x="54" y="28"/>
                    </a:cubicBezTo>
                    <a:cubicBezTo>
                      <a:pt x="51" y="28"/>
                      <a:pt x="43" y="27"/>
                      <a:pt x="42" y="28"/>
                    </a:cubicBezTo>
                    <a:cubicBezTo>
                      <a:pt x="41" y="28"/>
                      <a:pt x="42" y="30"/>
                      <a:pt x="41" y="31"/>
                    </a:cubicBezTo>
                    <a:cubicBezTo>
                      <a:pt x="39" y="31"/>
                      <a:pt x="37" y="33"/>
                      <a:pt x="36" y="32"/>
                    </a:cubicBezTo>
                    <a:cubicBezTo>
                      <a:pt x="35" y="31"/>
                      <a:pt x="32" y="28"/>
                      <a:pt x="32" y="28"/>
                    </a:cubicBezTo>
                    <a:cubicBezTo>
                      <a:pt x="32" y="28"/>
                      <a:pt x="30" y="25"/>
                      <a:pt x="34" y="25"/>
                    </a:cubicBezTo>
                    <a:cubicBezTo>
                      <a:pt x="37" y="25"/>
                      <a:pt x="42" y="24"/>
                      <a:pt x="43" y="24"/>
                    </a:cubicBezTo>
                    <a:cubicBezTo>
                      <a:pt x="44" y="24"/>
                      <a:pt x="46" y="24"/>
                      <a:pt x="46" y="23"/>
                    </a:cubicBezTo>
                    <a:cubicBezTo>
                      <a:pt x="45" y="21"/>
                      <a:pt x="48" y="22"/>
                      <a:pt x="47" y="20"/>
                    </a:cubicBezTo>
                    <a:cubicBezTo>
                      <a:pt x="46" y="19"/>
                      <a:pt x="45" y="18"/>
                      <a:pt x="47" y="18"/>
                    </a:cubicBezTo>
                    <a:cubicBezTo>
                      <a:pt x="50" y="17"/>
                      <a:pt x="58" y="18"/>
                      <a:pt x="63" y="17"/>
                    </a:cubicBezTo>
                    <a:cubicBezTo>
                      <a:pt x="67" y="16"/>
                      <a:pt x="67" y="14"/>
                      <a:pt x="68" y="13"/>
                    </a:cubicBezTo>
                    <a:cubicBezTo>
                      <a:pt x="68" y="11"/>
                      <a:pt x="65" y="8"/>
                      <a:pt x="63" y="8"/>
                    </a:cubicBezTo>
                    <a:cubicBezTo>
                      <a:pt x="62" y="9"/>
                      <a:pt x="60" y="12"/>
                      <a:pt x="58" y="13"/>
                    </a:cubicBezTo>
                    <a:cubicBezTo>
                      <a:pt x="56" y="13"/>
                      <a:pt x="49" y="15"/>
                      <a:pt x="49" y="16"/>
                    </a:cubicBezTo>
                    <a:cubicBezTo>
                      <a:pt x="48" y="16"/>
                      <a:pt x="43" y="17"/>
                      <a:pt x="42" y="17"/>
                    </a:cubicBezTo>
                    <a:cubicBezTo>
                      <a:pt x="41" y="17"/>
                      <a:pt x="36" y="13"/>
                      <a:pt x="40" y="13"/>
                    </a:cubicBezTo>
                    <a:cubicBezTo>
                      <a:pt x="44" y="12"/>
                      <a:pt x="49" y="11"/>
                      <a:pt x="51" y="10"/>
                    </a:cubicBezTo>
                    <a:cubicBezTo>
                      <a:pt x="53" y="8"/>
                      <a:pt x="55" y="3"/>
                      <a:pt x="54" y="2"/>
                    </a:cubicBezTo>
                    <a:cubicBezTo>
                      <a:pt x="54" y="1"/>
                      <a:pt x="51" y="0"/>
                      <a:pt x="5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0" name="îṧ1ïďê"/>
              <p:cNvSpPr/>
              <p:nvPr/>
            </p:nvSpPr>
            <p:spPr bwMode="auto">
              <a:xfrm>
                <a:off x="3890963" y="2951163"/>
                <a:ext cx="161925" cy="125413"/>
              </a:xfrm>
              <a:custGeom>
                <a:avLst/>
                <a:gdLst>
                  <a:gd name="T0" fmla="*/ 36 w 49"/>
                  <a:gd name="T1" fmla="*/ 5 h 38"/>
                  <a:gd name="T2" fmla="*/ 33 w 49"/>
                  <a:gd name="T3" fmla="*/ 9 h 38"/>
                  <a:gd name="T4" fmla="*/ 37 w 49"/>
                  <a:gd name="T5" fmla="*/ 14 h 38"/>
                  <a:gd name="T6" fmla="*/ 30 w 49"/>
                  <a:gd name="T7" fmla="*/ 18 h 38"/>
                  <a:gd name="T8" fmla="*/ 22 w 49"/>
                  <a:gd name="T9" fmla="*/ 9 h 38"/>
                  <a:gd name="T10" fmla="*/ 16 w 49"/>
                  <a:gd name="T11" fmla="*/ 2 h 38"/>
                  <a:gd name="T12" fmla="*/ 13 w 49"/>
                  <a:gd name="T13" fmla="*/ 10 h 38"/>
                  <a:gd name="T14" fmla="*/ 20 w 49"/>
                  <a:gd name="T15" fmla="*/ 16 h 38"/>
                  <a:gd name="T16" fmla="*/ 25 w 49"/>
                  <a:gd name="T17" fmla="*/ 22 h 38"/>
                  <a:gd name="T18" fmla="*/ 21 w 49"/>
                  <a:gd name="T19" fmla="*/ 26 h 38"/>
                  <a:gd name="T20" fmla="*/ 10 w 49"/>
                  <a:gd name="T21" fmla="*/ 26 h 38"/>
                  <a:gd name="T22" fmla="*/ 8 w 49"/>
                  <a:gd name="T23" fmla="*/ 19 h 38"/>
                  <a:gd name="T24" fmla="*/ 6 w 49"/>
                  <a:gd name="T25" fmla="*/ 13 h 38"/>
                  <a:gd name="T26" fmla="*/ 3 w 49"/>
                  <a:gd name="T27" fmla="*/ 18 h 38"/>
                  <a:gd name="T28" fmla="*/ 2 w 49"/>
                  <a:gd name="T29" fmla="*/ 26 h 38"/>
                  <a:gd name="T30" fmla="*/ 14 w 49"/>
                  <a:gd name="T31" fmla="*/ 30 h 38"/>
                  <a:gd name="T32" fmla="*/ 23 w 49"/>
                  <a:gd name="T33" fmla="*/ 29 h 38"/>
                  <a:gd name="T34" fmla="*/ 28 w 49"/>
                  <a:gd name="T35" fmla="*/ 29 h 38"/>
                  <a:gd name="T36" fmla="*/ 32 w 49"/>
                  <a:gd name="T37" fmla="*/ 37 h 38"/>
                  <a:gd name="T38" fmla="*/ 38 w 49"/>
                  <a:gd name="T39" fmla="*/ 33 h 38"/>
                  <a:gd name="T40" fmla="*/ 34 w 49"/>
                  <a:gd name="T41" fmla="*/ 24 h 38"/>
                  <a:gd name="T42" fmla="*/ 35 w 49"/>
                  <a:gd name="T43" fmla="*/ 20 h 38"/>
                  <a:gd name="T44" fmla="*/ 42 w 49"/>
                  <a:gd name="T45" fmla="*/ 22 h 38"/>
                  <a:gd name="T46" fmla="*/ 48 w 49"/>
                  <a:gd name="T47" fmla="*/ 18 h 38"/>
                  <a:gd name="T48" fmla="*/ 41 w 49"/>
                  <a:gd name="T49" fmla="*/ 8 h 38"/>
                  <a:gd name="T50" fmla="*/ 36 w 49"/>
                  <a:gd name="T51" fmla="*/ 5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9" h="38">
                    <a:moveTo>
                      <a:pt x="36" y="5"/>
                    </a:moveTo>
                    <a:cubicBezTo>
                      <a:pt x="34" y="6"/>
                      <a:pt x="32" y="8"/>
                      <a:pt x="33" y="9"/>
                    </a:cubicBezTo>
                    <a:cubicBezTo>
                      <a:pt x="33" y="11"/>
                      <a:pt x="37" y="12"/>
                      <a:pt x="37" y="14"/>
                    </a:cubicBezTo>
                    <a:cubicBezTo>
                      <a:pt x="38" y="17"/>
                      <a:pt x="32" y="18"/>
                      <a:pt x="30" y="18"/>
                    </a:cubicBezTo>
                    <a:cubicBezTo>
                      <a:pt x="30" y="18"/>
                      <a:pt x="23" y="11"/>
                      <a:pt x="22" y="9"/>
                    </a:cubicBezTo>
                    <a:cubicBezTo>
                      <a:pt x="21" y="8"/>
                      <a:pt x="19" y="0"/>
                      <a:pt x="16" y="2"/>
                    </a:cubicBezTo>
                    <a:cubicBezTo>
                      <a:pt x="14" y="3"/>
                      <a:pt x="12" y="7"/>
                      <a:pt x="13" y="10"/>
                    </a:cubicBezTo>
                    <a:cubicBezTo>
                      <a:pt x="15" y="12"/>
                      <a:pt x="17" y="13"/>
                      <a:pt x="20" y="16"/>
                    </a:cubicBezTo>
                    <a:cubicBezTo>
                      <a:pt x="22" y="18"/>
                      <a:pt x="25" y="21"/>
                      <a:pt x="25" y="22"/>
                    </a:cubicBezTo>
                    <a:cubicBezTo>
                      <a:pt x="25" y="23"/>
                      <a:pt x="23" y="25"/>
                      <a:pt x="21" y="26"/>
                    </a:cubicBezTo>
                    <a:cubicBezTo>
                      <a:pt x="18" y="27"/>
                      <a:pt x="11" y="27"/>
                      <a:pt x="10" y="26"/>
                    </a:cubicBezTo>
                    <a:cubicBezTo>
                      <a:pt x="9" y="24"/>
                      <a:pt x="8" y="21"/>
                      <a:pt x="8" y="19"/>
                    </a:cubicBezTo>
                    <a:cubicBezTo>
                      <a:pt x="9" y="16"/>
                      <a:pt x="9" y="11"/>
                      <a:pt x="6" y="13"/>
                    </a:cubicBezTo>
                    <a:cubicBezTo>
                      <a:pt x="4" y="14"/>
                      <a:pt x="5" y="16"/>
                      <a:pt x="3" y="18"/>
                    </a:cubicBezTo>
                    <a:cubicBezTo>
                      <a:pt x="1" y="19"/>
                      <a:pt x="0" y="24"/>
                      <a:pt x="2" y="26"/>
                    </a:cubicBezTo>
                    <a:cubicBezTo>
                      <a:pt x="4" y="28"/>
                      <a:pt x="8" y="30"/>
                      <a:pt x="14" y="30"/>
                    </a:cubicBezTo>
                    <a:cubicBezTo>
                      <a:pt x="19" y="30"/>
                      <a:pt x="22" y="29"/>
                      <a:pt x="23" y="29"/>
                    </a:cubicBezTo>
                    <a:cubicBezTo>
                      <a:pt x="25" y="29"/>
                      <a:pt x="28" y="27"/>
                      <a:pt x="28" y="29"/>
                    </a:cubicBezTo>
                    <a:cubicBezTo>
                      <a:pt x="28" y="30"/>
                      <a:pt x="29" y="38"/>
                      <a:pt x="32" y="37"/>
                    </a:cubicBezTo>
                    <a:cubicBezTo>
                      <a:pt x="35" y="37"/>
                      <a:pt x="39" y="35"/>
                      <a:pt x="38" y="33"/>
                    </a:cubicBezTo>
                    <a:cubicBezTo>
                      <a:pt x="38" y="30"/>
                      <a:pt x="34" y="24"/>
                      <a:pt x="34" y="24"/>
                    </a:cubicBezTo>
                    <a:cubicBezTo>
                      <a:pt x="34" y="24"/>
                      <a:pt x="34" y="20"/>
                      <a:pt x="35" y="20"/>
                    </a:cubicBezTo>
                    <a:cubicBezTo>
                      <a:pt x="37" y="21"/>
                      <a:pt x="40" y="21"/>
                      <a:pt x="42" y="22"/>
                    </a:cubicBezTo>
                    <a:cubicBezTo>
                      <a:pt x="44" y="22"/>
                      <a:pt x="49" y="20"/>
                      <a:pt x="48" y="18"/>
                    </a:cubicBezTo>
                    <a:cubicBezTo>
                      <a:pt x="47" y="15"/>
                      <a:pt x="42" y="10"/>
                      <a:pt x="41" y="8"/>
                    </a:cubicBezTo>
                    <a:cubicBezTo>
                      <a:pt x="40" y="6"/>
                      <a:pt x="38" y="4"/>
                      <a:pt x="36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1" name="iṣḷíďe"/>
              <p:cNvSpPr/>
              <p:nvPr/>
            </p:nvSpPr>
            <p:spPr bwMode="auto">
              <a:xfrm>
                <a:off x="3373438" y="2324100"/>
                <a:ext cx="254000" cy="223838"/>
              </a:xfrm>
              <a:custGeom>
                <a:avLst/>
                <a:gdLst>
                  <a:gd name="T0" fmla="*/ 54 w 77"/>
                  <a:gd name="T1" fmla="*/ 14 h 68"/>
                  <a:gd name="T2" fmla="*/ 47 w 77"/>
                  <a:gd name="T3" fmla="*/ 25 h 68"/>
                  <a:gd name="T4" fmla="*/ 46 w 77"/>
                  <a:gd name="T5" fmla="*/ 25 h 68"/>
                  <a:gd name="T6" fmla="*/ 35 w 77"/>
                  <a:gd name="T7" fmla="*/ 23 h 68"/>
                  <a:gd name="T8" fmla="*/ 27 w 77"/>
                  <a:gd name="T9" fmla="*/ 19 h 68"/>
                  <a:gd name="T10" fmla="*/ 22 w 77"/>
                  <a:gd name="T11" fmla="*/ 22 h 68"/>
                  <a:gd name="T12" fmla="*/ 25 w 77"/>
                  <a:gd name="T13" fmla="*/ 32 h 68"/>
                  <a:gd name="T14" fmla="*/ 34 w 77"/>
                  <a:gd name="T15" fmla="*/ 35 h 68"/>
                  <a:gd name="T16" fmla="*/ 40 w 77"/>
                  <a:gd name="T17" fmla="*/ 34 h 68"/>
                  <a:gd name="T18" fmla="*/ 37 w 77"/>
                  <a:gd name="T19" fmla="*/ 38 h 68"/>
                  <a:gd name="T20" fmla="*/ 25 w 77"/>
                  <a:gd name="T21" fmla="*/ 50 h 68"/>
                  <a:gd name="T22" fmla="*/ 11 w 77"/>
                  <a:gd name="T23" fmla="*/ 57 h 68"/>
                  <a:gd name="T24" fmla="*/ 9 w 77"/>
                  <a:gd name="T25" fmla="*/ 55 h 68"/>
                  <a:gd name="T26" fmla="*/ 3 w 77"/>
                  <a:gd name="T27" fmla="*/ 56 h 68"/>
                  <a:gd name="T28" fmla="*/ 2 w 77"/>
                  <a:gd name="T29" fmla="*/ 64 h 68"/>
                  <a:gd name="T30" fmla="*/ 6 w 77"/>
                  <a:gd name="T31" fmla="*/ 67 h 68"/>
                  <a:gd name="T32" fmla="*/ 19 w 77"/>
                  <a:gd name="T33" fmla="*/ 59 h 68"/>
                  <a:gd name="T34" fmla="*/ 36 w 77"/>
                  <a:gd name="T35" fmla="*/ 49 h 68"/>
                  <a:gd name="T36" fmla="*/ 48 w 77"/>
                  <a:gd name="T37" fmla="*/ 33 h 68"/>
                  <a:gd name="T38" fmla="*/ 63 w 77"/>
                  <a:gd name="T39" fmla="*/ 33 h 68"/>
                  <a:gd name="T40" fmla="*/ 70 w 77"/>
                  <a:gd name="T41" fmla="*/ 34 h 68"/>
                  <a:gd name="T42" fmla="*/ 75 w 77"/>
                  <a:gd name="T43" fmla="*/ 30 h 68"/>
                  <a:gd name="T44" fmla="*/ 68 w 77"/>
                  <a:gd name="T45" fmla="*/ 25 h 68"/>
                  <a:gd name="T46" fmla="*/ 59 w 77"/>
                  <a:gd name="T47" fmla="*/ 26 h 68"/>
                  <a:gd name="T48" fmla="*/ 54 w 77"/>
                  <a:gd name="T49" fmla="*/ 25 h 68"/>
                  <a:gd name="T50" fmla="*/ 57 w 77"/>
                  <a:gd name="T51" fmla="*/ 20 h 68"/>
                  <a:gd name="T52" fmla="*/ 61 w 77"/>
                  <a:gd name="T53" fmla="*/ 16 h 68"/>
                  <a:gd name="T54" fmla="*/ 66 w 77"/>
                  <a:gd name="T55" fmla="*/ 11 h 68"/>
                  <a:gd name="T56" fmla="*/ 65 w 77"/>
                  <a:gd name="T57" fmla="*/ 2 h 68"/>
                  <a:gd name="T58" fmla="*/ 58 w 77"/>
                  <a:gd name="T59" fmla="*/ 4 h 68"/>
                  <a:gd name="T60" fmla="*/ 54 w 77"/>
                  <a:gd name="T61" fmla="*/ 14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77" h="68">
                    <a:moveTo>
                      <a:pt x="54" y="14"/>
                    </a:moveTo>
                    <a:cubicBezTo>
                      <a:pt x="54" y="14"/>
                      <a:pt x="50" y="19"/>
                      <a:pt x="47" y="25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4" y="25"/>
                      <a:pt x="37" y="25"/>
                      <a:pt x="35" y="23"/>
                    </a:cubicBezTo>
                    <a:cubicBezTo>
                      <a:pt x="32" y="22"/>
                      <a:pt x="28" y="19"/>
                      <a:pt x="27" y="19"/>
                    </a:cubicBezTo>
                    <a:cubicBezTo>
                      <a:pt x="25" y="18"/>
                      <a:pt x="23" y="19"/>
                      <a:pt x="22" y="22"/>
                    </a:cubicBezTo>
                    <a:cubicBezTo>
                      <a:pt x="21" y="25"/>
                      <a:pt x="21" y="28"/>
                      <a:pt x="25" y="32"/>
                    </a:cubicBezTo>
                    <a:cubicBezTo>
                      <a:pt x="29" y="37"/>
                      <a:pt x="30" y="36"/>
                      <a:pt x="34" y="35"/>
                    </a:cubicBezTo>
                    <a:cubicBezTo>
                      <a:pt x="36" y="35"/>
                      <a:pt x="38" y="34"/>
                      <a:pt x="40" y="34"/>
                    </a:cubicBezTo>
                    <a:cubicBezTo>
                      <a:pt x="38" y="36"/>
                      <a:pt x="37" y="38"/>
                      <a:pt x="37" y="38"/>
                    </a:cubicBezTo>
                    <a:cubicBezTo>
                      <a:pt x="35" y="40"/>
                      <a:pt x="29" y="47"/>
                      <a:pt x="25" y="50"/>
                    </a:cubicBezTo>
                    <a:cubicBezTo>
                      <a:pt x="21" y="52"/>
                      <a:pt x="11" y="57"/>
                      <a:pt x="11" y="57"/>
                    </a:cubicBezTo>
                    <a:cubicBezTo>
                      <a:pt x="12" y="58"/>
                      <a:pt x="9" y="58"/>
                      <a:pt x="9" y="55"/>
                    </a:cubicBezTo>
                    <a:cubicBezTo>
                      <a:pt x="8" y="52"/>
                      <a:pt x="6" y="54"/>
                      <a:pt x="3" y="56"/>
                    </a:cubicBezTo>
                    <a:cubicBezTo>
                      <a:pt x="0" y="58"/>
                      <a:pt x="2" y="62"/>
                      <a:pt x="2" y="64"/>
                    </a:cubicBezTo>
                    <a:cubicBezTo>
                      <a:pt x="1" y="66"/>
                      <a:pt x="1" y="68"/>
                      <a:pt x="6" y="67"/>
                    </a:cubicBezTo>
                    <a:cubicBezTo>
                      <a:pt x="10" y="66"/>
                      <a:pt x="14" y="62"/>
                      <a:pt x="19" y="59"/>
                    </a:cubicBezTo>
                    <a:cubicBezTo>
                      <a:pt x="24" y="57"/>
                      <a:pt x="32" y="53"/>
                      <a:pt x="36" y="49"/>
                    </a:cubicBezTo>
                    <a:cubicBezTo>
                      <a:pt x="39" y="46"/>
                      <a:pt x="45" y="38"/>
                      <a:pt x="48" y="33"/>
                    </a:cubicBezTo>
                    <a:cubicBezTo>
                      <a:pt x="53" y="33"/>
                      <a:pt x="61" y="33"/>
                      <a:pt x="63" y="33"/>
                    </a:cubicBezTo>
                    <a:cubicBezTo>
                      <a:pt x="65" y="33"/>
                      <a:pt x="67" y="35"/>
                      <a:pt x="70" y="34"/>
                    </a:cubicBezTo>
                    <a:cubicBezTo>
                      <a:pt x="73" y="34"/>
                      <a:pt x="77" y="33"/>
                      <a:pt x="75" y="30"/>
                    </a:cubicBezTo>
                    <a:cubicBezTo>
                      <a:pt x="73" y="27"/>
                      <a:pt x="71" y="24"/>
                      <a:pt x="68" y="25"/>
                    </a:cubicBezTo>
                    <a:cubicBezTo>
                      <a:pt x="65" y="26"/>
                      <a:pt x="61" y="26"/>
                      <a:pt x="59" y="26"/>
                    </a:cubicBezTo>
                    <a:cubicBezTo>
                      <a:pt x="59" y="26"/>
                      <a:pt x="56" y="26"/>
                      <a:pt x="54" y="25"/>
                    </a:cubicBezTo>
                    <a:cubicBezTo>
                      <a:pt x="55" y="23"/>
                      <a:pt x="57" y="21"/>
                      <a:pt x="57" y="20"/>
                    </a:cubicBezTo>
                    <a:cubicBezTo>
                      <a:pt x="59" y="18"/>
                      <a:pt x="60" y="17"/>
                      <a:pt x="61" y="16"/>
                    </a:cubicBezTo>
                    <a:cubicBezTo>
                      <a:pt x="62" y="16"/>
                      <a:pt x="65" y="14"/>
                      <a:pt x="66" y="11"/>
                    </a:cubicBezTo>
                    <a:cubicBezTo>
                      <a:pt x="67" y="9"/>
                      <a:pt x="66" y="3"/>
                      <a:pt x="65" y="2"/>
                    </a:cubicBezTo>
                    <a:cubicBezTo>
                      <a:pt x="63" y="0"/>
                      <a:pt x="59" y="1"/>
                      <a:pt x="58" y="4"/>
                    </a:cubicBezTo>
                    <a:cubicBezTo>
                      <a:pt x="56" y="7"/>
                      <a:pt x="55" y="14"/>
                      <a:pt x="54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2" name="iṡ1iḓè"/>
              <p:cNvSpPr/>
              <p:nvPr/>
            </p:nvSpPr>
            <p:spPr bwMode="auto">
              <a:xfrm>
                <a:off x="2625726" y="2725738"/>
                <a:ext cx="890588" cy="1277938"/>
              </a:xfrm>
              <a:custGeom>
                <a:avLst/>
                <a:gdLst>
                  <a:gd name="T0" fmla="*/ 135 w 270"/>
                  <a:gd name="T1" fmla="*/ 22 h 387"/>
                  <a:gd name="T2" fmla="*/ 131 w 270"/>
                  <a:gd name="T3" fmla="*/ 22 h 387"/>
                  <a:gd name="T4" fmla="*/ 117 w 270"/>
                  <a:gd name="T5" fmla="*/ 6 h 387"/>
                  <a:gd name="T6" fmla="*/ 99 w 270"/>
                  <a:gd name="T7" fmla="*/ 6 h 387"/>
                  <a:gd name="T8" fmla="*/ 85 w 270"/>
                  <a:gd name="T9" fmla="*/ 0 h 387"/>
                  <a:gd name="T10" fmla="*/ 100 w 270"/>
                  <a:gd name="T11" fmla="*/ 20 h 387"/>
                  <a:gd name="T12" fmla="*/ 113 w 270"/>
                  <a:gd name="T13" fmla="*/ 20 h 387"/>
                  <a:gd name="T14" fmla="*/ 126 w 270"/>
                  <a:gd name="T15" fmla="*/ 23 h 387"/>
                  <a:gd name="T16" fmla="*/ 88 w 270"/>
                  <a:gd name="T17" fmla="*/ 45 h 387"/>
                  <a:gd name="T18" fmla="*/ 82 w 270"/>
                  <a:gd name="T19" fmla="*/ 108 h 387"/>
                  <a:gd name="T20" fmla="*/ 60 w 270"/>
                  <a:gd name="T21" fmla="*/ 108 h 387"/>
                  <a:gd name="T22" fmla="*/ 35 w 270"/>
                  <a:gd name="T23" fmla="*/ 142 h 387"/>
                  <a:gd name="T24" fmla="*/ 25 w 270"/>
                  <a:gd name="T25" fmla="*/ 309 h 387"/>
                  <a:gd name="T26" fmla="*/ 0 w 270"/>
                  <a:gd name="T27" fmla="*/ 387 h 387"/>
                  <a:gd name="T28" fmla="*/ 30 w 270"/>
                  <a:gd name="T29" fmla="*/ 387 h 387"/>
                  <a:gd name="T30" fmla="*/ 45 w 270"/>
                  <a:gd name="T31" fmla="*/ 367 h 387"/>
                  <a:gd name="T32" fmla="*/ 37 w 270"/>
                  <a:gd name="T33" fmla="*/ 387 h 387"/>
                  <a:gd name="T34" fmla="*/ 63 w 270"/>
                  <a:gd name="T35" fmla="*/ 387 h 387"/>
                  <a:gd name="T36" fmla="*/ 70 w 270"/>
                  <a:gd name="T37" fmla="*/ 353 h 387"/>
                  <a:gd name="T38" fmla="*/ 78 w 270"/>
                  <a:gd name="T39" fmla="*/ 167 h 387"/>
                  <a:gd name="T40" fmla="*/ 90 w 270"/>
                  <a:gd name="T41" fmla="*/ 151 h 387"/>
                  <a:gd name="T42" fmla="*/ 130 w 270"/>
                  <a:gd name="T43" fmla="*/ 151 h 387"/>
                  <a:gd name="T44" fmla="*/ 130 w 270"/>
                  <a:gd name="T45" fmla="*/ 69 h 387"/>
                  <a:gd name="T46" fmla="*/ 113 w 270"/>
                  <a:gd name="T47" fmla="*/ 48 h 387"/>
                  <a:gd name="T48" fmla="*/ 135 w 270"/>
                  <a:gd name="T49" fmla="*/ 27 h 387"/>
                  <a:gd name="T50" fmla="*/ 156 w 270"/>
                  <a:gd name="T51" fmla="*/ 48 h 387"/>
                  <a:gd name="T52" fmla="*/ 139 w 270"/>
                  <a:gd name="T53" fmla="*/ 69 h 387"/>
                  <a:gd name="T54" fmla="*/ 139 w 270"/>
                  <a:gd name="T55" fmla="*/ 151 h 387"/>
                  <a:gd name="T56" fmla="*/ 180 w 270"/>
                  <a:gd name="T57" fmla="*/ 151 h 387"/>
                  <a:gd name="T58" fmla="*/ 191 w 270"/>
                  <a:gd name="T59" fmla="*/ 167 h 387"/>
                  <a:gd name="T60" fmla="*/ 200 w 270"/>
                  <a:gd name="T61" fmla="*/ 353 h 387"/>
                  <a:gd name="T62" fmla="*/ 207 w 270"/>
                  <a:gd name="T63" fmla="*/ 387 h 387"/>
                  <a:gd name="T64" fmla="*/ 233 w 270"/>
                  <a:gd name="T65" fmla="*/ 387 h 387"/>
                  <a:gd name="T66" fmla="*/ 224 w 270"/>
                  <a:gd name="T67" fmla="*/ 367 h 387"/>
                  <a:gd name="T68" fmla="*/ 239 w 270"/>
                  <a:gd name="T69" fmla="*/ 387 h 387"/>
                  <a:gd name="T70" fmla="*/ 270 w 270"/>
                  <a:gd name="T71" fmla="*/ 387 h 387"/>
                  <a:gd name="T72" fmla="*/ 244 w 270"/>
                  <a:gd name="T73" fmla="*/ 309 h 387"/>
                  <a:gd name="T74" fmla="*/ 235 w 270"/>
                  <a:gd name="T75" fmla="*/ 142 h 387"/>
                  <a:gd name="T76" fmla="*/ 209 w 270"/>
                  <a:gd name="T77" fmla="*/ 108 h 387"/>
                  <a:gd name="T78" fmla="*/ 188 w 270"/>
                  <a:gd name="T79" fmla="*/ 108 h 387"/>
                  <a:gd name="T80" fmla="*/ 182 w 270"/>
                  <a:gd name="T81" fmla="*/ 45 h 387"/>
                  <a:gd name="T82" fmla="*/ 144 w 270"/>
                  <a:gd name="T83" fmla="*/ 23 h 387"/>
                  <a:gd name="T84" fmla="*/ 157 w 270"/>
                  <a:gd name="T85" fmla="*/ 20 h 387"/>
                  <a:gd name="T86" fmla="*/ 170 w 270"/>
                  <a:gd name="T87" fmla="*/ 20 h 387"/>
                  <a:gd name="T88" fmla="*/ 184 w 270"/>
                  <a:gd name="T89" fmla="*/ 0 h 387"/>
                  <a:gd name="T90" fmla="*/ 170 w 270"/>
                  <a:gd name="T91" fmla="*/ 6 h 387"/>
                  <a:gd name="T92" fmla="*/ 153 w 270"/>
                  <a:gd name="T93" fmla="*/ 6 h 387"/>
                  <a:gd name="T94" fmla="*/ 139 w 270"/>
                  <a:gd name="T95" fmla="*/ 22 h 387"/>
                  <a:gd name="T96" fmla="*/ 135 w 270"/>
                  <a:gd name="T97" fmla="*/ 22 h 3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70" h="387">
                    <a:moveTo>
                      <a:pt x="135" y="22"/>
                    </a:moveTo>
                    <a:cubicBezTo>
                      <a:pt x="133" y="22"/>
                      <a:pt x="132" y="22"/>
                      <a:pt x="131" y="22"/>
                    </a:cubicBezTo>
                    <a:cubicBezTo>
                      <a:pt x="130" y="15"/>
                      <a:pt x="126" y="6"/>
                      <a:pt x="117" y="6"/>
                    </a:cubicBezTo>
                    <a:cubicBezTo>
                      <a:pt x="110" y="6"/>
                      <a:pt x="106" y="6"/>
                      <a:pt x="99" y="6"/>
                    </a:cubicBezTo>
                    <a:cubicBezTo>
                      <a:pt x="93" y="6"/>
                      <a:pt x="88" y="4"/>
                      <a:pt x="85" y="0"/>
                    </a:cubicBezTo>
                    <a:cubicBezTo>
                      <a:pt x="87" y="9"/>
                      <a:pt x="90" y="18"/>
                      <a:pt x="100" y="20"/>
                    </a:cubicBezTo>
                    <a:cubicBezTo>
                      <a:pt x="104" y="20"/>
                      <a:pt x="109" y="20"/>
                      <a:pt x="113" y="20"/>
                    </a:cubicBezTo>
                    <a:cubicBezTo>
                      <a:pt x="120" y="20"/>
                      <a:pt x="123" y="21"/>
                      <a:pt x="126" y="23"/>
                    </a:cubicBezTo>
                    <a:cubicBezTo>
                      <a:pt x="109" y="24"/>
                      <a:pt x="93" y="30"/>
                      <a:pt x="88" y="45"/>
                    </a:cubicBezTo>
                    <a:cubicBezTo>
                      <a:pt x="83" y="59"/>
                      <a:pt x="85" y="92"/>
                      <a:pt x="82" y="108"/>
                    </a:cubicBezTo>
                    <a:cubicBezTo>
                      <a:pt x="75" y="108"/>
                      <a:pt x="67" y="108"/>
                      <a:pt x="60" y="108"/>
                    </a:cubicBezTo>
                    <a:cubicBezTo>
                      <a:pt x="42" y="107"/>
                      <a:pt x="36" y="123"/>
                      <a:pt x="35" y="142"/>
                    </a:cubicBezTo>
                    <a:cubicBezTo>
                      <a:pt x="32" y="198"/>
                      <a:pt x="28" y="253"/>
                      <a:pt x="25" y="309"/>
                    </a:cubicBezTo>
                    <a:cubicBezTo>
                      <a:pt x="23" y="352"/>
                      <a:pt x="14" y="372"/>
                      <a:pt x="0" y="387"/>
                    </a:cubicBezTo>
                    <a:cubicBezTo>
                      <a:pt x="10" y="387"/>
                      <a:pt x="20" y="387"/>
                      <a:pt x="30" y="387"/>
                    </a:cubicBezTo>
                    <a:cubicBezTo>
                      <a:pt x="35" y="383"/>
                      <a:pt x="38" y="378"/>
                      <a:pt x="45" y="367"/>
                    </a:cubicBezTo>
                    <a:cubicBezTo>
                      <a:pt x="42" y="377"/>
                      <a:pt x="40" y="382"/>
                      <a:pt x="37" y="387"/>
                    </a:cubicBezTo>
                    <a:cubicBezTo>
                      <a:pt x="46" y="387"/>
                      <a:pt x="54" y="387"/>
                      <a:pt x="63" y="387"/>
                    </a:cubicBezTo>
                    <a:cubicBezTo>
                      <a:pt x="68" y="377"/>
                      <a:pt x="70" y="365"/>
                      <a:pt x="70" y="353"/>
                    </a:cubicBezTo>
                    <a:cubicBezTo>
                      <a:pt x="73" y="291"/>
                      <a:pt x="76" y="229"/>
                      <a:pt x="78" y="167"/>
                    </a:cubicBezTo>
                    <a:cubicBezTo>
                      <a:pt x="79" y="157"/>
                      <a:pt x="82" y="151"/>
                      <a:pt x="90" y="151"/>
                    </a:cubicBezTo>
                    <a:cubicBezTo>
                      <a:pt x="103" y="151"/>
                      <a:pt x="117" y="151"/>
                      <a:pt x="130" y="151"/>
                    </a:cubicBezTo>
                    <a:cubicBezTo>
                      <a:pt x="130" y="124"/>
                      <a:pt x="130" y="96"/>
                      <a:pt x="130" y="69"/>
                    </a:cubicBezTo>
                    <a:cubicBezTo>
                      <a:pt x="121" y="67"/>
                      <a:pt x="113" y="58"/>
                      <a:pt x="113" y="48"/>
                    </a:cubicBezTo>
                    <a:cubicBezTo>
                      <a:pt x="113" y="36"/>
                      <a:pt x="123" y="27"/>
                      <a:pt x="135" y="27"/>
                    </a:cubicBezTo>
                    <a:cubicBezTo>
                      <a:pt x="147" y="27"/>
                      <a:pt x="156" y="36"/>
                      <a:pt x="156" y="48"/>
                    </a:cubicBezTo>
                    <a:cubicBezTo>
                      <a:pt x="156" y="58"/>
                      <a:pt x="149" y="67"/>
                      <a:pt x="139" y="69"/>
                    </a:cubicBezTo>
                    <a:cubicBezTo>
                      <a:pt x="139" y="96"/>
                      <a:pt x="139" y="124"/>
                      <a:pt x="139" y="151"/>
                    </a:cubicBezTo>
                    <a:cubicBezTo>
                      <a:pt x="153" y="151"/>
                      <a:pt x="166" y="151"/>
                      <a:pt x="180" y="151"/>
                    </a:cubicBezTo>
                    <a:cubicBezTo>
                      <a:pt x="188" y="151"/>
                      <a:pt x="191" y="157"/>
                      <a:pt x="191" y="167"/>
                    </a:cubicBezTo>
                    <a:cubicBezTo>
                      <a:pt x="194" y="229"/>
                      <a:pt x="197" y="291"/>
                      <a:pt x="200" y="353"/>
                    </a:cubicBezTo>
                    <a:cubicBezTo>
                      <a:pt x="200" y="365"/>
                      <a:pt x="202" y="377"/>
                      <a:pt x="207" y="387"/>
                    </a:cubicBezTo>
                    <a:cubicBezTo>
                      <a:pt x="215" y="387"/>
                      <a:pt x="224" y="387"/>
                      <a:pt x="233" y="387"/>
                    </a:cubicBezTo>
                    <a:cubicBezTo>
                      <a:pt x="230" y="382"/>
                      <a:pt x="227" y="377"/>
                      <a:pt x="224" y="367"/>
                    </a:cubicBezTo>
                    <a:cubicBezTo>
                      <a:pt x="232" y="378"/>
                      <a:pt x="235" y="383"/>
                      <a:pt x="239" y="387"/>
                    </a:cubicBezTo>
                    <a:cubicBezTo>
                      <a:pt x="249" y="387"/>
                      <a:pt x="260" y="387"/>
                      <a:pt x="270" y="387"/>
                    </a:cubicBezTo>
                    <a:cubicBezTo>
                      <a:pt x="256" y="372"/>
                      <a:pt x="247" y="352"/>
                      <a:pt x="244" y="309"/>
                    </a:cubicBezTo>
                    <a:cubicBezTo>
                      <a:pt x="242" y="253"/>
                      <a:pt x="238" y="198"/>
                      <a:pt x="235" y="142"/>
                    </a:cubicBezTo>
                    <a:cubicBezTo>
                      <a:pt x="234" y="123"/>
                      <a:pt x="228" y="107"/>
                      <a:pt x="209" y="108"/>
                    </a:cubicBezTo>
                    <a:cubicBezTo>
                      <a:pt x="202" y="108"/>
                      <a:pt x="195" y="108"/>
                      <a:pt x="188" y="108"/>
                    </a:cubicBezTo>
                    <a:cubicBezTo>
                      <a:pt x="185" y="92"/>
                      <a:pt x="186" y="59"/>
                      <a:pt x="182" y="45"/>
                    </a:cubicBezTo>
                    <a:cubicBezTo>
                      <a:pt x="176" y="30"/>
                      <a:pt x="161" y="24"/>
                      <a:pt x="144" y="23"/>
                    </a:cubicBezTo>
                    <a:cubicBezTo>
                      <a:pt x="146" y="21"/>
                      <a:pt x="150" y="20"/>
                      <a:pt x="157" y="20"/>
                    </a:cubicBezTo>
                    <a:cubicBezTo>
                      <a:pt x="161" y="20"/>
                      <a:pt x="166" y="20"/>
                      <a:pt x="170" y="20"/>
                    </a:cubicBezTo>
                    <a:cubicBezTo>
                      <a:pt x="180" y="18"/>
                      <a:pt x="183" y="9"/>
                      <a:pt x="184" y="0"/>
                    </a:cubicBezTo>
                    <a:cubicBezTo>
                      <a:pt x="181" y="4"/>
                      <a:pt x="177" y="6"/>
                      <a:pt x="170" y="6"/>
                    </a:cubicBezTo>
                    <a:cubicBezTo>
                      <a:pt x="164" y="6"/>
                      <a:pt x="159" y="6"/>
                      <a:pt x="153" y="6"/>
                    </a:cubicBezTo>
                    <a:cubicBezTo>
                      <a:pt x="144" y="6"/>
                      <a:pt x="140" y="15"/>
                      <a:pt x="139" y="22"/>
                    </a:cubicBezTo>
                    <a:cubicBezTo>
                      <a:pt x="138" y="22"/>
                      <a:pt x="136" y="22"/>
                      <a:pt x="135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3" name="išļîḍé"/>
              <p:cNvSpPr/>
              <p:nvPr/>
            </p:nvSpPr>
            <p:spPr bwMode="auto">
              <a:xfrm>
                <a:off x="1735138" y="2095500"/>
                <a:ext cx="2667000" cy="2670175"/>
              </a:xfrm>
              <a:custGeom>
                <a:avLst/>
                <a:gdLst>
                  <a:gd name="T0" fmla="*/ 404 w 809"/>
                  <a:gd name="T1" fmla="*/ 0 h 809"/>
                  <a:gd name="T2" fmla="*/ 809 w 809"/>
                  <a:gd name="T3" fmla="*/ 404 h 809"/>
                  <a:gd name="T4" fmla="*/ 404 w 809"/>
                  <a:gd name="T5" fmla="*/ 809 h 809"/>
                  <a:gd name="T6" fmla="*/ 0 w 809"/>
                  <a:gd name="T7" fmla="*/ 404 h 809"/>
                  <a:gd name="T8" fmla="*/ 404 w 809"/>
                  <a:gd name="T9" fmla="*/ 0 h 809"/>
                  <a:gd name="T10" fmla="*/ 404 w 809"/>
                  <a:gd name="T11" fmla="*/ 0 h 809"/>
                  <a:gd name="T12" fmla="*/ 404 w 809"/>
                  <a:gd name="T13" fmla="*/ 14 h 809"/>
                  <a:gd name="T14" fmla="*/ 14 w 809"/>
                  <a:gd name="T15" fmla="*/ 404 h 809"/>
                  <a:gd name="T16" fmla="*/ 404 w 809"/>
                  <a:gd name="T17" fmla="*/ 795 h 809"/>
                  <a:gd name="T18" fmla="*/ 795 w 809"/>
                  <a:gd name="T19" fmla="*/ 404 h 809"/>
                  <a:gd name="T20" fmla="*/ 404 w 809"/>
                  <a:gd name="T21" fmla="*/ 14 h 8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09" h="809">
                    <a:moveTo>
                      <a:pt x="404" y="0"/>
                    </a:moveTo>
                    <a:cubicBezTo>
                      <a:pt x="627" y="0"/>
                      <a:pt x="809" y="182"/>
                      <a:pt x="809" y="404"/>
                    </a:cubicBezTo>
                    <a:cubicBezTo>
                      <a:pt x="809" y="627"/>
                      <a:pt x="627" y="809"/>
                      <a:pt x="404" y="809"/>
                    </a:cubicBezTo>
                    <a:cubicBezTo>
                      <a:pt x="181" y="809"/>
                      <a:pt x="0" y="627"/>
                      <a:pt x="0" y="404"/>
                    </a:cubicBezTo>
                    <a:cubicBezTo>
                      <a:pt x="0" y="182"/>
                      <a:pt x="181" y="0"/>
                      <a:pt x="404" y="0"/>
                    </a:cubicBezTo>
                    <a:cubicBezTo>
                      <a:pt x="404" y="0"/>
                      <a:pt x="404" y="0"/>
                      <a:pt x="404" y="0"/>
                    </a:cubicBezTo>
                    <a:close/>
                    <a:moveTo>
                      <a:pt x="404" y="14"/>
                    </a:moveTo>
                    <a:cubicBezTo>
                      <a:pt x="189" y="14"/>
                      <a:pt x="14" y="189"/>
                      <a:pt x="14" y="404"/>
                    </a:cubicBezTo>
                    <a:cubicBezTo>
                      <a:pt x="14" y="619"/>
                      <a:pt x="189" y="795"/>
                      <a:pt x="404" y="795"/>
                    </a:cubicBezTo>
                    <a:cubicBezTo>
                      <a:pt x="619" y="795"/>
                      <a:pt x="795" y="619"/>
                      <a:pt x="795" y="404"/>
                    </a:cubicBezTo>
                    <a:cubicBezTo>
                      <a:pt x="795" y="189"/>
                      <a:pt x="619" y="14"/>
                      <a:pt x="404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4" name="ïṧ1ïḍé"/>
              <p:cNvSpPr/>
              <p:nvPr/>
            </p:nvSpPr>
            <p:spPr bwMode="auto">
              <a:xfrm>
                <a:off x="1897063" y="3373438"/>
                <a:ext cx="2333625" cy="1227138"/>
              </a:xfrm>
              <a:custGeom>
                <a:avLst/>
                <a:gdLst>
                  <a:gd name="T0" fmla="*/ 21 w 708"/>
                  <a:gd name="T1" fmla="*/ 23 h 372"/>
                  <a:gd name="T2" fmla="*/ 53 w 708"/>
                  <a:gd name="T3" fmla="*/ 35 h 372"/>
                  <a:gd name="T4" fmla="*/ 51 w 708"/>
                  <a:gd name="T5" fmla="*/ 26 h 372"/>
                  <a:gd name="T6" fmla="*/ 18 w 708"/>
                  <a:gd name="T7" fmla="*/ 47 h 372"/>
                  <a:gd name="T8" fmla="*/ 18 w 708"/>
                  <a:gd name="T9" fmla="*/ 88 h 372"/>
                  <a:gd name="T10" fmla="*/ 48 w 708"/>
                  <a:gd name="T11" fmla="*/ 67 h 372"/>
                  <a:gd name="T12" fmla="*/ 18 w 708"/>
                  <a:gd name="T13" fmla="*/ 88 h 372"/>
                  <a:gd name="T14" fmla="*/ 62 w 708"/>
                  <a:gd name="T15" fmla="*/ 109 h 372"/>
                  <a:gd name="T16" fmla="*/ 64 w 708"/>
                  <a:gd name="T17" fmla="*/ 147 h 372"/>
                  <a:gd name="T18" fmla="*/ 42 w 708"/>
                  <a:gd name="T19" fmla="*/ 155 h 372"/>
                  <a:gd name="T20" fmla="*/ 57 w 708"/>
                  <a:gd name="T21" fmla="*/ 206 h 372"/>
                  <a:gd name="T22" fmla="*/ 116 w 708"/>
                  <a:gd name="T23" fmla="*/ 203 h 372"/>
                  <a:gd name="T24" fmla="*/ 93 w 708"/>
                  <a:gd name="T25" fmla="*/ 174 h 372"/>
                  <a:gd name="T26" fmla="*/ 46 w 708"/>
                  <a:gd name="T27" fmla="*/ 181 h 372"/>
                  <a:gd name="T28" fmla="*/ 129 w 708"/>
                  <a:gd name="T29" fmla="*/ 265 h 372"/>
                  <a:gd name="T30" fmla="*/ 149 w 708"/>
                  <a:gd name="T31" fmla="*/ 251 h 372"/>
                  <a:gd name="T32" fmla="*/ 121 w 708"/>
                  <a:gd name="T33" fmla="*/ 221 h 372"/>
                  <a:gd name="T34" fmla="*/ 111 w 708"/>
                  <a:gd name="T35" fmla="*/ 252 h 372"/>
                  <a:gd name="T36" fmla="*/ 164 w 708"/>
                  <a:gd name="T37" fmla="*/ 295 h 372"/>
                  <a:gd name="T38" fmla="*/ 175 w 708"/>
                  <a:gd name="T39" fmla="*/ 321 h 372"/>
                  <a:gd name="T40" fmla="*/ 132 w 708"/>
                  <a:gd name="T41" fmla="*/ 292 h 372"/>
                  <a:gd name="T42" fmla="*/ 146 w 708"/>
                  <a:gd name="T43" fmla="*/ 291 h 372"/>
                  <a:gd name="T44" fmla="*/ 211 w 708"/>
                  <a:gd name="T45" fmla="*/ 283 h 372"/>
                  <a:gd name="T46" fmla="*/ 260 w 708"/>
                  <a:gd name="T47" fmla="*/ 308 h 372"/>
                  <a:gd name="T48" fmla="*/ 205 w 708"/>
                  <a:gd name="T49" fmla="*/ 335 h 372"/>
                  <a:gd name="T50" fmla="*/ 342 w 708"/>
                  <a:gd name="T51" fmla="*/ 329 h 372"/>
                  <a:gd name="T52" fmla="*/ 344 w 708"/>
                  <a:gd name="T53" fmla="*/ 352 h 372"/>
                  <a:gd name="T54" fmla="*/ 303 w 708"/>
                  <a:gd name="T55" fmla="*/ 320 h 372"/>
                  <a:gd name="T56" fmla="*/ 320 w 708"/>
                  <a:gd name="T57" fmla="*/ 364 h 372"/>
                  <a:gd name="T58" fmla="*/ 360 w 708"/>
                  <a:gd name="T59" fmla="*/ 321 h 372"/>
                  <a:gd name="T60" fmla="*/ 416 w 708"/>
                  <a:gd name="T61" fmla="*/ 315 h 372"/>
                  <a:gd name="T62" fmla="*/ 384 w 708"/>
                  <a:gd name="T63" fmla="*/ 368 h 372"/>
                  <a:gd name="T64" fmla="*/ 464 w 708"/>
                  <a:gd name="T65" fmla="*/ 350 h 372"/>
                  <a:gd name="T66" fmla="*/ 433 w 708"/>
                  <a:gd name="T67" fmla="*/ 313 h 372"/>
                  <a:gd name="T68" fmla="*/ 508 w 708"/>
                  <a:gd name="T69" fmla="*/ 337 h 372"/>
                  <a:gd name="T70" fmla="*/ 500 w 708"/>
                  <a:gd name="T71" fmla="*/ 285 h 372"/>
                  <a:gd name="T72" fmla="*/ 483 w 708"/>
                  <a:gd name="T73" fmla="*/ 294 h 372"/>
                  <a:gd name="T74" fmla="*/ 508 w 708"/>
                  <a:gd name="T75" fmla="*/ 337 h 372"/>
                  <a:gd name="T76" fmla="*/ 515 w 708"/>
                  <a:gd name="T77" fmla="*/ 276 h 372"/>
                  <a:gd name="T78" fmla="*/ 548 w 708"/>
                  <a:gd name="T79" fmla="*/ 279 h 372"/>
                  <a:gd name="T80" fmla="*/ 550 w 708"/>
                  <a:gd name="T81" fmla="*/ 283 h 372"/>
                  <a:gd name="T82" fmla="*/ 547 w 708"/>
                  <a:gd name="T83" fmla="*/ 316 h 372"/>
                  <a:gd name="T84" fmla="*/ 609 w 708"/>
                  <a:gd name="T85" fmla="*/ 250 h 372"/>
                  <a:gd name="T86" fmla="*/ 608 w 708"/>
                  <a:gd name="T87" fmla="*/ 227 h 372"/>
                  <a:gd name="T88" fmla="*/ 573 w 708"/>
                  <a:gd name="T89" fmla="*/ 241 h 372"/>
                  <a:gd name="T90" fmla="*/ 609 w 708"/>
                  <a:gd name="T91" fmla="*/ 250 h 372"/>
                  <a:gd name="T92" fmla="*/ 656 w 708"/>
                  <a:gd name="T93" fmla="*/ 184 h 372"/>
                  <a:gd name="T94" fmla="*/ 613 w 708"/>
                  <a:gd name="T95" fmla="*/ 172 h 372"/>
                  <a:gd name="T96" fmla="*/ 625 w 708"/>
                  <a:gd name="T97" fmla="*/ 165 h 372"/>
                  <a:gd name="T98" fmla="*/ 650 w 708"/>
                  <a:gd name="T99" fmla="*/ 169 h 372"/>
                  <a:gd name="T100" fmla="*/ 651 w 708"/>
                  <a:gd name="T101" fmla="*/ 215 h 372"/>
                  <a:gd name="T102" fmla="*/ 635 w 708"/>
                  <a:gd name="T103" fmla="*/ 139 h 372"/>
                  <a:gd name="T104" fmla="*/ 683 w 708"/>
                  <a:gd name="T105" fmla="*/ 137 h 372"/>
                  <a:gd name="T106" fmla="*/ 655 w 708"/>
                  <a:gd name="T107" fmla="*/ 73 h 372"/>
                  <a:gd name="T108" fmla="*/ 690 w 708"/>
                  <a:gd name="T109" fmla="*/ 98 h 372"/>
                  <a:gd name="T110" fmla="*/ 684 w 708"/>
                  <a:gd name="T111" fmla="*/ 17 h 372"/>
                  <a:gd name="T112" fmla="*/ 698 w 708"/>
                  <a:gd name="T113" fmla="*/ 34 h 372"/>
                  <a:gd name="T114" fmla="*/ 659 w 708"/>
                  <a:gd name="T115" fmla="*/ 29 h 372"/>
                  <a:gd name="T116" fmla="*/ 659 w 708"/>
                  <a:gd name="T117" fmla="*/ 11 h 372"/>
                  <a:gd name="T118" fmla="*/ 663 w 708"/>
                  <a:gd name="T119" fmla="*/ 6 h 3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708" h="372">
                    <a:moveTo>
                      <a:pt x="0" y="6"/>
                    </a:moveTo>
                    <a:cubicBezTo>
                      <a:pt x="19" y="6"/>
                      <a:pt x="19" y="6"/>
                      <a:pt x="19" y="6"/>
                    </a:cubicBezTo>
                    <a:cubicBezTo>
                      <a:pt x="19" y="8"/>
                      <a:pt x="19" y="8"/>
                      <a:pt x="19" y="8"/>
                    </a:cubicBezTo>
                    <a:cubicBezTo>
                      <a:pt x="15" y="9"/>
                      <a:pt x="11" y="11"/>
                      <a:pt x="8" y="14"/>
                    </a:cubicBezTo>
                    <a:cubicBezTo>
                      <a:pt x="5" y="18"/>
                      <a:pt x="4" y="22"/>
                      <a:pt x="4" y="26"/>
                    </a:cubicBezTo>
                    <a:cubicBezTo>
                      <a:pt x="4" y="29"/>
                      <a:pt x="5" y="32"/>
                      <a:pt x="6" y="33"/>
                    </a:cubicBezTo>
                    <a:cubicBezTo>
                      <a:pt x="7" y="35"/>
                      <a:pt x="9" y="36"/>
                      <a:pt x="11" y="36"/>
                    </a:cubicBezTo>
                    <a:cubicBezTo>
                      <a:pt x="14" y="36"/>
                      <a:pt x="18" y="32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2" y="22"/>
                      <a:pt x="22" y="22"/>
                      <a:pt x="22" y="21"/>
                    </a:cubicBezTo>
                    <a:cubicBezTo>
                      <a:pt x="25" y="15"/>
                      <a:pt x="27" y="11"/>
                      <a:pt x="30" y="9"/>
                    </a:cubicBezTo>
                    <a:cubicBezTo>
                      <a:pt x="31" y="8"/>
                      <a:pt x="32" y="7"/>
                      <a:pt x="34" y="7"/>
                    </a:cubicBezTo>
                    <a:cubicBezTo>
                      <a:pt x="35" y="6"/>
                      <a:pt x="36" y="6"/>
                      <a:pt x="38" y="6"/>
                    </a:cubicBezTo>
                    <a:cubicBezTo>
                      <a:pt x="43" y="6"/>
                      <a:pt x="47" y="8"/>
                      <a:pt x="50" y="11"/>
                    </a:cubicBezTo>
                    <a:cubicBezTo>
                      <a:pt x="53" y="15"/>
                      <a:pt x="55" y="19"/>
                      <a:pt x="55" y="25"/>
                    </a:cubicBezTo>
                    <a:cubicBezTo>
                      <a:pt x="55" y="28"/>
                      <a:pt x="54" y="31"/>
                      <a:pt x="53" y="35"/>
                    </a:cubicBezTo>
                    <a:cubicBezTo>
                      <a:pt x="52" y="38"/>
                      <a:pt x="51" y="40"/>
                      <a:pt x="51" y="40"/>
                    </a:cubicBezTo>
                    <a:cubicBezTo>
                      <a:pt x="51" y="41"/>
                      <a:pt x="52" y="41"/>
                      <a:pt x="52" y="42"/>
                    </a:cubicBezTo>
                    <a:cubicBezTo>
                      <a:pt x="53" y="42"/>
                      <a:pt x="53" y="42"/>
                      <a:pt x="55" y="42"/>
                    </a:cubicBezTo>
                    <a:cubicBezTo>
                      <a:pt x="55" y="44"/>
                      <a:pt x="55" y="44"/>
                      <a:pt x="55" y="44"/>
                    </a:cubicBezTo>
                    <a:cubicBezTo>
                      <a:pt x="38" y="45"/>
                      <a:pt x="38" y="45"/>
                      <a:pt x="38" y="45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42" y="42"/>
                      <a:pt x="45" y="40"/>
                      <a:pt x="48" y="37"/>
                    </a:cubicBezTo>
                    <a:cubicBezTo>
                      <a:pt x="50" y="34"/>
                      <a:pt x="51" y="30"/>
                      <a:pt x="51" y="26"/>
                    </a:cubicBezTo>
                    <a:cubicBezTo>
                      <a:pt x="51" y="24"/>
                      <a:pt x="51" y="22"/>
                      <a:pt x="49" y="20"/>
                    </a:cubicBezTo>
                    <a:cubicBezTo>
                      <a:pt x="48" y="19"/>
                      <a:pt x="47" y="18"/>
                      <a:pt x="45" y="18"/>
                    </a:cubicBezTo>
                    <a:cubicBezTo>
                      <a:pt x="42" y="18"/>
                      <a:pt x="39" y="21"/>
                      <a:pt x="37" y="28"/>
                    </a:cubicBezTo>
                    <a:cubicBezTo>
                      <a:pt x="36" y="29"/>
                      <a:pt x="36" y="29"/>
                      <a:pt x="36" y="29"/>
                    </a:cubicBezTo>
                    <a:cubicBezTo>
                      <a:pt x="34" y="33"/>
                      <a:pt x="33" y="37"/>
                      <a:pt x="32" y="39"/>
                    </a:cubicBezTo>
                    <a:cubicBezTo>
                      <a:pt x="31" y="40"/>
                      <a:pt x="30" y="42"/>
                      <a:pt x="29" y="43"/>
                    </a:cubicBezTo>
                    <a:cubicBezTo>
                      <a:pt x="27" y="44"/>
                      <a:pt x="26" y="45"/>
                      <a:pt x="24" y="46"/>
                    </a:cubicBezTo>
                    <a:cubicBezTo>
                      <a:pt x="22" y="47"/>
                      <a:pt x="20" y="47"/>
                      <a:pt x="18" y="47"/>
                    </a:cubicBezTo>
                    <a:cubicBezTo>
                      <a:pt x="13" y="47"/>
                      <a:pt x="9" y="46"/>
                      <a:pt x="6" y="42"/>
                    </a:cubicBezTo>
                    <a:cubicBezTo>
                      <a:pt x="2" y="38"/>
                      <a:pt x="1" y="34"/>
                      <a:pt x="1" y="28"/>
                    </a:cubicBezTo>
                    <a:cubicBezTo>
                      <a:pt x="1" y="25"/>
                      <a:pt x="1" y="21"/>
                      <a:pt x="2" y="17"/>
                    </a:cubicBezTo>
                    <a:cubicBezTo>
                      <a:pt x="3" y="14"/>
                      <a:pt x="4" y="12"/>
                      <a:pt x="4" y="12"/>
                    </a:cubicBezTo>
                    <a:cubicBezTo>
                      <a:pt x="4" y="11"/>
                      <a:pt x="3" y="10"/>
                      <a:pt x="3" y="9"/>
                    </a:cubicBezTo>
                    <a:cubicBezTo>
                      <a:pt x="2" y="9"/>
                      <a:pt x="1" y="9"/>
                      <a:pt x="0" y="9"/>
                    </a:cubicBezTo>
                    <a:cubicBezTo>
                      <a:pt x="0" y="6"/>
                      <a:pt x="0" y="6"/>
                      <a:pt x="0" y="6"/>
                    </a:cubicBezTo>
                    <a:close/>
                    <a:moveTo>
                      <a:pt x="18" y="88"/>
                    </a:moveTo>
                    <a:cubicBezTo>
                      <a:pt x="16" y="89"/>
                      <a:pt x="14" y="90"/>
                      <a:pt x="13" y="91"/>
                    </a:cubicBezTo>
                    <a:cubicBezTo>
                      <a:pt x="12" y="92"/>
                      <a:pt x="12" y="94"/>
                      <a:pt x="12" y="96"/>
                    </a:cubicBezTo>
                    <a:cubicBezTo>
                      <a:pt x="10" y="96"/>
                      <a:pt x="10" y="96"/>
                      <a:pt x="10" y="96"/>
                    </a:cubicBezTo>
                    <a:cubicBezTo>
                      <a:pt x="5" y="68"/>
                      <a:pt x="5" y="68"/>
                      <a:pt x="5" y="68"/>
                    </a:cubicBezTo>
                    <a:cubicBezTo>
                      <a:pt x="7" y="67"/>
                      <a:pt x="7" y="67"/>
                      <a:pt x="7" y="67"/>
                    </a:cubicBezTo>
                    <a:cubicBezTo>
                      <a:pt x="8" y="70"/>
                      <a:pt x="8" y="71"/>
                      <a:pt x="10" y="72"/>
                    </a:cubicBezTo>
                    <a:cubicBezTo>
                      <a:pt x="11" y="73"/>
                      <a:pt x="13" y="73"/>
                      <a:pt x="16" y="73"/>
                    </a:cubicBezTo>
                    <a:cubicBezTo>
                      <a:pt x="48" y="67"/>
                      <a:pt x="48" y="67"/>
                      <a:pt x="48" y="67"/>
                    </a:cubicBezTo>
                    <a:cubicBezTo>
                      <a:pt x="50" y="66"/>
                      <a:pt x="52" y="66"/>
                      <a:pt x="53" y="64"/>
                    </a:cubicBezTo>
                    <a:cubicBezTo>
                      <a:pt x="54" y="63"/>
                      <a:pt x="54" y="61"/>
                      <a:pt x="54" y="59"/>
                    </a:cubicBezTo>
                    <a:cubicBezTo>
                      <a:pt x="56" y="59"/>
                      <a:pt x="56" y="59"/>
                      <a:pt x="56" y="59"/>
                    </a:cubicBezTo>
                    <a:cubicBezTo>
                      <a:pt x="61" y="88"/>
                      <a:pt x="61" y="88"/>
                      <a:pt x="61" y="88"/>
                    </a:cubicBezTo>
                    <a:cubicBezTo>
                      <a:pt x="59" y="88"/>
                      <a:pt x="59" y="88"/>
                      <a:pt x="59" y="88"/>
                    </a:cubicBezTo>
                    <a:cubicBezTo>
                      <a:pt x="59" y="85"/>
                      <a:pt x="58" y="84"/>
                      <a:pt x="56" y="83"/>
                    </a:cubicBezTo>
                    <a:cubicBezTo>
                      <a:pt x="55" y="82"/>
                      <a:pt x="53" y="82"/>
                      <a:pt x="51" y="83"/>
                    </a:cubicBezTo>
                    <a:cubicBezTo>
                      <a:pt x="18" y="88"/>
                      <a:pt x="18" y="88"/>
                      <a:pt x="18" y="88"/>
                    </a:cubicBezTo>
                    <a:close/>
                    <a:moveTo>
                      <a:pt x="41" y="158"/>
                    </a:moveTo>
                    <a:cubicBezTo>
                      <a:pt x="37" y="157"/>
                      <a:pt x="33" y="155"/>
                      <a:pt x="30" y="152"/>
                    </a:cubicBezTo>
                    <a:cubicBezTo>
                      <a:pt x="27" y="149"/>
                      <a:pt x="24" y="145"/>
                      <a:pt x="23" y="141"/>
                    </a:cubicBezTo>
                    <a:cubicBezTo>
                      <a:pt x="22" y="137"/>
                      <a:pt x="21" y="134"/>
                      <a:pt x="22" y="131"/>
                    </a:cubicBezTo>
                    <a:cubicBezTo>
                      <a:pt x="22" y="128"/>
                      <a:pt x="23" y="125"/>
                      <a:pt x="24" y="122"/>
                    </a:cubicBezTo>
                    <a:cubicBezTo>
                      <a:pt x="26" y="118"/>
                      <a:pt x="28" y="116"/>
                      <a:pt x="31" y="113"/>
                    </a:cubicBezTo>
                    <a:cubicBezTo>
                      <a:pt x="34" y="111"/>
                      <a:pt x="37" y="109"/>
                      <a:pt x="41" y="108"/>
                    </a:cubicBezTo>
                    <a:cubicBezTo>
                      <a:pt x="49" y="105"/>
                      <a:pt x="55" y="106"/>
                      <a:pt x="62" y="109"/>
                    </a:cubicBezTo>
                    <a:cubicBezTo>
                      <a:pt x="68" y="112"/>
                      <a:pt x="72" y="117"/>
                      <a:pt x="75" y="125"/>
                    </a:cubicBezTo>
                    <a:cubicBezTo>
                      <a:pt x="76" y="128"/>
                      <a:pt x="76" y="131"/>
                      <a:pt x="76" y="135"/>
                    </a:cubicBezTo>
                    <a:cubicBezTo>
                      <a:pt x="76" y="138"/>
                      <a:pt x="76" y="140"/>
                      <a:pt x="76" y="140"/>
                    </a:cubicBezTo>
                    <a:cubicBezTo>
                      <a:pt x="76" y="141"/>
                      <a:pt x="77" y="141"/>
                      <a:pt x="77" y="141"/>
                    </a:cubicBezTo>
                    <a:cubicBezTo>
                      <a:pt x="78" y="142"/>
                      <a:pt x="79" y="142"/>
                      <a:pt x="80" y="142"/>
                    </a:cubicBezTo>
                    <a:cubicBezTo>
                      <a:pt x="80" y="144"/>
                      <a:pt x="80" y="144"/>
                      <a:pt x="80" y="144"/>
                    </a:cubicBezTo>
                    <a:cubicBezTo>
                      <a:pt x="65" y="149"/>
                      <a:pt x="65" y="149"/>
                      <a:pt x="65" y="149"/>
                    </a:cubicBezTo>
                    <a:cubicBezTo>
                      <a:pt x="64" y="147"/>
                      <a:pt x="64" y="147"/>
                      <a:pt x="64" y="147"/>
                    </a:cubicBezTo>
                    <a:cubicBezTo>
                      <a:pt x="68" y="145"/>
                      <a:pt x="70" y="142"/>
                      <a:pt x="72" y="139"/>
                    </a:cubicBezTo>
                    <a:cubicBezTo>
                      <a:pt x="73" y="137"/>
                      <a:pt x="73" y="133"/>
                      <a:pt x="72" y="130"/>
                    </a:cubicBezTo>
                    <a:cubicBezTo>
                      <a:pt x="71" y="126"/>
                      <a:pt x="68" y="123"/>
                      <a:pt x="64" y="122"/>
                    </a:cubicBezTo>
                    <a:cubicBezTo>
                      <a:pt x="59" y="121"/>
                      <a:pt x="54" y="122"/>
                      <a:pt x="47" y="124"/>
                    </a:cubicBezTo>
                    <a:cubicBezTo>
                      <a:pt x="40" y="126"/>
                      <a:pt x="34" y="129"/>
                      <a:pt x="31" y="132"/>
                    </a:cubicBezTo>
                    <a:cubicBezTo>
                      <a:pt x="28" y="136"/>
                      <a:pt x="27" y="140"/>
                      <a:pt x="29" y="144"/>
                    </a:cubicBezTo>
                    <a:cubicBezTo>
                      <a:pt x="30" y="146"/>
                      <a:pt x="31" y="149"/>
                      <a:pt x="34" y="151"/>
                    </a:cubicBezTo>
                    <a:cubicBezTo>
                      <a:pt x="36" y="153"/>
                      <a:pt x="39" y="154"/>
                      <a:pt x="42" y="155"/>
                    </a:cubicBezTo>
                    <a:cubicBezTo>
                      <a:pt x="41" y="158"/>
                      <a:pt x="41" y="158"/>
                      <a:pt x="41" y="158"/>
                    </a:cubicBezTo>
                    <a:close/>
                    <a:moveTo>
                      <a:pt x="60" y="193"/>
                    </a:moveTo>
                    <a:cubicBezTo>
                      <a:pt x="73" y="185"/>
                      <a:pt x="73" y="185"/>
                      <a:pt x="73" y="185"/>
                    </a:cubicBezTo>
                    <a:cubicBezTo>
                      <a:pt x="81" y="198"/>
                      <a:pt x="81" y="198"/>
                      <a:pt x="81" y="198"/>
                    </a:cubicBezTo>
                    <a:cubicBezTo>
                      <a:pt x="68" y="207"/>
                      <a:pt x="68" y="207"/>
                      <a:pt x="68" y="207"/>
                    </a:cubicBezTo>
                    <a:cubicBezTo>
                      <a:pt x="66" y="208"/>
                      <a:pt x="64" y="208"/>
                      <a:pt x="63" y="208"/>
                    </a:cubicBezTo>
                    <a:cubicBezTo>
                      <a:pt x="61" y="208"/>
                      <a:pt x="60" y="207"/>
                      <a:pt x="59" y="205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72" y="231"/>
                      <a:pt x="72" y="231"/>
                      <a:pt x="72" y="231"/>
                    </a:cubicBezTo>
                    <a:cubicBezTo>
                      <a:pt x="74" y="230"/>
                      <a:pt x="74" y="230"/>
                      <a:pt x="74" y="230"/>
                    </a:cubicBezTo>
                    <a:cubicBezTo>
                      <a:pt x="73" y="228"/>
                      <a:pt x="72" y="226"/>
                      <a:pt x="73" y="224"/>
                    </a:cubicBezTo>
                    <a:cubicBezTo>
                      <a:pt x="73" y="223"/>
                      <a:pt x="75" y="222"/>
                      <a:pt x="77" y="220"/>
                    </a:cubicBezTo>
                    <a:cubicBezTo>
                      <a:pt x="105" y="203"/>
                      <a:pt x="105" y="203"/>
                      <a:pt x="105" y="203"/>
                    </a:cubicBezTo>
                    <a:cubicBezTo>
                      <a:pt x="107" y="201"/>
                      <a:pt x="109" y="201"/>
                      <a:pt x="110" y="201"/>
                    </a:cubicBezTo>
                    <a:cubicBezTo>
                      <a:pt x="112" y="201"/>
                      <a:pt x="113" y="202"/>
                      <a:pt x="114" y="204"/>
                    </a:cubicBezTo>
                    <a:cubicBezTo>
                      <a:pt x="116" y="203"/>
                      <a:pt x="116" y="203"/>
                      <a:pt x="116" y="203"/>
                    </a:cubicBezTo>
                    <a:cubicBezTo>
                      <a:pt x="101" y="179"/>
                      <a:pt x="101" y="179"/>
                      <a:pt x="101" y="179"/>
                    </a:cubicBezTo>
                    <a:cubicBezTo>
                      <a:pt x="99" y="180"/>
                      <a:pt x="99" y="180"/>
                      <a:pt x="99" y="180"/>
                    </a:cubicBezTo>
                    <a:cubicBezTo>
                      <a:pt x="100" y="182"/>
                      <a:pt x="101" y="183"/>
                      <a:pt x="100" y="185"/>
                    </a:cubicBezTo>
                    <a:cubicBezTo>
                      <a:pt x="100" y="186"/>
                      <a:pt x="98" y="188"/>
                      <a:pt x="96" y="189"/>
                    </a:cubicBezTo>
                    <a:cubicBezTo>
                      <a:pt x="85" y="196"/>
                      <a:pt x="85" y="196"/>
                      <a:pt x="85" y="196"/>
                    </a:cubicBezTo>
                    <a:cubicBezTo>
                      <a:pt x="76" y="183"/>
                      <a:pt x="76" y="183"/>
                      <a:pt x="76" y="183"/>
                    </a:cubicBezTo>
                    <a:cubicBezTo>
                      <a:pt x="88" y="176"/>
                      <a:pt x="88" y="176"/>
                      <a:pt x="88" y="176"/>
                    </a:cubicBezTo>
                    <a:cubicBezTo>
                      <a:pt x="90" y="174"/>
                      <a:pt x="92" y="174"/>
                      <a:pt x="93" y="174"/>
                    </a:cubicBezTo>
                    <a:cubicBezTo>
                      <a:pt x="95" y="174"/>
                      <a:pt x="96" y="175"/>
                      <a:pt x="98" y="177"/>
                    </a:cubicBezTo>
                    <a:cubicBezTo>
                      <a:pt x="99" y="176"/>
                      <a:pt x="99" y="176"/>
                      <a:pt x="99" y="176"/>
                    </a:cubicBezTo>
                    <a:cubicBezTo>
                      <a:pt x="84" y="152"/>
                      <a:pt x="84" y="152"/>
                      <a:pt x="84" y="152"/>
                    </a:cubicBezTo>
                    <a:cubicBezTo>
                      <a:pt x="82" y="153"/>
                      <a:pt x="82" y="153"/>
                      <a:pt x="82" y="153"/>
                    </a:cubicBezTo>
                    <a:cubicBezTo>
                      <a:pt x="83" y="155"/>
                      <a:pt x="84" y="157"/>
                      <a:pt x="83" y="158"/>
                    </a:cubicBezTo>
                    <a:cubicBezTo>
                      <a:pt x="83" y="159"/>
                      <a:pt x="82" y="161"/>
                      <a:pt x="79" y="162"/>
                    </a:cubicBezTo>
                    <a:cubicBezTo>
                      <a:pt x="52" y="180"/>
                      <a:pt x="52" y="180"/>
                      <a:pt x="52" y="180"/>
                    </a:cubicBezTo>
                    <a:cubicBezTo>
                      <a:pt x="49" y="181"/>
                      <a:pt x="47" y="182"/>
                      <a:pt x="46" y="181"/>
                    </a:cubicBezTo>
                    <a:cubicBezTo>
                      <a:pt x="44" y="181"/>
                      <a:pt x="43" y="180"/>
                      <a:pt x="42" y="178"/>
                    </a:cubicBezTo>
                    <a:cubicBezTo>
                      <a:pt x="40" y="179"/>
                      <a:pt x="40" y="179"/>
                      <a:pt x="40" y="179"/>
                    </a:cubicBezTo>
                    <a:cubicBezTo>
                      <a:pt x="56" y="204"/>
                      <a:pt x="56" y="204"/>
                      <a:pt x="56" y="204"/>
                    </a:cubicBezTo>
                    <a:cubicBezTo>
                      <a:pt x="57" y="203"/>
                      <a:pt x="57" y="203"/>
                      <a:pt x="57" y="203"/>
                    </a:cubicBezTo>
                    <a:cubicBezTo>
                      <a:pt x="56" y="201"/>
                      <a:pt x="56" y="199"/>
                      <a:pt x="56" y="197"/>
                    </a:cubicBezTo>
                    <a:cubicBezTo>
                      <a:pt x="56" y="196"/>
                      <a:pt x="58" y="195"/>
                      <a:pt x="60" y="193"/>
                    </a:cubicBezTo>
                    <a:cubicBezTo>
                      <a:pt x="60" y="193"/>
                      <a:pt x="60" y="193"/>
                      <a:pt x="60" y="193"/>
                    </a:cubicBezTo>
                    <a:close/>
                    <a:moveTo>
                      <a:pt x="129" y="265"/>
                    </a:moveTo>
                    <a:cubicBezTo>
                      <a:pt x="146" y="249"/>
                      <a:pt x="146" y="249"/>
                      <a:pt x="146" y="249"/>
                    </a:cubicBezTo>
                    <a:cubicBezTo>
                      <a:pt x="148" y="247"/>
                      <a:pt x="149" y="245"/>
                      <a:pt x="149" y="244"/>
                    </a:cubicBezTo>
                    <a:cubicBezTo>
                      <a:pt x="150" y="242"/>
                      <a:pt x="149" y="241"/>
                      <a:pt x="147" y="239"/>
                    </a:cubicBezTo>
                    <a:cubicBezTo>
                      <a:pt x="149" y="238"/>
                      <a:pt x="149" y="238"/>
                      <a:pt x="149" y="238"/>
                    </a:cubicBezTo>
                    <a:cubicBezTo>
                      <a:pt x="160" y="250"/>
                      <a:pt x="160" y="250"/>
                      <a:pt x="160" y="250"/>
                    </a:cubicBezTo>
                    <a:cubicBezTo>
                      <a:pt x="159" y="251"/>
                      <a:pt x="159" y="251"/>
                      <a:pt x="159" y="251"/>
                    </a:cubicBezTo>
                    <a:cubicBezTo>
                      <a:pt x="157" y="249"/>
                      <a:pt x="155" y="248"/>
                      <a:pt x="154" y="248"/>
                    </a:cubicBezTo>
                    <a:cubicBezTo>
                      <a:pt x="152" y="248"/>
                      <a:pt x="151" y="249"/>
                      <a:pt x="149" y="251"/>
                    </a:cubicBezTo>
                    <a:cubicBezTo>
                      <a:pt x="132" y="267"/>
                      <a:pt x="132" y="267"/>
                      <a:pt x="132" y="267"/>
                    </a:cubicBezTo>
                    <a:cubicBezTo>
                      <a:pt x="129" y="270"/>
                      <a:pt x="127" y="271"/>
                      <a:pt x="125" y="272"/>
                    </a:cubicBezTo>
                    <a:cubicBezTo>
                      <a:pt x="123" y="273"/>
                      <a:pt x="121" y="274"/>
                      <a:pt x="119" y="274"/>
                    </a:cubicBezTo>
                    <a:cubicBezTo>
                      <a:pt x="116" y="274"/>
                      <a:pt x="114" y="273"/>
                      <a:pt x="111" y="272"/>
                    </a:cubicBezTo>
                    <a:cubicBezTo>
                      <a:pt x="108" y="270"/>
                      <a:pt x="105" y="268"/>
                      <a:pt x="103" y="265"/>
                    </a:cubicBezTo>
                    <a:cubicBezTo>
                      <a:pt x="98" y="260"/>
                      <a:pt x="96" y="256"/>
                      <a:pt x="96" y="251"/>
                    </a:cubicBezTo>
                    <a:cubicBezTo>
                      <a:pt x="96" y="246"/>
                      <a:pt x="98" y="242"/>
                      <a:pt x="103" y="238"/>
                    </a:cubicBezTo>
                    <a:cubicBezTo>
                      <a:pt x="121" y="221"/>
                      <a:pt x="121" y="221"/>
                      <a:pt x="121" y="221"/>
                    </a:cubicBezTo>
                    <a:cubicBezTo>
                      <a:pt x="122" y="219"/>
                      <a:pt x="123" y="217"/>
                      <a:pt x="124" y="216"/>
                    </a:cubicBezTo>
                    <a:cubicBezTo>
                      <a:pt x="124" y="215"/>
                      <a:pt x="123" y="213"/>
                      <a:pt x="121" y="211"/>
                    </a:cubicBezTo>
                    <a:cubicBezTo>
                      <a:pt x="123" y="210"/>
                      <a:pt x="123" y="210"/>
                      <a:pt x="123" y="210"/>
                    </a:cubicBezTo>
                    <a:cubicBezTo>
                      <a:pt x="143" y="231"/>
                      <a:pt x="143" y="231"/>
                      <a:pt x="143" y="231"/>
                    </a:cubicBezTo>
                    <a:cubicBezTo>
                      <a:pt x="141" y="232"/>
                      <a:pt x="141" y="232"/>
                      <a:pt x="141" y="232"/>
                    </a:cubicBezTo>
                    <a:cubicBezTo>
                      <a:pt x="140" y="231"/>
                      <a:pt x="138" y="230"/>
                      <a:pt x="137" y="230"/>
                    </a:cubicBezTo>
                    <a:cubicBezTo>
                      <a:pt x="135" y="230"/>
                      <a:pt x="133" y="231"/>
                      <a:pt x="131" y="233"/>
                    </a:cubicBezTo>
                    <a:cubicBezTo>
                      <a:pt x="111" y="252"/>
                      <a:pt x="111" y="252"/>
                      <a:pt x="111" y="252"/>
                    </a:cubicBezTo>
                    <a:cubicBezTo>
                      <a:pt x="108" y="254"/>
                      <a:pt x="106" y="257"/>
                      <a:pt x="106" y="259"/>
                    </a:cubicBezTo>
                    <a:cubicBezTo>
                      <a:pt x="106" y="262"/>
                      <a:pt x="107" y="264"/>
                      <a:pt x="109" y="267"/>
                    </a:cubicBezTo>
                    <a:cubicBezTo>
                      <a:pt x="112" y="270"/>
                      <a:pt x="115" y="271"/>
                      <a:pt x="118" y="271"/>
                    </a:cubicBezTo>
                    <a:cubicBezTo>
                      <a:pt x="122" y="270"/>
                      <a:pt x="125" y="268"/>
                      <a:pt x="129" y="265"/>
                    </a:cubicBezTo>
                    <a:cubicBezTo>
                      <a:pt x="129" y="265"/>
                      <a:pt x="129" y="265"/>
                      <a:pt x="129" y="265"/>
                    </a:cubicBezTo>
                    <a:close/>
                    <a:moveTo>
                      <a:pt x="146" y="291"/>
                    </a:moveTo>
                    <a:cubicBezTo>
                      <a:pt x="153" y="287"/>
                      <a:pt x="153" y="287"/>
                      <a:pt x="153" y="287"/>
                    </a:cubicBezTo>
                    <a:cubicBezTo>
                      <a:pt x="164" y="295"/>
                      <a:pt x="164" y="295"/>
                      <a:pt x="164" y="295"/>
                    </a:cubicBezTo>
                    <a:cubicBezTo>
                      <a:pt x="161" y="304"/>
                      <a:pt x="161" y="304"/>
                      <a:pt x="161" y="304"/>
                    </a:cubicBezTo>
                    <a:cubicBezTo>
                      <a:pt x="161" y="305"/>
                      <a:pt x="161" y="305"/>
                      <a:pt x="160" y="305"/>
                    </a:cubicBezTo>
                    <a:cubicBezTo>
                      <a:pt x="160" y="306"/>
                      <a:pt x="160" y="306"/>
                      <a:pt x="160" y="306"/>
                    </a:cubicBezTo>
                    <a:cubicBezTo>
                      <a:pt x="159" y="307"/>
                      <a:pt x="158" y="308"/>
                      <a:pt x="158" y="308"/>
                    </a:cubicBezTo>
                    <a:cubicBezTo>
                      <a:pt x="157" y="307"/>
                      <a:pt x="155" y="307"/>
                      <a:pt x="153" y="305"/>
                    </a:cubicBezTo>
                    <a:cubicBezTo>
                      <a:pt x="152" y="307"/>
                      <a:pt x="152" y="307"/>
                      <a:pt x="152" y="307"/>
                    </a:cubicBezTo>
                    <a:cubicBezTo>
                      <a:pt x="174" y="322"/>
                      <a:pt x="174" y="322"/>
                      <a:pt x="174" y="322"/>
                    </a:cubicBezTo>
                    <a:cubicBezTo>
                      <a:pt x="175" y="321"/>
                      <a:pt x="175" y="321"/>
                      <a:pt x="175" y="321"/>
                    </a:cubicBezTo>
                    <a:cubicBezTo>
                      <a:pt x="174" y="320"/>
                      <a:pt x="174" y="320"/>
                      <a:pt x="173" y="319"/>
                    </a:cubicBezTo>
                    <a:cubicBezTo>
                      <a:pt x="173" y="318"/>
                      <a:pt x="173" y="316"/>
                      <a:pt x="174" y="315"/>
                    </a:cubicBezTo>
                    <a:cubicBezTo>
                      <a:pt x="186" y="268"/>
                      <a:pt x="186" y="268"/>
                      <a:pt x="186" y="268"/>
                    </a:cubicBezTo>
                    <a:cubicBezTo>
                      <a:pt x="181" y="264"/>
                      <a:pt x="181" y="264"/>
                      <a:pt x="181" y="264"/>
                    </a:cubicBezTo>
                    <a:cubicBezTo>
                      <a:pt x="141" y="290"/>
                      <a:pt x="141" y="290"/>
                      <a:pt x="141" y="290"/>
                    </a:cubicBezTo>
                    <a:cubicBezTo>
                      <a:pt x="139" y="291"/>
                      <a:pt x="138" y="291"/>
                      <a:pt x="137" y="292"/>
                    </a:cubicBezTo>
                    <a:cubicBezTo>
                      <a:pt x="135" y="292"/>
                      <a:pt x="134" y="291"/>
                      <a:pt x="133" y="291"/>
                    </a:cubicBezTo>
                    <a:cubicBezTo>
                      <a:pt x="132" y="292"/>
                      <a:pt x="132" y="292"/>
                      <a:pt x="132" y="292"/>
                    </a:cubicBezTo>
                    <a:cubicBezTo>
                      <a:pt x="145" y="301"/>
                      <a:pt x="145" y="301"/>
                      <a:pt x="145" y="301"/>
                    </a:cubicBezTo>
                    <a:cubicBezTo>
                      <a:pt x="146" y="300"/>
                      <a:pt x="146" y="300"/>
                      <a:pt x="146" y="300"/>
                    </a:cubicBezTo>
                    <a:cubicBezTo>
                      <a:pt x="145" y="299"/>
                      <a:pt x="145" y="299"/>
                      <a:pt x="145" y="299"/>
                    </a:cubicBezTo>
                    <a:cubicBezTo>
                      <a:pt x="144" y="298"/>
                      <a:pt x="143" y="297"/>
                      <a:pt x="143" y="296"/>
                    </a:cubicBezTo>
                    <a:cubicBezTo>
                      <a:pt x="142" y="295"/>
                      <a:pt x="143" y="294"/>
                      <a:pt x="143" y="293"/>
                    </a:cubicBezTo>
                    <a:cubicBezTo>
                      <a:pt x="144" y="293"/>
                      <a:pt x="144" y="293"/>
                      <a:pt x="144" y="292"/>
                    </a:cubicBezTo>
                    <a:cubicBezTo>
                      <a:pt x="145" y="292"/>
                      <a:pt x="145" y="292"/>
                      <a:pt x="146" y="291"/>
                    </a:cubicBezTo>
                    <a:cubicBezTo>
                      <a:pt x="146" y="291"/>
                      <a:pt x="146" y="291"/>
                      <a:pt x="146" y="291"/>
                    </a:cubicBezTo>
                    <a:close/>
                    <a:moveTo>
                      <a:pt x="156" y="285"/>
                    </a:moveTo>
                    <a:cubicBezTo>
                      <a:pt x="169" y="276"/>
                      <a:pt x="169" y="276"/>
                      <a:pt x="169" y="276"/>
                    </a:cubicBezTo>
                    <a:cubicBezTo>
                      <a:pt x="164" y="291"/>
                      <a:pt x="164" y="291"/>
                      <a:pt x="164" y="291"/>
                    </a:cubicBezTo>
                    <a:cubicBezTo>
                      <a:pt x="156" y="285"/>
                      <a:pt x="156" y="285"/>
                      <a:pt x="156" y="285"/>
                    </a:cubicBezTo>
                    <a:close/>
                    <a:moveTo>
                      <a:pt x="213" y="294"/>
                    </a:moveTo>
                    <a:cubicBezTo>
                      <a:pt x="214" y="292"/>
                      <a:pt x="214" y="290"/>
                      <a:pt x="214" y="288"/>
                    </a:cubicBezTo>
                    <a:cubicBezTo>
                      <a:pt x="213" y="287"/>
                      <a:pt x="212" y="286"/>
                      <a:pt x="210" y="285"/>
                    </a:cubicBezTo>
                    <a:cubicBezTo>
                      <a:pt x="211" y="283"/>
                      <a:pt x="211" y="283"/>
                      <a:pt x="211" y="283"/>
                    </a:cubicBezTo>
                    <a:cubicBezTo>
                      <a:pt x="230" y="292"/>
                      <a:pt x="230" y="292"/>
                      <a:pt x="230" y="292"/>
                    </a:cubicBezTo>
                    <a:cubicBezTo>
                      <a:pt x="239" y="329"/>
                      <a:pt x="239" y="329"/>
                      <a:pt x="239" y="329"/>
                    </a:cubicBezTo>
                    <a:cubicBezTo>
                      <a:pt x="248" y="311"/>
                      <a:pt x="248" y="311"/>
                      <a:pt x="248" y="311"/>
                    </a:cubicBezTo>
                    <a:cubicBezTo>
                      <a:pt x="249" y="308"/>
                      <a:pt x="250" y="306"/>
                      <a:pt x="249" y="305"/>
                    </a:cubicBezTo>
                    <a:cubicBezTo>
                      <a:pt x="249" y="304"/>
                      <a:pt x="248" y="302"/>
                      <a:pt x="245" y="301"/>
                    </a:cubicBezTo>
                    <a:cubicBezTo>
                      <a:pt x="246" y="299"/>
                      <a:pt x="246" y="299"/>
                      <a:pt x="246" y="299"/>
                    </a:cubicBezTo>
                    <a:cubicBezTo>
                      <a:pt x="261" y="306"/>
                      <a:pt x="261" y="306"/>
                      <a:pt x="261" y="306"/>
                    </a:cubicBezTo>
                    <a:cubicBezTo>
                      <a:pt x="260" y="308"/>
                      <a:pt x="260" y="308"/>
                      <a:pt x="260" y="308"/>
                    </a:cubicBezTo>
                    <a:cubicBezTo>
                      <a:pt x="258" y="307"/>
                      <a:pt x="256" y="307"/>
                      <a:pt x="255" y="308"/>
                    </a:cubicBezTo>
                    <a:cubicBezTo>
                      <a:pt x="254" y="308"/>
                      <a:pt x="252" y="310"/>
                      <a:pt x="251" y="312"/>
                    </a:cubicBezTo>
                    <a:cubicBezTo>
                      <a:pt x="234" y="350"/>
                      <a:pt x="234" y="350"/>
                      <a:pt x="234" y="350"/>
                    </a:cubicBezTo>
                    <a:cubicBezTo>
                      <a:pt x="228" y="348"/>
                      <a:pt x="228" y="348"/>
                      <a:pt x="228" y="348"/>
                    </a:cubicBezTo>
                    <a:cubicBezTo>
                      <a:pt x="215" y="297"/>
                      <a:pt x="215" y="297"/>
                      <a:pt x="215" y="297"/>
                    </a:cubicBezTo>
                    <a:cubicBezTo>
                      <a:pt x="202" y="325"/>
                      <a:pt x="202" y="325"/>
                      <a:pt x="202" y="325"/>
                    </a:cubicBezTo>
                    <a:cubicBezTo>
                      <a:pt x="201" y="328"/>
                      <a:pt x="200" y="330"/>
                      <a:pt x="201" y="331"/>
                    </a:cubicBezTo>
                    <a:cubicBezTo>
                      <a:pt x="201" y="332"/>
                      <a:pt x="203" y="334"/>
                      <a:pt x="205" y="335"/>
                    </a:cubicBezTo>
                    <a:cubicBezTo>
                      <a:pt x="204" y="337"/>
                      <a:pt x="204" y="337"/>
                      <a:pt x="204" y="337"/>
                    </a:cubicBezTo>
                    <a:cubicBezTo>
                      <a:pt x="189" y="329"/>
                      <a:pt x="189" y="329"/>
                      <a:pt x="189" y="329"/>
                    </a:cubicBezTo>
                    <a:cubicBezTo>
                      <a:pt x="190" y="328"/>
                      <a:pt x="190" y="328"/>
                      <a:pt x="190" y="328"/>
                    </a:cubicBezTo>
                    <a:cubicBezTo>
                      <a:pt x="192" y="329"/>
                      <a:pt x="194" y="329"/>
                      <a:pt x="195" y="328"/>
                    </a:cubicBezTo>
                    <a:cubicBezTo>
                      <a:pt x="196" y="328"/>
                      <a:pt x="198" y="326"/>
                      <a:pt x="199" y="324"/>
                    </a:cubicBezTo>
                    <a:cubicBezTo>
                      <a:pt x="213" y="294"/>
                      <a:pt x="213" y="294"/>
                      <a:pt x="213" y="294"/>
                    </a:cubicBezTo>
                    <a:close/>
                    <a:moveTo>
                      <a:pt x="340" y="352"/>
                    </a:moveTo>
                    <a:cubicBezTo>
                      <a:pt x="342" y="329"/>
                      <a:pt x="342" y="329"/>
                      <a:pt x="342" y="329"/>
                    </a:cubicBezTo>
                    <a:cubicBezTo>
                      <a:pt x="342" y="326"/>
                      <a:pt x="342" y="324"/>
                      <a:pt x="341" y="323"/>
                    </a:cubicBezTo>
                    <a:cubicBezTo>
                      <a:pt x="340" y="322"/>
                      <a:pt x="339" y="321"/>
                      <a:pt x="336" y="321"/>
                    </a:cubicBezTo>
                    <a:cubicBezTo>
                      <a:pt x="337" y="319"/>
                      <a:pt x="337" y="319"/>
                      <a:pt x="337" y="319"/>
                    </a:cubicBezTo>
                    <a:cubicBezTo>
                      <a:pt x="353" y="320"/>
                      <a:pt x="353" y="320"/>
                      <a:pt x="353" y="320"/>
                    </a:cubicBezTo>
                    <a:cubicBezTo>
                      <a:pt x="353" y="322"/>
                      <a:pt x="353" y="322"/>
                      <a:pt x="353" y="322"/>
                    </a:cubicBezTo>
                    <a:cubicBezTo>
                      <a:pt x="351" y="322"/>
                      <a:pt x="349" y="323"/>
                      <a:pt x="348" y="324"/>
                    </a:cubicBezTo>
                    <a:cubicBezTo>
                      <a:pt x="347" y="325"/>
                      <a:pt x="346" y="327"/>
                      <a:pt x="346" y="329"/>
                    </a:cubicBezTo>
                    <a:cubicBezTo>
                      <a:pt x="344" y="352"/>
                      <a:pt x="344" y="352"/>
                      <a:pt x="344" y="352"/>
                    </a:cubicBezTo>
                    <a:cubicBezTo>
                      <a:pt x="343" y="356"/>
                      <a:pt x="343" y="359"/>
                      <a:pt x="342" y="361"/>
                    </a:cubicBezTo>
                    <a:cubicBezTo>
                      <a:pt x="341" y="363"/>
                      <a:pt x="340" y="364"/>
                      <a:pt x="339" y="366"/>
                    </a:cubicBezTo>
                    <a:cubicBezTo>
                      <a:pt x="337" y="368"/>
                      <a:pt x="334" y="369"/>
                      <a:pt x="331" y="370"/>
                    </a:cubicBezTo>
                    <a:cubicBezTo>
                      <a:pt x="328" y="371"/>
                      <a:pt x="325" y="371"/>
                      <a:pt x="321" y="371"/>
                    </a:cubicBezTo>
                    <a:cubicBezTo>
                      <a:pt x="314" y="370"/>
                      <a:pt x="309" y="368"/>
                      <a:pt x="306" y="365"/>
                    </a:cubicBezTo>
                    <a:cubicBezTo>
                      <a:pt x="303" y="361"/>
                      <a:pt x="302" y="356"/>
                      <a:pt x="302" y="350"/>
                    </a:cubicBezTo>
                    <a:cubicBezTo>
                      <a:pt x="304" y="326"/>
                      <a:pt x="304" y="326"/>
                      <a:pt x="304" y="326"/>
                    </a:cubicBezTo>
                    <a:cubicBezTo>
                      <a:pt x="305" y="323"/>
                      <a:pt x="304" y="321"/>
                      <a:pt x="303" y="320"/>
                    </a:cubicBezTo>
                    <a:cubicBezTo>
                      <a:pt x="303" y="319"/>
                      <a:pt x="301" y="318"/>
                      <a:pt x="299" y="318"/>
                    </a:cubicBezTo>
                    <a:cubicBezTo>
                      <a:pt x="299" y="316"/>
                      <a:pt x="299" y="316"/>
                      <a:pt x="299" y="316"/>
                    </a:cubicBezTo>
                    <a:cubicBezTo>
                      <a:pt x="328" y="318"/>
                      <a:pt x="328" y="318"/>
                      <a:pt x="328" y="318"/>
                    </a:cubicBezTo>
                    <a:cubicBezTo>
                      <a:pt x="328" y="320"/>
                      <a:pt x="328" y="320"/>
                      <a:pt x="328" y="320"/>
                    </a:cubicBezTo>
                    <a:cubicBezTo>
                      <a:pt x="325" y="320"/>
                      <a:pt x="323" y="321"/>
                      <a:pt x="322" y="322"/>
                    </a:cubicBezTo>
                    <a:cubicBezTo>
                      <a:pt x="321" y="323"/>
                      <a:pt x="321" y="324"/>
                      <a:pt x="320" y="327"/>
                    </a:cubicBezTo>
                    <a:cubicBezTo>
                      <a:pt x="318" y="355"/>
                      <a:pt x="318" y="355"/>
                      <a:pt x="318" y="355"/>
                    </a:cubicBezTo>
                    <a:cubicBezTo>
                      <a:pt x="318" y="359"/>
                      <a:pt x="318" y="362"/>
                      <a:pt x="320" y="364"/>
                    </a:cubicBezTo>
                    <a:cubicBezTo>
                      <a:pt x="321" y="366"/>
                      <a:pt x="323" y="367"/>
                      <a:pt x="327" y="367"/>
                    </a:cubicBezTo>
                    <a:cubicBezTo>
                      <a:pt x="331" y="367"/>
                      <a:pt x="334" y="366"/>
                      <a:pt x="336" y="364"/>
                    </a:cubicBezTo>
                    <a:cubicBezTo>
                      <a:pt x="338" y="361"/>
                      <a:pt x="340" y="358"/>
                      <a:pt x="340" y="352"/>
                    </a:cubicBezTo>
                    <a:cubicBezTo>
                      <a:pt x="340" y="352"/>
                      <a:pt x="340" y="352"/>
                      <a:pt x="340" y="352"/>
                    </a:cubicBezTo>
                    <a:close/>
                    <a:moveTo>
                      <a:pt x="368" y="329"/>
                    </a:moveTo>
                    <a:cubicBezTo>
                      <a:pt x="368" y="327"/>
                      <a:pt x="367" y="325"/>
                      <a:pt x="366" y="324"/>
                    </a:cubicBezTo>
                    <a:cubicBezTo>
                      <a:pt x="365" y="323"/>
                      <a:pt x="363" y="323"/>
                      <a:pt x="361" y="323"/>
                    </a:cubicBezTo>
                    <a:cubicBezTo>
                      <a:pt x="360" y="321"/>
                      <a:pt x="360" y="321"/>
                      <a:pt x="360" y="321"/>
                    </a:cubicBezTo>
                    <a:cubicBezTo>
                      <a:pt x="382" y="318"/>
                      <a:pt x="382" y="318"/>
                      <a:pt x="382" y="318"/>
                    </a:cubicBezTo>
                    <a:cubicBezTo>
                      <a:pt x="410" y="344"/>
                      <a:pt x="410" y="344"/>
                      <a:pt x="410" y="344"/>
                    </a:cubicBezTo>
                    <a:cubicBezTo>
                      <a:pt x="407" y="324"/>
                      <a:pt x="407" y="324"/>
                      <a:pt x="407" y="324"/>
                    </a:cubicBezTo>
                    <a:cubicBezTo>
                      <a:pt x="407" y="321"/>
                      <a:pt x="406" y="320"/>
                      <a:pt x="405" y="319"/>
                    </a:cubicBezTo>
                    <a:cubicBezTo>
                      <a:pt x="404" y="318"/>
                      <a:pt x="402" y="317"/>
                      <a:pt x="400" y="317"/>
                    </a:cubicBezTo>
                    <a:cubicBezTo>
                      <a:pt x="399" y="316"/>
                      <a:pt x="399" y="316"/>
                      <a:pt x="399" y="316"/>
                    </a:cubicBezTo>
                    <a:cubicBezTo>
                      <a:pt x="416" y="313"/>
                      <a:pt x="416" y="313"/>
                      <a:pt x="416" y="313"/>
                    </a:cubicBezTo>
                    <a:cubicBezTo>
                      <a:pt x="416" y="315"/>
                      <a:pt x="416" y="315"/>
                      <a:pt x="416" y="315"/>
                    </a:cubicBezTo>
                    <a:cubicBezTo>
                      <a:pt x="414" y="316"/>
                      <a:pt x="412" y="316"/>
                      <a:pt x="411" y="318"/>
                    </a:cubicBezTo>
                    <a:cubicBezTo>
                      <a:pt x="410" y="319"/>
                      <a:pt x="410" y="321"/>
                      <a:pt x="411" y="323"/>
                    </a:cubicBezTo>
                    <a:cubicBezTo>
                      <a:pt x="416" y="365"/>
                      <a:pt x="416" y="365"/>
                      <a:pt x="416" y="365"/>
                    </a:cubicBezTo>
                    <a:cubicBezTo>
                      <a:pt x="411" y="366"/>
                      <a:pt x="411" y="366"/>
                      <a:pt x="411" y="366"/>
                    </a:cubicBezTo>
                    <a:cubicBezTo>
                      <a:pt x="372" y="330"/>
                      <a:pt x="372" y="330"/>
                      <a:pt x="372" y="330"/>
                    </a:cubicBezTo>
                    <a:cubicBezTo>
                      <a:pt x="376" y="361"/>
                      <a:pt x="376" y="361"/>
                      <a:pt x="376" y="361"/>
                    </a:cubicBezTo>
                    <a:cubicBezTo>
                      <a:pt x="377" y="364"/>
                      <a:pt x="377" y="366"/>
                      <a:pt x="379" y="367"/>
                    </a:cubicBezTo>
                    <a:cubicBezTo>
                      <a:pt x="380" y="368"/>
                      <a:pt x="381" y="368"/>
                      <a:pt x="384" y="368"/>
                    </a:cubicBezTo>
                    <a:cubicBezTo>
                      <a:pt x="384" y="370"/>
                      <a:pt x="384" y="370"/>
                      <a:pt x="384" y="370"/>
                    </a:cubicBezTo>
                    <a:cubicBezTo>
                      <a:pt x="368" y="372"/>
                      <a:pt x="368" y="372"/>
                      <a:pt x="368" y="372"/>
                    </a:cubicBezTo>
                    <a:cubicBezTo>
                      <a:pt x="367" y="370"/>
                      <a:pt x="367" y="370"/>
                      <a:pt x="367" y="370"/>
                    </a:cubicBezTo>
                    <a:cubicBezTo>
                      <a:pt x="370" y="370"/>
                      <a:pt x="371" y="369"/>
                      <a:pt x="372" y="368"/>
                    </a:cubicBezTo>
                    <a:cubicBezTo>
                      <a:pt x="373" y="366"/>
                      <a:pt x="373" y="364"/>
                      <a:pt x="373" y="362"/>
                    </a:cubicBezTo>
                    <a:cubicBezTo>
                      <a:pt x="368" y="329"/>
                      <a:pt x="368" y="329"/>
                      <a:pt x="368" y="329"/>
                    </a:cubicBezTo>
                    <a:close/>
                    <a:moveTo>
                      <a:pt x="461" y="345"/>
                    </a:moveTo>
                    <a:cubicBezTo>
                      <a:pt x="462" y="348"/>
                      <a:pt x="463" y="349"/>
                      <a:pt x="464" y="350"/>
                    </a:cubicBezTo>
                    <a:cubicBezTo>
                      <a:pt x="465" y="351"/>
                      <a:pt x="467" y="351"/>
                      <a:pt x="469" y="351"/>
                    </a:cubicBezTo>
                    <a:cubicBezTo>
                      <a:pt x="470" y="352"/>
                      <a:pt x="470" y="352"/>
                      <a:pt x="470" y="352"/>
                    </a:cubicBezTo>
                    <a:cubicBezTo>
                      <a:pt x="442" y="360"/>
                      <a:pt x="442" y="360"/>
                      <a:pt x="442" y="360"/>
                    </a:cubicBezTo>
                    <a:cubicBezTo>
                      <a:pt x="441" y="359"/>
                      <a:pt x="441" y="359"/>
                      <a:pt x="441" y="359"/>
                    </a:cubicBezTo>
                    <a:cubicBezTo>
                      <a:pt x="444" y="358"/>
                      <a:pt x="445" y="357"/>
                      <a:pt x="446" y="355"/>
                    </a:cubicBezTo>
                    <a:cubicBezTo>
                      <a:pt x="446" y="354"/>
                      <a:pt x="446" y="352"/>
                      <a:pt x="446" y="350"/>
                    </a:cubicBezTo>
                    <a:cubicBezTo>
                      <a:pt x="436" y="318"/>
                      <a:pt x="436" y="318"/>
                      <a:pt x="436" y="318"/>
                    </a:cubicBezTo>
                    <a:cubicBezTo>
                      <a:pt x="436" y="316"/>
                      <a:pt x="435" y="314"/>
                      <a:pt x="433" y="313"/>
                    </a:cubicBezTo>
                    <a:cubicBezTo>
                      <a:pt x="432" y="312"/>
                      <a:pt x="430" y="312"/>
                      <a:pt x="428" y="313"/>
                    </a:cubicBezTo>
                    <a:cubicBezTo>
                      <a:pt x="428" y="311"/>
                      <a:pt x="428" y="311"/>
                      <a:pt x="428" y="311"/>
                    </a:cubicBezTo>
                    <a:cubicBezTo>
                      <a:pt x="456" y="303"/>
                      <a:pt x="456" y="303"/>
                      <a:pt x="456" y="303"/>
                    </a:cubicBezTo>
                    <a:cubicBezTo>
                      <a:pt x="456" y="305"/>
                      <a:pt x="456" y="305"/>
                      <a:pt x="456" y="305"/>
                    </a:cubicBezTo>
                    <a:cubicBezTo>
                      <a:pt x="454" y="306"/>
                      <a:pt x="452" y="307"/>
                      <a:pt x="452" y="308"/>
                    </a:cubicBezTo>
                    <a:cubicBezTo>
                      <a:pt x="451" y="309"/>
                      <a:pt x="451" y="311"/>
                      <a:pt x="452" y="314"/>
                    </a:cubicBezTo>
                    <a:cubicBezTo>
                      <a:pt x="461" y="345"/>
                      <a:pt x="461" y="345"/>
                      <a:pt x="461" y="345"/>
                    </a:cubicBezTo>
                    <a:close/>
                    <a:moveTo>
                      <a:pt x="508" y="337"/>
                    </a:moveTo>
                    <a:cubicBezTo>
                      <a:pt x="511" y="336"/>
                      <a:pt x="511" y="336"/>
                      <a:pt x="511" y="336"/>
                    </a:cubicBezTo>
                    <a:cubicBezTo>
                      <a:pt x="507" y="287"/>
                      <a:pt x="507" y="287"/>
                      <a:pt x="507" y="287"/>
                    </a:cubicBezTo>
                    <a:cubicBezTo>
                      <a:pt x="507" y="285"/>
                      <a:pt x="507" y="284"/>
                      <a:pt x="507" y="282"/>
                    </a:cubicBezTo>
                    <a:cubicBezTo>
                      <a:pt x="508" y="281"/>
                      <a:pt x="509" y="280"/>
                      <a:pt x="510" y="279"/>
                    </a:cubicBezTo>
                    <a:cubicBezTo>
                      <a:pt x="509" y="277"/>
                      <a:pt x="509" y="277"/>
                      <a:pt x="509" y="277"/>
                    </a:cubicBezTo>
                    <a:cubicBezTo>
                      <a:pt x="495" y="285"/>
                      <a:pt x="495" y="285"/>
                      <a:pt x="495" y="285"/>
                    </a:cubicBezTo>
                    <a:cubicBezTo>
                      <a:pt x="496" y="286"/>
                      <a:pt x="496" y="286"/>
                      <a:pt x="496" y="286"/>
                    </a:cubicBezTo>
                    <a:cubicBezTo>
                      <a:pt x="498" y="286"/>
                      <a:pt x="499" y="285"/>
                      <a:pt x="500" y="285"/>
                    </a:cubicBezTo>
                    <a:cubicBezTo>
                      <a:pt x="501" y="285"/>
                      <a:pt x="502" y="286"/>
                      <a:pt x="503" y="287"/>
                    </a:cubicBezTo>
                    <a:cubicBezTo>
                      <a:pt x="503" y="287"/>
                      <a:pt x="503" y="287"/>
                      <a:pt x="503" y="288"/>
                    </a:cubicBezTo>
                    <a:cubicBezTo>
                      <a:pt x="503" y="288"/>
                      <a:pt x="503" y="289"/>
                      <a:pt x="503" y="290"/>
                    </a:cubicBezTo>
                    <a:cubicBezTo>
                      <a:pt x="506" y="316"/>
                      <a:pt x="506" y="316"/>
                      <a:pt x="506" y="316"/>
                    </a:cubicBezTo>
                    <a:cubicBezTo>
                      <a:pt x="485" y="298"/>
                      <a:pt x="485" y="298"/>
                      <a:pt x="485" y="298"/>
                    </a:cubicBezTo>
                    <a:cubicBezTo>
                      <a:pt x="484" y="297"/>
                      <a:pt x="484" y="297"/>
                      <a:pt x="484" y="297"/>
                    </a:cubicBezTo>
                    <a:cubicBezTo>
                      <a:pt x="484" y="297"/>
                      <a:pt x="484" y="296"/>
                      <a:pt x="483" y="296"/>
                    </a:cubicBezTo>
                    <a:cubicBezTo>
                      <a:pt x="483" y="295"/>
                      <a:pt x="483" y="295"/>
                      <a:pt x="483" y="294"/>
                    </a:cubicBezTo>
                    <a:cubicBezTo>
                      <a:pt x="484" y="293"/>
                      <a:pt x="485" y="292"/>
                      <a:pt x="486" y="292"/>
                    </a:cubicBezTo>
                    <a:cubicBezTo>
                      <a:pt x="486" y="291"/>
                      <a:pt x="486" y="291"/>
                      <a:pt x="486" y="291"/>
                    </a:cubicBezTo>
                    <a:cubicBezTo>
                      <a:pt x="486" y="290"/>
                      <a:pt x="486" y="290"/>
                      <a:pt x="486" y="290"/>
                    </a:cubicBezTo>
                    <a:cubicBezTo>
                      <a:pt x="462" y="302"/>
                      <a:pt x="462" y="302"/>
                      <a:pt x="462" y="302"/>
                    </a:cubicBezTo>
                    <a:cubicBezTo>
                      <a:pt x="463" y="304"/>
                      <a:pt x="463" y="304"/>
                      <a:pt x="463" y="304"/>
                    </a:cubicBezTo>
                    <a:cubicBezTo>
                      <a:pt x="464" y="303"/>
                      <a:pt x="465" y="303"/>
                      <a:pt x="467" y="303"/>
                    </a:cubicBezTo>
                    <a:cubicBezTo>
                      <a:pt x="468" y="304"/>
                      <a:pt x="469" y="305"/>
                      <a:pt x="471" y="306"/>
                    </a:cubicBezTo>
                    <a:cubicBezTo>
                      <a:pt x="508" y="337"/>
                      <a:pt x="508" y="337"/>
                      <a:pt x="508" y="337"/>
                    </a:cubicBezTo>
                    <a:close/>
                    <a:moveTo>
                      <a:pt x="547" y="316"/>
                    </a:moveTo>
                    <a:cubicBezTo>
                      <a:pt x="546" y="315"/>
                      <a:pt x="546" y="315"/>
                      <a:pt x="546" y="315"/>
                    </a:cubicBezTo>
                    <a:cubicBezTo>
                      <a:pt x="548" y="313"/>
                      <a:pt x="549" y="311"/>
                      <a:pt x="549" y="310"/>
                    </a:cubicBezTo>
                    <a:cubicBezTo>
                      <a:pt x="549" y="308"/>
                      <a:pt x="548" y="307"/>
                      <a:pt x="547" y="305"/>
                    </a:cubicBezTo>
                    <a:cubicBezTo>
                      <a:pt x="526" y="279"/>
                      <a:pt x="526" y="279"/>
                      <a:pt x="526" y="279"/>
                    </a:cubicBezTo>
                    <a:cubicBezTo>
                      <a:pt x="524" y="277"/>
                      <a:pt x="523" y="276"/>
                      <a:pt x="521" y="276"/>
                    </a:cubicBezTo>
                    <a:cubicBezTo>
                      <a:pt x="520" y="275"/>
                      <a:pt x="518" y="276"/>
                      <a:pt x="516" y="277"/>
                    </a:cubicBezTo>
                    <a:cubicBezTo>
                      <a:pt x="515" y="276"/>
                      <a:pt x="515" y="276"/>
                      <a:pt x="515" y="276"/>
                    </a:cubicBezTo>
                    <a:cubicBezTo>
                      <a:pt x="550" y="248"/>
                      <a:pt x="550" y="248"/>
                      <a:pt x="550" y="248"/>
                    </a:cubicBezTo>
                    <a:cubicBezTo>
                      <a:pt x="559" y="258"/>
                      <a:pt x="559" y="258"/>
                      <a:pt x="559" y="258"/>
                    </a:cubicBezTo>
                    <a:cubicBezTo>
                      <a:pt x="558" y="260"/>
                      <a:pt x="558" y="260"/>
                      <a:pt x="558" y="260"/>
                    </a:cubicBezTo>
                    <a:cubicBezTo>
                      <a:pt x="555" y="257"/>
                      <a:pt x="552" y="256"/>
                      <a:pt x="549" y="256"/>
                    </a:cubicBezTo>
                    <a:cubicBezTo>
                      <a:pt x="547" y="255"/>
                      <a:pt x="544" y="257"/>
                      <a:pt x="540" y="260"/>
                    </a:cubicBezTo>
                    <a:cubicBezTo>
                      <a:pt x="535" y="264"/>
                      <a:pt x="535" y="264"/>
                      <a:pt x="535" y="264"/>
                    </a:cubicBezTo>
                    <a:cubicBezTo>
                      <a:pt x="547" y="280"/>
                      <a:pt x="547" y="280"/>
                      <a:pt x="547" y="280"/>
                    </a:cubicBezTo>
                    <a:cubicBezTo>
                      <a:pt x="548" y="279"/>
                      <a:pt x="548" y="279"/>
                      <a:pt x="548" y="279"/>
                    </a:cubicBezTo>
                    <a:cubicBezTo>
                      <a:pt x="550" y="278"/>
                      <a:pt x="551" y="276"/>
                      <a:pt x="551" y="274"/>
                    </a:cubicBezTo>
                    <a:cubicBezTo>
                      <a:pt x="551" y="271"/>
                      <a:pt x="550" y="269"/>
                      <a:pt x="548" y="266"/>
                    </a:cubicBezTo>
                    <a:cubicBezTo>
                      <a:pt x="550" y="264"/>
                      <a:pt x="550" y="264"/>
                      <a:pt x="550" y="264"/>
                    </a:cubicBezTo>
                    <a:cubicBezTo>
                      <a:pt x="565" y="284"/>
                      <a:pt x="565" y="284"/>
                      <a:pt x="565" y="284"/>
                    </a:cubicBezTo>
                    <a:cubicBezTo>
                      <a:pt x="564" y="285"/>
                      <a:pt x="564" y="285"/>
                      <a:pt x="564" y="285"/>
                    </a:cubicBezTo>
                    <a:cubicBezTo>
                      <a:pt x="561" y="282"/>
                      <a:pt x="559" y="280"/>
                      <a:pt x="557" y="280"/>
                    </a:cubicBezTo>
                    <a:cubicBezTo>
                      <a:pt x="554" y="280"/>
                      <a:pt x="552" y="280"/>
                      <a:pt x="550" y="282"/>
                    </a:cubicBezTo>
                    <a:cubicBezTo>
                      <a:pt x="550" y="283"/>
                      <a:pt x="550" y="283"/>
                      <a:pt x="550" y="283"/>
                    </a:cubicBezTo>
                    <a:cubicBezTo>
                      <a:pt x="560" y="295"/>
                      <a:pt x="560" y="295"/>
                      <a:pt x="560" y="295"/>
                    </a:cubicBezTo>
                    <a:cubicBezTo>
                      <a:pt x="561" y="297"/>
                      <a:pt x="562" y="298"/>
                      <a:pt x="563" y="298"/>
                    </a:cubicBezTo>
                    <a:cubicBezTo>
                      <a:pt x="564" y="298"/>
                      <a:pt x="566" y="297"/>
                      <a:pt x="568" y="295"/>
                    </a:cubicBezTo>
                    <a:cubicBezTo>
                      <a:pt x="572" y="292"/>
                      <a:pt x="574" y="289"/>
                      <a:pt x="575" y="286"/>
                    </a:cubicBezTo>
                    <a:cubicBezTo>
                      <a:pt x="576" y="282"/>
                      <a:pt x="575" y="279"/>
                      <a:pt x="573" y="274"/>
                    </a:cubicBezTo>
                    <a:cubicBezTo>
                      <a:pt x="575" y="273"/>
                      <a:pt x="575" y="273"/>
                      <a:pt x="575" y="273"/>
                    </a:cubicBezTo>
                    <a:cubicBezTo>
                      <a:pt x="583" y="287"/>
                      <a:pt x="583" y="287"/>
                      <a:pt x="583" y="287"/>
                    </a:cubicBezTo>
                    <a:cubicBezTo>
                      <a:pt x="547" y="316"/>
                      <a:pt x="547" y="316"/>
                      <a:pt x="547" y="316"/>
                    </a:cubicBezTo>
                    <a:close/>
                    <a:moveTo>
                      <a:pt x="595" y="239"/>
                    </a:moveTo>
                    <a:cubicBezTo>
                      <a:pt x="596" y="238"/>
                      <a:pt x="596" y="238"/>
                      <a:pt x="596" y="238"/>
                    </a:cubicBezTo>
                    <a:cubicBezTo>
                      <a:pt x="598" y="236"/>
                      <a:pt x="599" y="233"/>
                      <a:pt x="599" y="231"/>
                    </a:cubicBezTo>
                    <a:cubicBezTo>
                      <a:pt x="598" y="229"/>
                      <a:pt x="597" y="226"/>
                      <a:pt x="594" y="224"/>
                    </a:cubicBezTo>
                    <a:cubicBezTo>
                      <a:pt x="591" y="221"/>
                      <a:pt x="588" y="220"/>
                      <a:pt x="586" y="220"/>
                    </a:cubicBezTo>
                    <a:cubicBezTo>
                      <a:pt x="583" y="220"/>
                      <a:pt x="581" y="222"/>
                      <a:pt x="579" y="225"/>
                    </a:cubicBezTo>
                    <a:cubicBezTo>
                      <a:pt x="595" y="239"/>
                      <a:pt x="595" y="239"/>
                      <a:pt x="595" y="239"/>
                    </a:cubicBezTo>
                    <a:close/>
                    <a:moveTo>
                      <a:pt x="609" y="250"/>
                    </a:moveTo>
                    <a:cubicBezTo>
                      <a:pt x="598" y="241"/>
                      <a:pt x="598" y="241"/>
                      <a:pt x="598" y="241"/>
                    </a:cubicBezTo>
                    <a:cubicBezTo>
                      <a:pt x="599" y="240"/>
                      <a:pt x="599" y="240"/>
                      <a:pt x="599" y="240"/>
                    </a:cubicBezTo>
                    <a:cubicBezTo>
                      <a:pt x="625" y="245"/>
                      <a:pt x="625" y="245"/>
                      <a:pt x="625" y="245"/>
                    </a:cubicBezTo>
                    <a:cubicBezTo>
                      <a:pt x="637" y="230"/>
                      <a:pt x="637" y="230"/>
                      <a:pt x="637" y="230"/>
                    </a:cubicBezTo>
                    <a:cubicBezTo>
                      <a:pt x="636" y="229"/>
                      <a:pt x="636" y="229"/>
                      <a:pt x="636" y="229"/>
                    </a:cubicBezTo>
                    <a:cubicBezTo>
                      <a:pt x="635" y="230"/>
                      <a:pt x="634" y="231"/>
                      <a:pt x="633" y="231"/>
                    </a:cubicBezTo>
                    <a:cubicBezTo>
                      <a:pt x="632" y="231"/>
                      <a:pt x="630" y="231"/>
                      <a:pt x="628" y="231"/>
                    </a:cubicBezTo>
                    <a:cubicBezTo>
                      <a:pt x="608" y="227"/>
                      <a:pt x="608" y="227"/>
                      <a:pt x="608" y="227"/>
                    </a:cubicBezTo>
                    <a:cubicBezTo>
                      <a:pt x="609" y="224"/>
                      <a:pt x="609" y="221"/>
                      <a:pt x="609" y="218"/>
                    </a:cubicBezTo>
                    <a:cubicBezTo>
                      <a:pt x="608" y="215"/>
                      <a:pt x="607" y="213"/>
                      <a:pt x="604" y="211"/>
                    </a:cubicBezTo>
                    <a:cubicBezTo>
                      <a:pt x="601" y="208"/>
                      <a:pt x="597" y="207"/>
                      <a:pt x="593" y="209"/>
                    </a:cubicBezTo>
                    <a:cubicBezTo>
                      <a:pt x="589" y="210"/>
                      <a:pt x="585" y="213"/>
                      <a:pt x="580" y="218"/>
                    </a:cubicBezTo>
                    <a:cubicBezTo>
                      <a:pt x="562" y="240"/>
                      <a:pt x="562" y="240"/>
                      <a:pt x="562" y="240"/>
                    </a:cubicBezTo>
                    <a:cubicBezTo>
                      <a:pt x="563" y="241"/>
                      <a:pt x="563" y="241"/>
                      <a:pt x="563" y="241"/>
                    </a:cubicBezTo>
                    <a:cubicBezTo>
                      <a:pt x="565" y="240"/>
                      <a:pt x="567" y="239"/>
                      <a:pt x="568" y="239"/>
                    </a:cubicBezTo>
                    <a:cubicBezTo>
                      <a:pt x="569" y="239"/>
                      <a:pt x="571" y="239"/>
                      <a:pt x="573" y="241"/>
                    </a:cubicBezTo>
                    <a:cubicBezTo>
                      <a:pt x="598" y="262"/>
                      <a:pt x="598" y="262"/>
                      <a:pt x="598" y="262"/>
                    </a:cubicBezTo>
                    <a:cubicBezTo>
                      <a:pt x="600" y="264"/>
                      <a:pt x="602" y="266"/>
                      <a:pt x="602" y="267"/>
                    </a:cubicBezTo>
                    <a:cubicBezTo>
                      <a:pt x="602" y="269"/>
                      <a:pt x="601" y="270"/>
                      <a:pt x="600" y="272"/>
                    </a:cubicBezTo>
                    <a:cubicBezTo>
                      <a:pt x="601" y="273"/>
                      <a:pt x="601" y="273"/>
                      <a:pt x="601" y="273"/>
                    </a:cubicBezTo>
                    <a:cubicBezTo>
                      <a:pt x="620" y="251"/>
                      <a:pt x="620" y="251"/>
                      <a:pt x="620" y="251"/>
                    </a:cubicBezTo>
                    <a:cubicBezTo>
                      <a:pt x="619" y="249"/>
                      <a:pt x="619" y="249"/>
                      <a:pt x="619" y="249"/>
                    </a:cubicBezTo>
                    <a:cubicBezTo>
                      <a:pt x="617" y="251"/>
                      <a:pt x="616" y="252"/>
                      <a:pt x="614" y="252"/>
                    </a:cubicBezTo>
                    <a:cubicBezTo>
                      <a:pt x="613" y="253"/>
                      <a:pt x="611" y="252"/>
                      <a:pt x="609" y="250"/>
                    </a:cubicBezTo>
                    <a:cubicBezTo>
                      <a:pt x="609" y="250"/>
                      <a:pt x="609" y="250"/>
                      <a:pt x="609" y="250"/>
                    </a:cubicBezTo>
                    <a:close/>
                    <a:moveTo>
                      <a:pt x="651" y="215"/>
                    </a:moveTo>
                    <a:cubicBezTo>
                      <a:pt x="634" y="206"/>
                      <a:pt x="634" y="206"/>
                      <a:pt x="634" y="206"/>
                    </a:cubicBezTo>
                    <a:cubicBezTo>
                      <a:pt x="635" y="204"/>
                      <a:pt x="635" y="204"/>
                      <a:pt x="635" y="204"/>
                    </a:cubicBezTo>
                    <a:cubicBezTo>
                      <a:pt x="639" y="206"/>
                      <a:pt x="643" y="206"/>
                      <a:pt x="648" y="205"/>
                    </a:cubicBezTo>
                    <a:cubicBezTo>
                      <a:pt x="652" y="203"/>
                      <a:pt x="655" y="200"/>
                      <a:pt x="657" y="196"/>
                    </a:cubicBezTo>
                    <a:cubicBezTo>
                      <a:pt x="659" y="194"/>
                      <a:pt x="659" y="191"/>
                      <a:pt x="659" y="189"/>
                    </a:cubicBezTo>
                    <a:cubicBezTo>
                      <a:pt x="659" y="187"/>
                      <a:pt x="658" y="185"/>
                      <a:pt x="656" y="184"/>
                    </a:cubicBezTo>
                    <a:cubicBezTo>
                      <a:pt x="653" y="183"/>
                      <a:pt x="648" y="185"/>
                      <a:pt x="641" y="190"/>
                    </a:cubicBezTo>
                    <a:cubicBezTo>
                      <a:pt x="640" y="190"/>
                      <a:pt x="640" y="190"/>
                      <a:pt x="640" y="190"/>
                    </a:cubicBezTo>
                    <a:cubicBezTo>
                      <a:pt x="640" y="191"/>
                      <a:pt x="639" y="191"/>
                      <a:pt x="638" y="192"/>
                    </a:cubicBezTo>
                    <a:cubicBezTo>
                      <a:pt x="633" y="196"/>
                      <a:pt x="629" y="198"/>
                      <a:pt x="626" y="198"/>
                    </a:cubicBezTo>
                    <a:cubicBezTo>
                      <a:pt x="625" y="199"/>
                      <a:pt x="623" y="199"/>
                      <a:pt x="622" y="198"/>
                    </a:cubicBezTo>
                    <a:cubicBezTo>
                      <a:pt x="620" y="198"/>
                      <a:pt x="619" y="198"/>
                      <a:pt x="618" y="197"/>
                    </a:cubicBezTo>
                    <a:cubicBezTo>
                      <a:pt x="614" y="195"/>
                      <a:pt x="611" y="191"/>
                      <a:pt x="610" y="186"/>
                    </a:cubicBezTo>
                    <a:cubicBezTo>
                      <a:pt x="609" y="182"/>
                      <a:pt x="610" y="177"/>
                      <a:pt x="613" y="172"/>
                    </a:cubicBezTo>
                    <a:cubicBezTo>
                      <a:pt x="614" y="169"/>
                      <a:pt x="616" y="167"/>
                      <a:pt x="619" y="165"/>
                    </a:cubicBezTo>
                    <a:cubicBezTo>
                      <a:pt x="622" y="162"/>
                      <a:pt x="623" y="161"/>
                      <a:pt x="623" y="161"/>
                    </a:cubicBezTo>
                    <a:cubicBezTo>
                      <a:pt x="624" y="160"/>
                      <a:pt x="624" y="159"/>
                      <a:pt x="623" y="159"/>
                    </a:cubicBezTo>
                    <a:cubicBezTo>
                      <a:pt x="623" y="158"/>
                      <a:pt x="622" y="158"/>
                      <a:pt x="621" y="157"/>
                    </a:cubicBezTo>
                    <a:cubicBezTo>
                      <a:pt x="622" y="155"/>
                      <a:pt x="622" y="155"/>
                      <a:pt x="622" y="155"/>
                    </a:cubicBezTo>
                    <a:cubicBezTo>
                      <a:pt x="637" y="163"/>
                      <a:pt x="637" y="163"/>
                      <a:pt x="637" y="163"/>
                    </a:cubicBezTo>
                    <a:cubicBezTo>
                      <a:pt x="636" y="165"/>
                      <a:pt x="636" y="165"/>
                      <a:pt x="636" y="165"/>
                    </a:cubicBezTo>
                    <a:cubicBezTo>
                      <a:pt x="632" y="163"/>
                      <a:pt x="628" y="163"/>
                      <a:pt x="625" y="165"/>
                    </a:cubicBezTo>
                    <a:cubicBezTo>
                      <a:pt x="621" y="166"/>
                      <a:pt x="618" y="169"/>
                      <a:pt x="616" y="173"/>
                    </a:cubicBezTo>
                    <a:cubicBezTo>
                      <a:pt x="615" y="175"/>
                      <a:pt x="615" y="177"/>
                      <a:pt x="615" y="179"/>
                    </a:cubicBezTo>
                    <a:cubicBezTo>
                      <a:pt x="615" y="181"/>
                      <a:pt x="616" y="182"/>
                      <a:pt x="618" y="183"/>
                    </a:cubicBezTo>
                    <a:cubicBezTo>
                      <a:pt x="620" y="184"/>
                      <a:pt x="624" y="183"/>
                      <a:pt x="630" y="179"/>
                    </a:cubicBezTo>
                    <a:cubicBezTo>
                      <a:pt x="630" y="178"/>
                      <a:pt x="630" y="178"/>
                      <a:pt x="630" y="178"/>
                    </a:cubicBezTo>
                    <a:cubicBezTo>
                      <a:pt x="634" y="175"/>
                      <a:pt x="637" y="173"/>
                      <a:pt x="639" y="172"/>
                    </a:cubicBezTo>
                    <a:cubicBezTo>
                      <a:pt x="641" y="170"/>
                      <a:pt x="643" y="170"/>
                      <a:pt x="644" y="169"/>
                    </a:cubicBezTo>
                    <a:cubicBezTo>
                      <a:pt x="646" y="169"/>
                      <a:pt x="648" y="169"/>
                      <a:pt x="650" y="169"/>
                    </a:cubicBezTo>
                    <a:cubicBezTo>
                      <a:pt x="652" y="169"/>
                      <a:pt x="654" y="170"/>
                      <a:pt x="656" y="171"/>
                    </a:cubicBezTo>
                    <a:cubicBezTo>
                      <a:pt x="660" y="173"/>
                      <a:pt x="663" y="177"/>
                      <a:pt x="664" y="182"/>
                    </a:cubicBezTo>
                    <a:cubicBezTo>
                      <a:pt x="665" y="186"/>
                      <a:pt x="664" y="191"/>
                      <a:pt x="661" y="197"/>
                    </a:cubicBezTo>
                    <a:cubicBezTo>
                      <a:pt x="659" y="199"/>
                      <a:pt x="657" y="202"/>
                      <a:pt x="654" y="205"/>
                    </a:cubicBezTo>
                    <a:cubicBezTo>
                      <a:pt x="652" y="207"/>
                      <a:pt x="650" y="209"/>
                      <a:pt x="650" y="209"/>
                    </a:cubicBezTo>
                    <a:cubicBezTo>
                      <a:pt x="650" y="210"/>
                      <a:pt x="650" y="211"/>
                      <a:pt x="650" y="211"/>
                    </a:cubicBezTo>
                    <a:cubicBezTo>
                      <a:pt x="650" y="212"/>
                      <a:pt x="651" y="213"/>
                      <a:pt x="652" y="213"/>
                    </a:cubicBezTo>
                    <a:cubicBezTo>
                      <a:pt x="651" y="215"/>
                      <a:pt x="651" y="215"/>
                      <a:pt x="651" y="215"/>
                    </a:cubicBezTo>
                    <a:close/>
                    <a:moveTo>
                      <a:pt x="678" y="136"/>
                    </a:moveTo>
                    <a:cubicBezTo>
                      <a:pt x="647" y="124"/>
                      <a:pt x="647" y="124"/>
                      <a:pt x="647" y="124"/>
                    </a:cubicBezTo>
                    <a:cubicBezTo>
                      <a:pt x="644" y="123"/>
                      <a:pt x="643" y="122"/>
                      <a:pt x="642" y="121"/>
                    </a:cubicBezTo>
                    <a:cubicBezTo>
                      <a:pt x="642" y="120"/>
                      <a:pt x="642" y="118"/>
                      <a:pt x="642" y="116"/>
                    </a:cubicBezTo>
                    <a:cubicBezTo>
                      <a:pt x="641" y="115"/>
                      <a:pt x="641" y="115"/>
                      <a:pt x="641" y="115"/>
                    </a:cubicBezTo>
                    <a:cubicBezTo>
                      <a:pt x="630" y="142"/>
                      <a:pt x="630" y="142"/>
                      <a:pt x="630" y="142"/>
                    </a:cubicBezTo>
                    <a:cubicBezTo>
                      <a:pt x="632" y="143"/>
                      <a:pt x="632" y="143"/>
                      <a:pt x="632" y="143"/>
                    </a:cubicBezTo>
                    <a:cubicBezTo>
                      <a:pt x="633" y="141"/>
                      <a:pt x="634" y="139"/>
                      <a:pt x="635" y="139"/>
                    </a:cubicBezTo>
                    <a:cubicBezTo>
                      <a:pt x="637" y="138"/>
                      <a:pt x="639" y="138"/>
                      <a:pt x="641" y="139"/>
                    </a:cubicBezTo>
                    <a:cubicBezTo>
                      <a:pt x="672" y="151"/>
                      <a:pt x="672" y="151"/>
                      <a:pt x="672" y="151"/>
                    </a:cubicBezTo>
                    <a:cubicBezTo>
                      <a:pt x="674" y="152"/>
                      <a:pt x="676" y="153"/>
                      <a:pt x="677" y="154"/>
                    </a:cubicBezTo>
                    <a:cubicBezTo>
                      <a:pt x="677" y="156"/>
                      <a:pt x="677" y="158"/>
                      <a:pt x="676" y="160"/>
                    </a:cubicBezTo>
                    <a:cubicBezTo>
                      <a:pt x="678" y="161"/>
                      <a:pt x="678" y="161"/>
                      <a:pt x="678" y="161"/>
                    </a:cubicBezTo>
                    <a:cubicBezTo>
                      <a:pt x="689" y="133"/>
                      <a:pt x="689" y="133"/>
                      <a:pt x="689" y="133"/>
                    </a:cubicBezTo>
                    <a:cubicBezTo>
                      <a:pt x="687" y="133"/>
                      <a:pt x="687" y="133"/>
                      <a:pt x="687" y="133"/>
                    </a:cubicBezTo>
                    <a:cubicBezTo>
                      <a:pt x="686" y="135"/>
                      <a:pt x="685" y="136"/>
                      <a:pt x="683" y="137"/>
                    </a:cubicBezTo>
                    <a:cubicBezTo>
                      <a:pt x="682" y="137"/>
                      <a:pt x="680" y="137"/>
                      <a:pt x="678" y="136"/>
                    </a:cubicBezTo>
                    <a:cubicBezTo>
                      <a:pt x="678" y="136"/>
                      <a:pt x="678" y="136"/>
                      <a:pt x="678" y="136"/>
                    </a:cubicBezTo>
                    <a:close/>
                    <a:moveTo>
                      <a:pt x="656" y="57"/>
                    </a:moveTo>
                    <a:cubicBezTo>
                      <a:pt x="669" y="60"/>
                      <a:pt x="669" y="60"/>
                      <a:pt x="669" y="60"/>
                    </a:cubicBezTo>
                    <a:cubicBezTo>
                      <a:pt x="668" y="62"/>
                      <a:pt x="668" y="62"/>
                      <a:pt x="668" y="62"/>
                    </a:cubicBezTo>
                    <a:cubicBezTo>
                      <a:pt x="665" y="62"/>
                      <a:pt x="662" y="62"/>
                      <a:pt x="660" y="63"/>
                    </a:cubicBezTo>
                    <a:cubicBezTo>
                      <a:pt x="658" y="64"/>
                      <a:pt x="657" y="67"/>
                      <a:pt x="656" y="70"/>
                    </a:cubicBezTo>
                    <a:cubicBezTo>
                      <a:pt x="655" y="73"/>
                      <a:pt x="655" y="73"/>
                      <a:pt x="655" y="73"/>
                    </a:cubicBezTo>
                    <a:cubicBezTo>
                      <a:pt x="693" y="82"/>
                      <a:pt x="693" y="82"/>
                      <a:pt x="693" y="82"/>
                    </a:cubicBezTo>
                    <a:cubicBezTo>
                      <a:pt x="696" y="83"/>
                      <a:pt x="698" y="83"/>
                      <a:pt x="699" y="82"/>
                    </a:cubicBezTo>
                    <a:cubicBezTo>
                      <a:pt x="700" y="81"/>
                      <a:pt x="701" y="80"/>
                      <a:pt x="702" y="77"/>
                    </a:cubicBezTo>
                    <a:cubicBezTo>
                      <a:pt x="704" y="78"/>
                      <a:pt x="704" y="78"/>
                      <a:pt x="704" y="78"/>
                    </a:cubicBezTo>
                    <a:cubicBezTo>
                      <a:pt x="697" y="106"/>
                      <a:pt x="697" y="106"/>
                      <a:pt x="697" y="106"/>
                    </a:cubicBezTo>
                    <a:cubicBezTo>
                      <a:pt x="695" y="106"/>
                      <a:pt x="695" y="106"/>
                      <a:pt x="695" y="106"/>
                    </a:cubicBezTo>
                    <a:cubicBezTo>
                      <a:pt x="696" y="103"/>
                      <a:pt x="696" y="102"/>
                      <a:pt x="695" y="100"/>
                    </a:cubicBezTo>
                    <a:cubicBezTo>
                      <a:pt x="694" y="99"/>
                      <a:pt x="692" y="98"/>
                      <a:pt x="690" y="98"/>
                    </a:cubicBezTo>
                    <a:cubicBezTo>
                      <a:pt x="652" y="89"/>
                      <a:pt x="652" y="89"/>
                      <a:pt x="652" y="89"/>
                    </a:cubicBezTo>
                    <a:cubicBezTo>
                      <a:pt x="651" y="92"/>
                      <a:pt x="651" y="92"/>
                      <a:pt x="651" y="92"/>
                    </a:cubicBezTo>
                    <a:cubicBezTo>
                      <a:pt x="650" y="96"/>
                      <a:pt x="651" y="98"/>
                      <a:pt x="652" y="100"/>
                    </a:cubicBezTo>
                    <a:cubicBezTo>
                      <a:pt x="653" y="102"/>
                      <a:pt x="655" y="104"/>
                      <a:pt x="658" y="105"/>
                    </a:cubicBezTo>
                    <a:cubicBezTo>
                      <a:pt x="658" y="107"/>
                      <a:pt x="658" y="107"/>
                      <a:pt x="658" y="107"/>
                    </a:cubicBezTo>
                    <a:cubicBezTo>
                      <a:pt x="645" y="104"/>
                      <a:pt x="645" y="104"/>
                      <a:pt x="645" y="104"/>
                    </a:cubicBezTo>
                    <a:cubicBezTo>
                      <a:pt x="656" y="57"/>
                      <a:pt x="656" y="57"/>
                      <a:pt x="656" y="57"/>
                    </a:cubicBezTo>
                    <a:close/>
                    <a:moveTo>
                      <a:pt x="684" y="17"/>
                    </a:moveTo>
                    <a:cubicBezTo>
                      <a:pt x="699" y="18"/>
                      <a:pt x="699" y="18"/>
                      <a:pt x="699" y="18"/>
                    </a:cubicBezTo>
                    <a:cubicBezTo>
                      <a:pt x="701" y="18"/>
                      <a:pt x="703" y="17"/>
                      <a:pt x="704" y="16"/>
                    </a:cubicBezTo>
                    <a:cubicBezTo>
                      <a:pt x="705" y="15"/>
                      <a:pt x="706" y="13"/>
                      <a:pt x="706" y="11"/>
                    </a:cubicBezTo>
                    <a:cubicBezTo>
                      <a:pt x="708" y="11"/>
                      <a:pt x="708" y="11"/>
                      <a:pt x="708" y="11"/>
                    </a:cubicBezTo>
                    <a:cubicBezTo>
                      <a:pt x="708" y="40"/>
                      <a:pt x="708" y="40"/>
                      <a:pt x="708" y="40"/>
                    </a:cubicBezTo>
                    <a:cubicBezTo>
                      <a:pt x="706" y="40"/>
                      <a:pt x="706" y="40"/>
                      <a:pt x="706" y="40"/>
                    </a:cubicBezTo>
                    <a:cubicBezTo>
                      <a:pt x="706" y="38"/>
                      <a:pt x="705" y="36"/>
                      <a:pt x="704" y="35"/>
                    </a:cubicBezTo>
                    <a:cubicBezTo>
                      <a:pt x="703" y="34"/>
                      <a:pt x="701" y="34"/>
                      <a:pt x="698" y="34"/>
                    </a:cubicBezTo>
                    <a:cubicBezTo>
                      <a:pt x="687" y="33"/>
                      <a:pt x="687" y="33"/>
                      <a:pt x="687" y="33"/>
                    </a:cubicBezTo>
                    <a:cubicBezTo>
                      <a:pt x="663" y="46"/>
                      <a:pt x="663" y="46"/>
                      <a:pt x="663" y="46"/>
                    </a:cubicBezTo>
                    <a:cubicBezTo>
                      <a:pt x="661" y="47"/>
                      <a:pt x="660" y="48"/>
                      <a:pt x="659" y="49"/>
                    </a:cubicBezTo>
                    <a:cubicBezTo>
                      <a:pt x="658" y="50"/>
                      <a:pt x="658" y="51"/>
                      <a:pt x="658" y="53"/>
                    </a:cubicBezTo>
                    <a:cubicBezTo>
                      <a:pt x="656" y="53"/>
                      <a:pt x="656" y="53"/>
                      <a:pt x="656" y="53"/>
                    </a:cubicBezTo>
                    <a:cubicBezTo>
                      <a:pt x="656" y="26"/>
                      <a:pt x="656" y="26"/>
                      <a:pt x="656" y="26"/>
                    </a:cubicBezTo>
                    <a:cubicBezTo>
                      <a:pt x="658" y="26"/>
                      <a:pt x="658" y="26"/>
                      <a:pt x="658" y="26"/>
                    </a:cubicBezTo>
                    <a:cubicBezTo>
                      <a:pt x="658" y="27"/>
                      <a:pt x="658" y="28"/>
                      <a:pt x="659" y="29"/>
                    </a:cubicBezTo>
                    <a:cubicBezTo>
                      <a:pt x="659" y="29"/>
                      <a:pt x="660" y="30"/>
                      <a:pt x="660" y="30"/>
                    </a:cubicBezTo>
                    <a:cubicBezTo>
                      <a:pt x="661" y="30"/>
                      <a:pt x="661" y="30"/>
                      <a:pt x="661" y="30"/>
                    </a:cubicBezTo>
                    <a:cubicBezTo>
                      <a:pt x="662" y="29"/>
                      <a:pt x="662" y="29"/>
                      <a:pt x="662" y="29"/>
                    </a:cubicBezTo>
                    <a:cubicBezTo>
                      <a:pt x="681" y="20"/>
                      <a:pt x="681" y="20"/>
                      <a:pt x="681" y="20"/>
                    </a:cubicBezTo>
                    <a:cubicBezTo>
                      <a:pt x="664" y="10"/>
                      <a:pt x="664" y="10"/>
                      <a:pt x="664" y="10"/>
                    </a:cubicBezTo>
                    <a:cubicBezTo>
                      <a:pt x="663" y="10"/>
                      <a:pt x="663" y="10"/>
                      <a:pt x="663" y="10"/>
                    </a:cubicBezTo>
                    <a:cubicBezTo>
                      <a:pt x="662" y="9"/>
                      <a:pt x="662" y="9"/>
                      <a:pt x="661" y="9"/>
                    </a:cubicBezTo>
                    <a:cubicBezTo>
                      <a:pt x="660" y="9"/>
                      <a:pt x="660" y="10"/>
                      <a:pt x="659" y="11"/>
                    </a:cubicBezTo>
                    <a:cubicBezTo>
                      <a:pt x="659" y="11"/>
                      <a:pt x="659" y="13"/>
                      <a:pt x="659" y="14"/>
                    </a:cubicBezTo>
                    <a:cubicBezTo>
                      <a:pt x="659" y="15"/>
                      <a:pt x="659" y="15"/>
                      <a:pt x="659" y="15"/>
                    </a:cubicBezTo>
                    <a:cubicBezTo>
                      <a:pt x="657" y="15"/>
                      <a:pt x="657" y="15"/>
                      <a:pt x="657" y="15"/>
                    </a:cubicBezTo>
                    <a:cubicBezTo>
                      <a:pt x="657" y="0"/>
                      <a:pt x="657" y="0"/>
                      <a:pt x="657" y="0"/>
                    </a:cubicBezTo>
                    <a:cubicBezTo>
                      <a:pt x="659" y="0"/>
                      <a:pt x="659" y="0"/>
                      <a:pt x="659" y="0"/>
                    </a:cubicBezTo>
                    <a:cubicBezTo>
                      <a:pt x="659" y="1"/>
                      <a:pt x="659" y="1"/>
                      <a:pt x="659" y="1"/>
                    </a:cubicBezTo>
                    <a:cubicBezTo>
                      <a:pt x="659" y="1"/>
                      <a:pt x="659" y="2"/>
                      <a:pt x="660" y="3"/>
                    </a:cubicBezTo>
                    <a:cubicBezTo>
                      <a:pt x="660" y="4"/>
                      <a:pt x="661" y="5"/>
                      <a:pt x="663" y="6"/>
                    </a:cubicBezTo>
                    <a:lnTo>
                      <a:pt x="684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5" name="íṣ1ïďè"/>
              <p:cNvSpPr/>
              <p:nvPr/>
            </p:nvSpPr>
            <p:spPr bwMode="auto">
              <a:xfrm>
                <a:off x="2840038" y="4119563"/>
                <a:ext cx="493713" cy="128588"/>
              </a:xfrm>
              <a:custGeom>
                <a:avLst/>
                <a:gdLst>
                  <a:gd name="T0" fmla="*/ 0 w 150"/>
                  <a:gd name="T1" fmla="*/ 36 h 39"/>
                  <a:gd name="T2" fmla="*/ 9 w 150"/>
                  <a:gd name="T3" fmla="*/ 33 h 39"/>
                  <a:gd name="T4" fmla="*/ 8 w 150"/>
                  <a:gd name="T5" fmla="*/ 7 h 39"/>
                  <a:gd name="T6" fmla="*/ 3 w 150"/>
                  <a:gd name="T7" fmla="*/ 7 h 39"/>
                  <a:gd name="T8" fmla="*/ 1 w 150"/>
                  <a:gd name="T9" fmla="*/ 5 h 39"/>
                  <a:gd name="T10" fmla="*/ 17 w 150"/>
                  <a:gd name="T11" fmla="*/ 0 h 39"/>
                  <a:gd name="T12" fmla="*/ 19 w 150"/>
                  <a:gd name="T13" fmla="*/ 33 h 39"/>
                  <a:gd name="T14" fmla="*/ 28 w 150"/>
                  <a:gd name="T15" fmla="*/ 36 h 39"/>
                  <a:gd name="T16" fmla="*/ 21 w 150"/>
                  <a:gd name="T17" fmla="*/ 38 h 39"/>
                  <a:gd name="T18" fmla="*/ 6 w 150"/>
                  <a:gd name="T19" fmla="*/ 38 h 39"/>
                  <a:gd name="T20" fmla="*/ 0 w 150"/>
                  <a:gd name="T21" fmla="*/ 38 h 39"/>
                  <a:gd name="T22" fmla="*/ 46 w 150"/>
                  <a:gd name="T23" fmla="*/ 24 h 39"/>
                  <a:gd name="T24" fmla="*/ 48 w 150"/>
                  <a:gd name="T25" fmla="*/ 34 h 39"/>
                  <a:gd name="T26" fmla="*/ 61 w 150"/>
                  <a:gd name="T27" fmla="*/ 34 h 39"/>
                  <a:gd name="T28" fmla="*/ 60 w 150"/>
                  <a:gd name="T29" fmla="*/ 25 h 39"/>
                  <a:gd name="T30" fmla="*/ 51 w 150"/>
                  <a:gd name="T31" fmla="*/ 21 h 39"/>
                  <a:gd name="T32" fmla="*/ 60 w 150"/>
                  <a:gd name="T33" fmla="*/ 12 h 39"/>
                  <a:gd name="T34" fmla="*/ 59 w 150"/>
                  <a:gd name="T35" fmla="*/ 4 h 39"/>
                  <a:gd name="T36" fmla="*/ 48 w 150"/>
                  <a:gd name="T37" fmla="*/ 4 h 39"/>
                  <a:gd name="T38" fmla="*/ 49 w 150"/>
                  <a:gd name="T39" fmla="*/ 11 h 39"/>
                  <a:gd name="T40" fmla="*/ 56 w 150"/>
                  <a:gd name="T41" fmla="*/ 15 h 39"/>
                  <a:gd name="T42" fmla="*/ 41 w 150"/>
                  <a:gd name="T43" fmla="*/ 15 h 39"/>
                  <a:gd name="T44" fmla="*/ 43 w 150"/>
                  <a:gd name="T45" fmla="*/ 3 h 39"/>
                  <a:gd name="T46" fmla="*/ 65 w 150"/>
                  <a:gd name="T47" fmla="*/ 3 h 39"/>
                  <a:gd name="T48" fmla="*/ 67 w 150"/>
                  <a:gd name="T49" fmla="*/ 13 h 39"/>
                  <a:gd name="T50" fmla="*/ 68 w 150"/>
                  <a:gd name="T51" fmla="*/ 21 h 39"/>
                  <a:gd name="T52" fmla="*/ 66 w 150"/>
                  <a:gd name="T53" fmla="*/ 36 h 39"/>
                  <a:gd name="T54" fmla="*/ 41 w 150"/>
                  <a:gd name="T55" fmla="*/ 36 h 39"/>
                  <a:gd name="T56" fmla="*/ 39 w 150"/>
                  <a:gd name="T57" fmla="*/ 23 h 39"/>
                  <a:gd name="T58" fmla="*/ 47 w 150"/>
                  <a:gd name="T59" fmla="*/ 19 h 39"/>
                  <a:gd name="T60" fmla="*/ 80 w 150"/>
                  <a:gd name="T61" fmla="*/ 33 h 39"/>
                  <a:gd name="T62" fmla="*/ 87 w 150"/>
                  <a:gd name="T63" fmla="*/ 36 h 39"/>
                  <a:gd name="T64" fmla="*/ 100 w 150"/>
                  <a:gd name="T65" fmla="*/ 20 h 39"/>
                  <a:gd name="T66" fmla="*/ 95 w 150"/>
                  <a:gd name="T67" fmla="*/ 25 h 39"/>
                  <a:gd name="T68" fmla="*/ 79 w 150"/>
                  <a:gd name="T69" fmla="*/ 23 h 39"/>
                  <a:gd name="T70" fmla="*/ 81 w 150"/>
                  <a:gd name="T71" fmla="*/ 4 h 39"/>
                  <a:gd name="T72" fmla="*/ 105 w 150"/>
                  <a:gd name="T73" fmla="*/ 5 h 39"/>
                  <a:gd name="T74" fmla="*/ 108 w 150"/>
                  <a:gd name="T75" fmla="*/ 26 h 39"/>
                  <a:gd name="T76" fmla="*/ 96 w 150"/>
                  <a:gd name="T77" fmla="*/ 38 h 39"/>
                  <a:gd name="T78" fmla="*/ 81 w 150"/>
                  <a:gd name="T79" fmla="*/ 38 h 39"/>
                  <a:gd name="T80" fmla="*/ 77 w 150"/>
                  <a:gd name="T81" fmla="*/ 36 h 39"/>
                  <a:gd name="T82" fmla="*/ 98 w 150"/>
                  <a:gd name="T83" fmla="*/ 19 h 39"/>
                  <a:gd name="T84" fmla="*/ 98 w 150"/>
                  <a:gd name="T85" fmla="*/ 6 h 39"/>
                  <a:gd name="T86" fmla="*/ 87 w 150"/>
                  <a:gd name="T87" fmla="*/ 6 h 39"/>
                  <a:gd name="T88" fmla="*/ 88 w 150"/>
                  <a:gd name="T89" fmla="*/ 19 h 39"/>
                  <a:gd name="T90" fmla="*/ 93 w 150"/>
                  <a:gd name="T91" fmla="*/ 21 h 39"/>
                  <a:gd name="T92" fmla="*/ 128 w 150"/>
                  <a:gd name="T93" fmla="*/ 20 h 39"/>
                  <a:gd name="T94" fmla="*/ 129 w 150"/>
                  <a:gd name="T95" fmla="*/ 33 h 39"/>
                  <a:gd name="T96" fmla="*/ 139 w 150"/>
                  <a:gd name="T97" fmla="*/ 34 h 39"/>
                  <a:gd name="T98" fmla="*/ 139 w 150"/>
                  <a:gd name="T99" fmla="*/ 21 h 39"/>
                  <a:gd name="T100" fmla="*/ 133 w 150"/>
                  <a:gd name="T101" fmla="*/ 18 h 39"/>
                  <a:gd name="T102" fmla="*/ 146 w 150"/>
                  <a:gd name="T103" fmla="*/ 6 h 39"/>
                  <a:gd name="T104" fmla="*/ 139 w 150"/>
                  <a:gd name="T105" fmla="*/ 4 h 39"/>
                  <a:gd name="T106" fmla="*/ 126 w 150"/>
                  <a:gd name="T107" fmla="*/ 19 h 39"/>
                  <a:gd name="T108" fmla="*/ 131 w 150"/>
                  <a:gd name="T109" fmla="*/ 15 h 39"/>
                  <a:gd name="T110" fmla="*/ 147 w 150"/>
                  <a:gd name="T111" fmla="*/ 16 h 39"/>
                  <a:gd name="T112" fmla="*/ 146 w 150"/>
                  <a:gd name="T113" fmla="*/ 35 h 39"/>
                  <a:gd name="T114" fmla="*/ 121 w 150"/>
                  <a:gd name="T115" fmla="*/ 35 h 39"/>
                  <a:gd name="T116" fmla="*/ 118 w 150"/>
                  <a:gd name="T117" fmla="*/ 13 h 39"/>
                  <a:gd name="T118" fmla="*/ 130 w 150"/>
                  <a:gd name="T119" fmla="*/ 2 h 39"/>
                  <a:gd name="T120" fmla="*/ 145 w 150"/>
                  <a:gd name="T121" fmla="*/ 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50" h="39">
                    <a:moveTo>
                      <a:pt x="0" y="38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4" y="36"/>
                      <a:pt x="6" y="36"/>
                      <a:pt x="8" y="35"/>
                    </a:cubicBezTo>
                    <a:cubicBezTo>
                      <a:pt x="9" y="35"/>
                      <a:pt x="9" y="34"/>
                      <a:pt x="9" y="33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9"/>
                      <a:pt x="9" y="8"/>
                      <a:pt x="8" y="7"/>
                    </a:cubicBezTo>
                    <a:cubicBezTo>
                      <a:pt x="8" y="7"/>
                      <a:pt x="7" y="7"/>
                      <a:pt x="5" y="7"/>
                    </a:cubicBezTo>
                    <a:cubicBezTo>
                      <a:pt x="5" y="7"/>
                      <a:pt x="4" y="7"/>
                      <a:pt x="3" y="7"/>
                    </a:cubicBezTo>
                    <a:cubicBezTo>
                      <a:pt x="2" y="7"/>
                      <a:pt x="2" y="7"/>
                      <a:pt x="1" y="7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4" y="4"/>
                      <a:pt x="7" y="4"/>
                      <a:pt x="9" y="3"/>
                    </a:cubicBezTo>
                    <a:cubicBezTo>
                      <a:pt x="12" y="3"/>
                      <a:pt x="14" y="2"/>
                      <a:pt x="17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19" y="34"/>
                      <a:pt x="20" y="35"/>
                      <a:pt x="21" y="35"/>
                    </a:cubicBezTo>
                    <a:cubicBezTo>
                      <a:pt x="22" y="36"/>
                      <a:pt x="24" y="36"/>
                      <a:pt x="28" y="36"/>
                    </a:cubicBezTo>
                    <a:cubicBezTo>
                      <a:pt x="28" y="38"/>
                      <a:pt x="28" y="38"/>
                      <a:pt x="28" y="38"/>
                    </a:cubicBezTo>
                    <a:cubicBezTo>
                      <a:pt x="26" y="38"/>
                      <a:pt x="23" y="38"/>
                      <a:pt x="21" y="38"/>
                    </a:cubicBezTo>
                    <a:cubicBezTo>
                      <a:pt x="19" y="38"/>
                      <a:pt x="16" y="38"/>
                      <a:pt x="14" y="38"/>
                    </a:cubicBezTo>
                    <a:cubicBezTo>
                      <a:pt x="11" y="38"/>
                      <a:pt x="8" y="38"/>
                      <a:pt x="6" y="38"/>
                    </a:cubicBezTo>
                    <a:cubicBezTo>
                      <a:pt x="4" y="38"/>
                      <a:pt x="2" y="38"/>
                      <a:pt x="0" y="38"/>
                    </a:cubicBezTo>
                    <a:cubicBezTo>
                      <a:pt x="0" y="38"/>
                      <a:pt x="0" y="38"/>
                      <a:pt x="0" y="38"/>
                    </a:cubicBezTo>
                    <a:close/>
                    <a:moveTo>
                      <a:pt x="51" y="21"/>
                    </a:moveTo>
                    <a:cubicBezTo>
                      <a:pt x="49" y="22"/>
                      <a:pt x="48" y="23"/>
                      <a:pt x="46" y="24"/>
                    </a:cubicBezTo>
                    <a:cubicBezTo>
                      <a:pt x="45" y="26"/>
                      <a:pt x="45" y="27"/>
                      <a:pt x="45" y="28"/>
                    </a:cubicBezTo>
                    <a:cubicBezTo>
                      <a:pt x="45" y="31"/>
                      <a:pt x="46" y="32"/>
                      <a:pt x="48" y="34"/>
                    </a:cubicBezTo>
                    <a:cubicBezTo>
                      <a:pt x="50" y="35"/>
                      <a:pt x="52" y="36"/>
                      <a:pt x="55" y="36"/>
                    </a:cubicBezTo>
                    <a:cubicBezTo>
                      <a:pt x="57" y="36"/>
                      <a:pt x="59" y="36"/>
                      <a:pt x="61" y="34"/>
                    </a:cubicBezTo>
                    <a:cubicBezTo>
                      <a:pt x="62" y="33"/>
                      <a:pt x="63" y="32"/>
                      <a:pt x="63" y="30"/>
                    </a:cubicBezTo>
                    <a:cubicBezTo>
                      <a:pt x="63" y="28"/>
                      <a:pt x="62" y="27"/>
                      <a:pt x="60" y="25"/>
                    </a:cubicBezTo>
                    <a:cubicBezTo>
                      <a:pt x="58" y="24"/>
                      <a:pt x="55" y="23"/>
                      <a:pt x="51" y="21"/>
                    </a:cubicBezTo>
                    <a:cubicBezTo>
                      <a:pt x="51" y="21"/>
                      <a:pt x="51" y="21"/>
                      <a:pt x="51" y="21"/>
                    </a:cubicBezTo>
                    <a:close/>
                    <a:moveTo>
                      <a:pt x="56" y="15"/>
                    </a:moveTo>
                    <a:cubicBezTo>
                      <a:pt x="58" y="14"/>
                      <a:pt x="59" y="13"/>
                      <a:pt x="60" y="12"/>
                    </a:cubicBezTo>
                    <a:cubicBezTo>
                      <a:pt x="61" y="11"/>
                      <a:pt x="61" y="10"/>
                      <a:pt x="61" y="8"/>
                    </a:cubicBezTo>
                    <a:cubicBezTo>
                      <a:pt x="61" y="7"/>
                      <a:pt x="60" y="5"/>
                      <a:pt x="59" y="4"/>
                    </a:cubicBezTo>
                    <a:cubicBezTo>
                      <a:pt x="57" y="3"/>
                      <a:pt x="56" y="3"/>
                      <a:pt x="53" y="3"/>
                    </a:cubicBezTo>
                    <a:cubicBezTo>
                      <a:pt x="51" y="3"/>
                      <a:pt x="50" y="3"/>
                      <a:pt x="48" y="4"/>
                    </a:cubicBezTo>
                    <a:cubicBezTo>
                      <a:pt x="47" y="5"/>
                      <a:pt x="46" y="6"/>
                      <a:pt x="46" y="7"/>
                    </a:cubicBezTo>
                    <a:cubicBezTo>
                      <a:pt x="46" y="9"/>
                      <a:pt x="47" y="10"/>
                      <a:pt x="49" y="11"/>
                    </a:cubicBezTo>
                    <a:cubicBezTo>
                      <a:pt x="50" y="13"/>
                      <a:pt x="53" y="14"/>
                      <a:pt x="56" y="15"/>
                    </a:cubicBezTo>
                    <a:cubicBezTo>
                      <a:pt x="56" y="15"/>
                      <a:pt x="56" y="15"/>
                      <a:pt x="56" y="15"/>
                    </a:cubicBezTo>
                    <a:close/>
                    <a:moveTo>
                      <a:pt x="47" y="19"/>
                    </a:moveTo>
                    <a:cubicBezTo>
                      <a:pt x="44" y="18"/>
                      <a:pt x="42" y="16"/>
                      <a:pt x="41" y="15"/>
                    </a:cubicBezTo>
                    <a:cubicBezTo>
                      <a:pt x="39" y="13"/>
                      <a:pt x="39" y="12"/>
                      <a:pt x="39" y="10"/>
                    </a:cubicBezTo>
                    <a:cubicBezTo>
                      <a:pt x="39" y="7"/>
                      <a:pt x="40" y="5"/>
                      <a:pt x="43" y="3"/>
                    </a:cubicBezTo>
                    <a:cubicBezTo>
                      <a:pt x="46" y="1"/>
                      <a:pt x="50" y="0"/>
                      <a:pt x="55" y="0"/>
                    </a:cubicBezTo>
                    <a:cubicBezTo>
                      <a:pt x="59" y="0"/>
                      <a:pt x="62" y="1"/>
                      <a:pt x="65" y="3"/>
                    </a:cubicBezTo>
                    <a:cubicBezTo>
                      <a:pt x="67" y="4"/>
                      <a:pt x="69" y="6"/>
                      <a:pt x="69" y="8"/>
                    </a:cubicBezTo>
                    <a:cubicBezTo>
                      <a:pt x="69" y="10"/>
                      <a:pt x="68" y="11"/>
                      <a:pt x="67" y="13"/>
                    </a:cubicBezTo>
                    <a:cubicBezTo>
                      <a:pt x="65" y="14"/>
                      <a:pt x="63" y="15"/>
                      <a:pt x="60" y="17"/>
                    </a:cubicBezTo>
                    <a:cubicBezTo>
                      <a:pt x="64" y="18"/>
                      <a:pt x="66" y="20"/>
                      <a:pt x="68" y="21"/>
                    </a:cubicBezTo>
                    <a:cubicBezTo>
                      <a:pt x="70" y="23"/>
                      <a:pt x="71" y="25"/>
                      <a:pt x="71" y="28"/>
                    </a:cubicBezTo>
                    <a:cubicBezTo>
                      <a:pt x="71" y="31"/>
                      <a:pt x="69" y="34"/>
                      <a:pt x="66" y="36"/>
                    </a:cubicBezTo>
                    <a:cubicBezTo>
                      <a:pt x="63" y="38"/>
                      <a:pt x="59" y="39"/>
                      <a:pt x="54" y="39"/>
                    </a:cubicBezTo>
                    <a:cubicBezTo>
                      <a:pt x="48" y="39"/>
                      <a:pt x="44" y="38"/>
                      <a:pt x="41" y="36"/>
                    </a:cubicBezTo>
                    <a:cubicBezTo>
                      <a:pt x="38" y="34"/>
                      <a:pt x="36" y="32"/>
                      <a:pt x="36" y="29"/>
                    </a:cubicBezTo>
                    <a:cubicBezTo>
                      <a:pt x="36" y="27"/>
                      <a:pt x="37" y="25"/>
                      <a:pt x="39" y="23"/>
                    </a:cubicBezTo>
                    <a:cubicBezTo>
                      <a:pt x="40" y="22"/>
                      <a:pt x="43" y="20"/>
                      <a:pt x="47" y="19"/>
                    </a:cubicBezTo>
                    <a:cubicBezTo>
                      <a:pt x="47" y="19"/>
                      <a:pt x="47" y="19"/>
                      <a:pt x="47" y="19"/>
                    </a:cubicBezTo>
                    <a:close/>
                    <a:moveTo>
                      <a:pt x="77" y="36"/>
                    </a:moveTo>
                    <a:cubicBezTo>
                      <a:pt x="80" y="33"/>
                      <a:pt x="80" y="33"/>
                      <a:pt x="80" y="33"/>
                    </a:cubicBezTo>
                    <a:cubicBezTo>
                      <a:pt x="81" y="34"/>
                      <a:pt x="82" y="35"/>
                      <a:pt x="83" y="35"/>
                    </a:cubicBezTo>
                    <a:cubicBezTo>
                      <a:pt x="85" y="35"/>
                      <a:pt x="86" y="36"/>
                      <a:pt x="87" y="36"/>
                    </a:cubicBezTo>
                    <a:cubicBezTo>
                      <a:pt x="91" y="36"/>
                      <a:pt x="94" y="34"/>
                      <a:pt x="97" y="31"/>
                    </a:cubicBezTo>
                    <a:cubicBezTo>
                      <a:pt x="99" y="28"/>
                      <a:pt x="100" y="25"/>
                      <a:pt x="100" y="20"/>
                    </a:cubicBezTo>
                    <a:cubicBezTo>
                      <a:pt x="100" y="20"/>
                      <a:pt x="100" y="20"/>
                      <a:pt x="100" y="20"/>
                    </a:cubicBezTo>
                    <a:cubicBezTo>
                      <a:pt x="99" y="22"/>
                      <a:pt x="97" y="24"/>
                      <a:pt x="95" y="25"/>
                    </a:cubicBezTo>
                    <a:cubicBezTo>
                      <a:pt x="93" y="26"/>
                      <a:pt x="91" y="26"/>
                      <a:pt x="88" y="26"/>
                    </a:cubicBezTo>
                    <a:cubicBezTo>
                      <a:pt x="85" y="26"/>
                      <a:pt x="82" y="25"/>
                      <a:pt x="79" y="23"/>
                    </a:cubicBezTo>
                    <a:cubicBezTo>
                      <a:pt x="77" y="21"/>
                      <a:pt x="76" y="18"/>
                      <a:pt x="76" y="15"/>
                    </a:cubicBezTo>
                    <a:cubicBezTo>
                      <a:pt x="76" y="11"/>
                      <a:pt x="78" y="7"/>
                      <a:pt x="81" y="4"/>
                    </a:cubicBezTo>
                    <a:cubicBezTo>
                      <a:pt x="84" y="2"/>
                      <a:pt x="88" y="0"/>
                      <a:pt x="93" y="0"/>
                    </a:cubicBezTo>
                    <a:cubicBezTo>
                      <a:pt x="98" y="0"/>
                      <a:pt x="102" y="2"/>
                      <a:pt x="105" y="5"/>
                    </a:cubicBezTo>
                    <a:cubicBezTo>
                      <a:pt x="108" y="8"/>
                      <a:pt x="110" y="12"/>
                      <a:pt x="110" y="17"/>
                    </a:cubicBezTo>
                    <a:cubicBezTo>
                      <a:pt x="110" y="20"/>
                      <a:pt x="109" y="23"/>
                      <a:pt x="108" y="26"/>
                    </a:cubicBezTo>
                    <a:cubicBezTo>
                      <a:pt x="107" y="29"/>
                      <a:pt x="106" y="31"/>
                      <a:pt x="104" y="33"/>
                    </a:cubicBezTo>
                    <a:cubicBezTo>
                      <a:pt x="101" y="35"/>
                      <a:pt x="99" y="36"/>
                      <a:pt x="96" y="38"/>
                    </a:cubicBezTo>
                    <a:cubicBezTo>
                      <a:pt x="93" y="39"/>
                      <a:pt x="91" y="39"/>
                      <a:pt x="87" y="39"/>
                    </a:cubicBezTo>
                    <a:cubicBezTo>
                      <a:pt x="85" y="39"/>
                      <a:pt x="83" y="39"/>
                      <a:pt x="81" y="38"/>
                    </a:cubicBezTo>
                    <a:cubicBezTo>
                      <a:pt x="80" y="38"/>
                      <a:pt x="78" y="37"/>
                      <a:pt x="77" y="36"/>
                    </a:cubicBezTo>
                    <a:cubicBezTo>
                      <a:pt x="77" y="36"/>
                      <a:pt x="77" y="36"/>
                      <a:pt x="77" y="36"/>
                    </a:cubicBezTo>
                    <a:close/>
                    <a:moveTo>
                      <a:pt x="93" y="21"/>
                    </a:moveTo>
                    <a:cubicBezTo>
                      <a:pt x="95" y="21"/>
                      <a:pt x="97" y="21"/>
                      <a:pt x="98" y="19"/>
                    </a:cubicBezTo>
                    <a:cubicBezTo>
                      <a:pt x="99" y="18"/>
                      <a:pt x="100" y="16"/>
                      <a:pt x="100" y="14"/>
                    </a:cubicBezTo>
                    <a:cubicBezTo>
                      <a:pt x="100" y="11"/>
                      <a:pt x="99" y="8"/>
                      <a:pt x="98" y="6"/>
                    </a:cubicBezTo>
                    <a:cubicBezTo>
                      <a:pt x="96" y="4"/>
                      <a:pt x="94" y="3"/>
                      <a:pt x="92" y="3"/>
                    </a:cubicBezTo>
                    <a:cubicBezTo>
                      <a:pt x="90" y="3"/>
                      <a:pt x="88" y="4"/>
                      <a:pt x="87" y="6"/>
                    </a:cubicBezTo>
                    <a:cubicBezTo>
                      <a:pt x="86" y="7"/>
                      <a:pt x="86" y="9"/>
                      <a:pt x="86" y="12"/>
                    </a:cubicBezTo>
                    <a:cubicBezTo>
                      <a:pt x="86" y="15"/>
                      <a:pt x="87" y="17"/>
                      <a:pt x="88" y="19"/>
                    </a:cubicBezTo>
                    <a:cubicBezTo>
                      <a:pt x="89" y="21"/>
                      <a:pt x="91" y="21"/>
                      <a:pt x="93" y="21"/>
                    </a:cubicBezTo>
                    <a:cubicBezTo>
                      <a:pt x="93" y="21"/>
                      <a:pt x="93" y="21"/>
                      <a:pt x="93" y="21"/>
                    </a:cubicBezTo>
                    <a:close/>
                    <a:moveTo>
                      <a:pt x="133" y="18"/>
                    </a:moveTo>
                    <a:cubicBezTo>
                      <a:pt x="131" y="18"/>
                      <a:pt x="130" y="19"/>
                      <a:pt x="128" y="20"/>
                    </a:cubicBezTo>
                    <a:cubicBezTo>
                      <a:pt x="127" y="21"/>
                      <a:pt x="127" y="23"/>
                      <a:pt x="127" y="25"/>
                    </a:cubicBezTo>
                    <a:cubicBezTo>
                      <a:pt x="127" y="29"/>
                      <a:pt x="127" y="31"/>
                      <a:pt x="129" y="33"/>
                    </a:cubicBezTo>
                    <a:cubicBezTo>
                      <a:pt x="130" y="35"/>
                      <a:pt x="132" y="36"/>
                      <a:pt x="134" y="36"/>
                    </a:cubicBezTo>
                    <a:cubicBezTo>
                      <a:pt x="136" y="36"/>
                      <a:pt x="138" y="35"/>
                      <a:pt x="139" y="34"/>
                    </a:cubicBezTo>
                    <a:cubicBezTo>
                      <a:pt x="140" y="33"/>
                      <a:pt x="140" y="31"/>
                      <a:pt x="140" y="28"/>
                    </a:cubicBezTo>
                    <a:cubicBezTo>
                      <a:pt x="140" y="25"/>
                      <a:pt x="140" y="22"/>
                      <a:pt x="139" y="21"/>
                    </a:cubicBezTo>
                    <a:cubicBezTo>
                      <a:pt x="137" y="19"/>
                      <a:pt x="136" y="18"/>
                      <a:pt x="133" y="18"/>
                    </a:cubicBezTo>
                    <a:cubicBezTo>
                      <a:pt x="133" y="18"/>
                      <a:pt x="133" y="18"/>
                      <a:pt x="133" y="18"/>
                    </a:cubicBezTo>
                    <a:close/>
                    <a:moveTo>
                      <a:pt x="150" y="4"/>
                    </a:moveTo>
                    <a:cubicBezTo>
                      <a:pt x="146" y="6"/>
                      <a:pt x="146" y="6"/>
                      <a:pt x="146" y="6"/>
                    </a:cubicBezTo>
                    <a:cubicBezTo>
                      <a:pt x="145" y="5"/>
                      <a:pt x="144" y="5"/>
                      <a:pt x="143" y="5"/>
                    </a:cubicBezTo>
                    <a:cubicBezTo>
                      <a:pt x="142" y="4"/>
                      <a:pt x="141" y="4"/>
                      <a:pt x="139" y="4"/>
                    </a:cubicBezTo>
                    <a:cubicBezTo>
                      <a:pt x="135" y="4"/>
                      <a:pt x="132" y="5"/>
                      <a:pt x="130" y="8"/>
                    </a:cubicBezTo>
                    <a:cubicBezTo>
                      <a:pt x="127" y="11"/>
                      <a:pt x="126" y="15"/>
                      <a:pt x="126" y="19"/>
                    </a:cubicBezTo>
                    <a:cubicBezTo>
                      <a:pt x="126" y="19"/>
                      <a:pt x="126" y="19"/>
                      <a:pt x="126" y="19"/>
                    </a:cubicBezTo>
                    <a:cubicBezTo>
                      <a:pt x="127" y="17"/>
                      <a:pt x="129" y="16"/>
                      <a:pt x="131" y="15"/>
                    </a:cubicBezTo>
                    <a:cubicBezTo>
                      <a:pt x="133" y="14"/>
                      <a:pt x="135" y="13"/>
                      <a:pt x="138" y="13"/>
                    </a:cubicBezTo>
                    <a:cubicBezTo>
                      <a:pt x="142" y="13"/>
                      <a:pt x="145" y="14"/>
                      <a:pt x="147" y="16"/>
                    </a:cubicBezTo>
                    <a:cubicBezTo>
                      <a:pt x="149" y="18"/>
                      <a:pt x="150" y="21"/>
                      <a:pt x="150" y="25"/>
                    </a:cubicBezTo>
                    <a:cubicBezTo>
                      <a:pt x="150" y="29"/>
                      <a:pt x="149" y="32"/>
                      <a:pt x="146" y="35"/>
                    </a:cubicBezTo>
                    <a:cubicBezTo>
                      <a:pt x="143" y="38"/>
                      <a:pt x="139" y="39"/>
                      <a:pt x="134" y="39"/>
                    </a:cubicBezTo>
                    <a:cubicBezTo>
                      <a:pt x="128" y="39"/>
                      <a:pt x="124" y="38"/>
                      <a:pt x="121" y="35"/>
                    </a:cubicBezTo>
                    <a:cubicBezTo>
                      <a:pt x="118" y="32"/>
                      <a:pt x="116" y="27"/>
                      <a:pt x="116" y="22"/>
                    </a:cubicBezTo>
                    <a:cubicBezTo>
                      <a:pt x="116" y="19"/>
                      <a:pt x="117" y="16"/>
                      <a:pt x="118" y="13"/>
                    </a:cubicBezTo>
                    <a:cubicBezTo>
                      <a:pt x="119" y="11"/>
                      <a:pt x="121" y="9"/>
                      <a:pt x="123" y="7"/>
                    </a:cubicBezTo>
                    <a:cubicBezTo>
                      <a:pt x="125" y="5"/>
                      <a:pt x="127" y="3"/>
                      <a:pt x="130" y="2"/>
                    </a:cubicBezTo>
                    <a:cubicBezTo>
                      <a:pt x="133" y="1"/>
                      <a:pt x="136" y="0"/>
                      <a:pt x="139" y="0"/>
                    </a:cubicBezTo>
                    <a:cubicBezTo>
                      <a:pt x="141" y="0"/>
                      <a:pt x="143" y="1"/>
                      <a:pt x="145" y="1"/>
                    </a:cubicBezTo>
                    <a:cubicBezTo>
                      <a:pt x="147" y="2"/>
                      <a:pt x="148" y="3"/>
                      <a:pt x="15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6" name="iṡḷîḑê"/>
              <p:cNvSpPr/>
              <p:nvPr/>
            </p:nvSpPr>
            <p:spPr bwMode="auto">
              <a:xfrm>
                <a:off x="2190751" y="2551113"/>
                <a:ext cx="1754188" cy="1651000"/>
              </a:xfrm>
              <a:custGeom>
                <a:avLst/>
                <a:gdLst>
                  <a:gd name="T0" fmla="*/ 266 w 532"/>
                  <a:gd name="T1" fmla="*/ 0 h 500"/>
                  <a:gd name="T2" fmla="*/ 532 w 532"/>
                  <a:gd name="T3" fmla="*/ 266 h 500"/>
                  <a:gd name="T4" fmla="*/ 395 w 532"/>
                  <a:gd name="T5" fmla="*/ 500 h 500"/>
                  <a:gd name="T6" fmla="*/ 389 w 532"/>
                  <a:gd name="T7" fmla="*/ 489 h 500"/>
                  <a:gd name="T8" fmla="*/ 521 w 532"/>
                  <a:gd name="T9" fmla="*/ 266 h 500"/>
                  <a:gd name="T10" fmla="*/ 266 w 532"/>
                  <a:gd name="T11" fmla="*/ 12 h 500"/>
                  <a:gd name="T12" fmla="*/ 11 w 532"/>
                  <a:gd name="T13" fmla="*/ 266 h 500"/>
                  <a:gd name="T14" fmla="*/ 144 w 532"/>
                  <a:gd name="T15" fmla="*/ 490 h 500"/>
                  <a:gd name="T16" fmla="*/ 139 w 532"/>
                  <a:gd name="T17" fmla="*/ 500 h 500"/>
                  <a:gd name="T18" fmla="*/ 0 w 532"/>
                  <a:gd name="T19" fmla="*/ 266 h 500"/>
                  <a:gd name="T20" fmla="*/ 266 w 532"/>
                  <a:gd name="T21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32" h="500">
                    <a:moveTo>
                      <a:pt x="266" y="0"/>
                    </a:moveTo>
                    <a:cubicBezTo>
                      <a:pt x="413" y="0"/>
                      <a:pt x="532" y="120"/>
                      <a:pt x="532" y="266"/>
                    </a:cubicBezTo>
                    <a:cubicBezTo>
                      <a:pt x="532" y="367"/>
                      <a:pt x="477" y="454"/>
                      <a:pt x="395" y="500"/>
                    </a:cubicBezTo>
                    <a:cubicBezTo>
                      <a:pt x="389" y="489"/>
                      <a:pt x="389" y="489"/>
                      <a:pt x="389" y="489"/>
                    </a:cubicBezTo>
                    <a:cubicBezTo>
                      <a:pt x="468" y="446"/>
                      <a:pt x="521" y="362"/>
                      <a:pt x="521" y="266"/>
                    </a:cubicBezTo>
                    <a:cubicBezTo>
                      <a:pt x="521" y="126"/>
                      <a:pt x="407" y="12"/>
                      <a:pt x="266" y="12"/>
                    </a:cubicBezTo>
                    <a:cubicBezTo>
                      <a:pt x="126" y="12"/>
                      <a:pt x="11" y="126"/>
                      <a:pt x="11" y="266"/>
                    </a:cubicBezTo>
                    <a:cubicBezTo>
                      <a:pt x="11" y="363"/>
                      <a:pt x="65" y="447"/>
                      <a:pt x="144" y="490"/>
                    </a:cubicBezTo>
                    <a:cubicBezTo>
                      <a:pt x="139" y="500"/>
                      <a:pt x="139" y="500"/>
                      <a:pt x="139" y="500"/>
                    </a:cubicBezTo>
                    <a:cubicBezTo>
                      <a:pt x="56" y="455"/>
                      <a:pt x="0" y="367"/>
                      <a:pt x="0" y="266"/>
                    </a:cubicBezTo>
                    <a:cubicBezTo>
                      <a:pt x="0" y="120"/>
                      <a:pt x="120" y="0"/>
                      <a:pt x="26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27" name="ïṡḷíďe"/>
            <p:cNvSpPr/>
            <p:nvPr/>
          </p:nvSpPr>
          <p:spPr bwMode="auto">
            <a:xfrm>
              <a:off x="5203178" y="3897933"/>
              <a:ext cx="4000161" cy="237633"/>
            </a:xfrm>
            <a:custGeom>
              <a:avLst/>
              <a:gdLst>
                <a:gd name="T0" fmla="*/ 2 w 1702"/>
                <a:gd name="T1" fmla="*/ 29 h 101"/>
                <a:gd name="T2" fmla="*/ 49 w 1702"/>
                <a:gd name="T3" fmla="*/ 13 h 101"/>
                <a:gd name="T4" fmla="*/ 59 w 1702"/>
                <a:gd name="T5" fmla="*/ 92 h 101"/>
                <a:gd name="T6" fmla="*/ 87 w 1702"/>
                <a:gd name="T7" fmla="*/ 93 h 101"/>
                <a:gd name="T8" fmla="*/ 110 w 1702"/>
                <a:gd name="T9" fmla="*/ 3 h 101"/>
                <a:gd name="T10" fmla="*/ 133 w 1702"/>
                <a:gd name="T11" fmla="*/ 99 h 101"/>
                <a:gd name="T12" fmla="*/ 235 w 1702"/>
                <a:gd name="T13" fmla="*/ 34 h 101"/>
                <a:gd name="T14" fmla="*/ 240 w 1702"/>
                <a:gd name="T15" fmla="*/ 77 h 101"/>
                <a:gd name="T16" fmla="*/ 254 w 1702"/>
                <a:gd name="T17" fmla="*/ 99 h 101"/>
                <a:gd name="T18" fmla="*/ 263 w 1702"/>
                <a:gd name="T19" fmla="*/ 2 h 101"/>
                <a:gd name="T20" fmla="*/ 326 w 1702"/>
                <a:gd name="T21" fmla="*/ 9 h 101"/>
                <a:gd name="T22" fmla="*/ 354 w 1702"/>
                <a:gd name="T23" fmla="*/ 9 h 101"/>
                <a:gd name="T24" fmla="*/ 318 w 1702"/>
                <a:gd name="T25" fmla="*/ 93 h 101"/>
                <a:gd name="T26" fmla="*/ 299 w 1702"/>
                <a:gd name="T27" fmla="*/ 98 h 101"/>
                <a:gd name="T28" fmla="*/ 377 w 1702"/>
                <a:gd name="T29" fmla="*/ 2 h 101"/>
                <a:gd name="T30" fmla="*/ 415 w 1702"/>
                <a:gd name="T31" fmla="*/ 82 h 101"/>
                <a:gd name="T32" fmla="*/ 454 w 1702"/>
                <a:gd name="T33" fmla="*/ 2 h 101"/>
                <a:gd name="T34" fmla="*/ 398 w 1702"/>
                <a:gd name="T35" fmla="*/ 93 h 101"/>
                <a:gd name="T36" fmla="*/ 510 w 1702"/>
                <a:gd name="T37" fmla="*/ 93 h 101"/>
                <a:gd name="T38" fmla="*/ 528 w 1702"/>
                <a:gd name="T39" fmla="*/ 2 h 101"/>
                <a:gd name="T40" fmla="*/ 534 w 1702"/>
                <a:gd name="T41" fmla="*/ 93 h 101"/>
                <a:gd name="T42" fmla="*/ 669 w 1702"/>
                <a:gd name="T43" fmla="*/ 9 h 101"/>
                <a:gd name="T44" fmla="*/ 680 w 1702"/>
                <a:gd name="T45" fmla="*/ 17 h 101"/>
                <a:gd name="T46" fmla="*/ 598 w 1702"/>
                <a:gd name="T47" fmla="*/ 98 h 101"/>
                <a:gd name="T48" fmla="*/ 607 w 1702"/>
                <a:gd name="T49" fmla="*/ 3 h 101"/>
                <a:gd name="T50" fmla="*/ 793 w 1702"/>
                <a:gd name="T51" fmla="*/ 3 h 101"/>
                <a:gd name="T52" fmla="*/ 827 w 1702"/>
                <a:gd name="T53" fmla="*/ 89 h 101"/>
                <a:gd name="T54" fmla="*/ 860 w 1702"/>
                <a:gd name="T55" fmla="*/ 2 h 101"/>
                <a:gd name="T56" fmla="*/ 781 w 1702"/>
                <a:gd name="T57" fmla="*/ 16 h 101"/>
                <a:gd name="T58" fmla="*/ 981 w 1702"/>
                <a:gd name="T59" fmla="*/ 7 h 101"/>
                <a:gd name="T60" fmla="*/ 914 w 1702"/>
                <a:gd name="T61" fmla="*/ 99 h 101"/>
                <a:gd name="T62" fmla="*/ 882 w 1702"/>
                <a:gd name="T63" fmla="*/ 7 h 101"/>
                <a:gd name="T64" fmla="*/ 1006 w 1702"/>
                <a:gd name="T65" fmla="*/ 91 h 101"/>
                <a:gd name="T66" fmla="*/ 1042 w 1702"/>
                <a:gd name="T67" fmla="*/ 2 h 101"/>
                <a:gd name="T68" fmla="*/ 1020 w 1702"/>
                <a:gd name="T69" fmla="*/ 98 h 101"/>
                <a:gd name="T70" fmla="*/ 1054 w 1702"/>
                <a:gd name="T71" fmla="*/ 2 h 101"/>
                <a:gd name="T72" fmla="*/ 1090 w 1702"/>
                <a:gd name="T73" fmla="*/ 15 h 101"/>
                <a:gd name="T74" fmla="*/ 1137 w 1702"/>
                <a:gd name="T75" fmla="*/ 2 h 101"/>
                <a:gd name="T76" fmla="*/ 1173 w 1702"/>
                <a:gd name="T77" fmla="*/ 91 h 101"/>
                <a:gd name="T78" fmla="*/ 1224 w 1702"/>
                <a:gd name="T79" fmla="*/ 2 h 101"/>
                <a:gd name="T80" fmla="*/ 1210 w 1702"/>
                <a:gd name="T81" fmla="*/ 46 h 101"/>
                <a:gd name="T82" fmla="*/ 1211 w 1702"/>
                <a:gd name="T83" fmla="*/ 52 h 101"/>
                <a:gd name="T84" fmla="*/ 1221 w 1702"/>
                <a:gd name="T85" fmla="*/ 98 h 101"/>
                <a:gd name="T86" fmla="*/ 1267 w 1702"/>
                <a:gd name="T87" fmla="*/ 9 h 101"/>
                <a:gd name="T88" fmla="*/ 1333 w 1702"/>
                <a:gd name="T89" fmla="*/ 40 h 101"/>
                <a:gd name="T90" fmla="*/ 1324 w 1702"/>
                <a:gd name="T91" fmla="*/ 96 h 101"/>
                <a:gd name="T92" fmla="*/ 1302 w 1702"/>
                <a:gd name="T93" fmla="*/ 93 h 101"/>
                <a:gd name="T94" fmla="*/ 1318 w 1702"/>
                <a:gd name="T95" fmla="*/ 28 h 101"/>
                <a:gd name="T96" fmla="*/ 1413 w 1702"/>
                <a:gd name="T97" fmla="*/ 88 h 101"/>
                <a:gd name="T98" fmla="*/ 1431 w 1702"/>
                <a:gd name="T99" fmla="*/ 4 h 101"/>
                <a:gd name="T100" fmla="*/ 1407 w 1702"/>
                <a:gd name="T101" fmla="*/ 38 h 101"/>
                <a:gd name="T102" fmla="*/ 1370 w 1702"/>
                <a:gd name="T103" fmla="*/ 73 h 101"/>
                <a:gd name="T104" fmla="*/ 1465 w 1702"/>
                <a:gd name="T105" fmla="*/ 9 h 101"/>
                <a:gd name="T106" fmla="*/ 1491 w 1702"/>
                <a:gd name="T107" fmla="*/ 16 h 101"/>
                <a:gd name="T108" fmla="*/ 1456 w 1702"/>
                <a:gd name="T109" fmla="*/ 99 h 101"/>
                <a:gd name="T110" fmla="*/ 1517 w 1702"/>
                <a:gd name="T111" fmla="*/ 26 h 101"/>
                <a:gd name="T112" fmla="*/ 1586 w 1702"/>
                <a:gd name="T113" fmla="*/ 13 h 101"/>
                <a:gd name="T114" fmla="*/ 1545 w 1702"/>
                <a:gd name="T115" fmla="*/ 98 h 101"/>
                <a:gd name="T116" fmla="*/ 1656 w 1702"/>
                <a:gd name="T117" fmla="*/ 98 h 101"/>
                <a:gd name="T118" fmla="*/ 1610 w 1702"/>
                <a:gd name="T119" fmla="*/ 7 h 101"/>
                <a:gd name="T120" fmla="*/ 1644 w 1702"/>
                <a:gd name="T121" fmla="*/ 12 h 101"/>
                <a:gd name="T122" fmla="*/ 1688 w 1702"/>
                <a:gd name="T123" fmla="*/ 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702" h="101">
                  <a:moveTo>
                    <a:pt x="1" y="66"/>
                  </a:moveTo>
                  <a:cubicBezTo>
                    <a:pt x="11" y="66"/>
                    <a:pt x="11" y="66"/>
                    <a:pt x="11" y="66"/>
                  </a:cubicBezTo>
                  <a:cubicBezTo>
                    <a:pt x="11" y="75"/>
                    <a:pt x="13" y="81"/>
                    <a:pt x="16" y="85"/>
                  </a:cubicBezTo>
                  <a:cubicBezTo>
                    <a:pt x="20" y="90"/>
                    <a:pt x="25" y="92"/>
                    <a:pt x="32" y="92"/>
                  </a:cubicBezTo>
                  <a:cubicBezTo>
                    <a:pt x="37" y="92"/>
                    <a:pt x="41" y="90"/>
                    <a:pt x="44" y="88"/>
                  </a:cubicBezTo>
                  <a:cubicBezTo>
                    <a:pt x="48" y="85"/>
                    <a:pt x="49" y="82"/>
                    <a:pt x="49" y="77"/>
                  </a:cubicBezTo>
                  <a:cubicBezTo>
                    <a:pt x="49" y="74"/>
                    <a:pt x="48" y="71"/>
                    <a:pt x="46" y="68"/>
                  </a:cubicBezTo>
                  <a:cubicBezTo>
                    <a:pt x="44" y="66"/>
                    <a:pt x="39" y="63"/>
                    <a:pt x="31" y="60"/>
                  </a:cubicBezTo>
                  <a:cubicBezTo>
                    <a:pt x="20" y="55"/>
                    <a:pt x="12" y="51"/>
                    <a:pt x="8" y="46"/>
                  </a:cubicBezTo>
                  <a:cubicBezTo>
                    <a:pt x="4" y="41"/>
                    <a:pt x="2" y="36"/>
                    <a:pt x="2" y="29"/>
                  </a:cubicBezTo>
                  <a:cubicBezTo>
                    <a:pt x="2" y="20"/>
                    <a:pt x="5" y="13"/>
                    <a:pt x="11" y="8"/>
                  </a:cubicBezTo>
                  <a:cubicBezTo>
                    <a:pt x="17" y="2"/>
                    <a:pt x="25" y="0"/>
                    <a:pt x="34" y="0"/>
                  </a:cubicBezTo>
                  <a:cubicBezTo>
                    <a:pt x="38" y="0"/>
                    <a:pt x="42" y="0"/>
                    <a:pt x="47" y="1"/>
                  </a:cubicBezTo>
                  <a:cubicBezTo>
                    <a:pt x="51" y="1"/>
                    <a:pt x="56" y="2"/>
                    <a:pt x="62" y="3"/>
                  </a:cubicBezTo>
                  <a:cubicBezTo>
                    <a:pt x="62" y="4"/>
                    <a:pt x="62" y="4"/>
                    <a:pt x="62" y="4"/>
                  </a:cubicBezTo>
                  <a:cubicBezTo>
                    <a:pt x="62" y="9"/>
                    <a:pt x="62" y="14"/>
                    <a:pt x="62" y="17"/>
                  </a:cubicBezTo>
                  <a:cubicBezTo>
                    <a:pt x="62" y="19"/>
                    <a:pt x="62" y="23"/>
                    <a:pt x="62" y="29"/>
                  </a:cubicBezTo>
                  <a:cubicBezTo>
                    <a:pt x="62" y="29"/>
                    <a:pt x="62" y="29"/>
                    <a:pt x="62" y="29"/>
                  </a:cubicBezTo>
                  <a:cubicBezTo>
                    <a:pt x="54" y="29"/>
                    <a:pt x="54" y="29"/>
                    <a:pt x="54" y="29"/>
                  </a:cubicBezTo>
                  <a:cubicBezTo>
                    <a:pt x="54" y="22"/>
                    <a:pt x="53" y="17"/>
                    <a:pt x="49" y="13"/>
                  </a:cubicBezTo>
                  <a:cubicBezTo>
                    <a:pt x="46" y="10"/>
                    <a:pt x="42" y="8"/>
                    <a:pt x="36" y="8"/>
                  </a:cubicBezTo>
                  <a:cubicBezTo>
                    <a:pt x="31" y="8"/>
                    <a:pt x="27" y="9"/>
                    <a:pt x="25" y="11"/>
                  </a:cubicBezTo>
                  <a:cubicBezTo>
                    <a:pt x="22" y="14"/>
                    <a:pt x="21" y="17"/>
                    <a:pt x="21" y="21"/>
                  </a:cubicBezTo>
                  <a:cubicBezTo>
                    <a:pt x="21" y="24"/>
                    <a:pt x="22" y="27"/>
                    <a:pt x="24" y="30"/>
                  </a:cubicBezTo>
                  <a:cubicBezTo>
                    <a:pt x="26" y="32"/>
                    <a:pt x="31" y="35"/>
                    <a:pt x="39" y="38"/>
                  </a:cubicBezTo>
                  <a:cubicBezTo>
                    <a:pt x="40" y="38"/>
                    <a:pt x="41" y="39"/>
                    <a:pt x="43" y="40"/>
                  </a:cubicBezTo>
                  <a:cubicBezTo>
                    <a:pt x="51" y="43"/>
                    <a:pt x="57" y="46"/>
                    <a:pt x="60" y="49"/>
                  </a:cubicBezTo>
                  <a:cubicBezTo>
                    <a:pt x="63" y="51"/>
                    <a:pt x="65" y="55"/>
                    <a:pt x="66" y="58"/>
                  </a:cubicBezTo>
                  <a:cubicBezTo>
                    <a:pt x="68" y="61"/>
                    <a:pt x="69" y="65"/>
                    <a:pt x="69" y="69"/>
                  </a:cubicBezTo>
                  <a:cubicBezTo>
                    <a:pt x="69" y="79"/>
                    <a:pt x="65" y="86"/>
                    <a:pt x="59" y="92"/>
                  </a:cubicBezTo>
                  <a:cubicBezTo>
                    <a:pt x="53" y="98"/>
                    <a:pt x="44" y="101"/>
                    <a:pt x="33" y="101"/>
                  </a:cubicBezTo>
                  <a:cubicBezTo>
                    <a:pt x="27" y="101"/>
                    <a:pt x="21" y="100"/>
                    <a:pt x="16" y="99"/>
                  </a:cubicBezTo>
                  <a:cubicBezTo>
                    <a:pt x="11" y="98"/>
                    <a:pt x="5" y="96"/>
                    <a:pt x="0" y="93"/>
                  </a:cubicBezTo>
                  <a:cubicBezTo>
                    <a:pt x="1" y="90"/>
                    <a:pt x="1" y="87"/>
                    <a:pt x="1" y="83"/>
                  </a:cubicBezTo>
                  <a:cubicBezTo>
                    <a:pt x="1" y="80"/>
                    <a:pt x="1" y="77"/>
                    <a:pt x="1" y="73"/>
                  </a:cubicBezTo>
                  <a:cubicBezTo>
                    <a:pt x="1" y="71"/>
                    <a:pt x="1" y="70"/>
                    <a:pt x="1" y="69"/>
                  </a:cubicBezTo>
                  <a:cubicBezTo>
                    <a:pt x="1" y="68"/>
                    <a:pt x="1" y="67"/>
                    <a:pt x="1" y="66"/>
                  </a:cubicBezTo>
                  <a:cubicBezTo>
                    <a:pt x="1" y="66"/>
                    <a:pt x="1" y="66"/>
                    <a:pt x="1" y="66"/>
                  </a:cubicBezTo>
                  <a:close/>
                  <a:moveTo>
                    <a:pt x="87" y="99"/>
                  </a:moveTo>
                  <a:cubicBezTo>
                    <a:pt x="87" y="93"/>
                    <a:pt x="87" y="93"/>
                    <a:pt x="87" y="93"/>
                  </a:cubicBezTo>
                  <a:cubicBezTo>
                    <a:pt x="88" y="93"/>
                    <a:pt x="88" y="93"/>
                    <a:pt x="88" y="93"/>
                  </a:cubicBezTo>
                  <a:cubicBezTo>
                    <a:pt x="93" y="93"/>
                    <a:pt x="95" y="92"/>
                    <a:pt x="97" y="91"/>
                  </a:cubicBezTo>
                  <a:cubicBezTo>
                    <a:pt x="98" y="89"/>
                    <a:pt x="99" y="86"/>
                    <a:pt x="99" y="81"/>
                  </a:cubicBezTo>
                  <a:cubicBezTo>
                    <a:pt x="99" y="16"/>
                    <a:pt x="99" y="16"/>
                    <a:pt x="99" y="16"/>
                  </a:cubicBezTo>
                  <a:cubicBezTo>
                    <a:pt x="99" y="13"/>
                    <a:pt x="98" y="11"/>
                    <a:pt x="97" y="9"/>
                  </a:cubicBezTo>
                  <a:cubicBezTo>
                    <a:pt x="95" y="8"/>
                    <a:pt x="93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2"/>
                    <a:pt x="87" y="2"/>
                    <a:pt x="87" y="2"/>
                  </a:cubicBezTo>
                  <a:cubicBezTo>
                    <a:pt x="91" y="2"/>
                    <a:pt x="95" y="2"/>
                    <a:pt x="99" y="2"/>
                  </a:cubicBezTo>
                  <a:cubicBezTo>
                    <a:pt x="103" y="3"/>
                    <a:pt x="107" y="3"/>
                    <a:pt x="110" y="3"/>
                  </a:cubicBezTo>
                  <a:cubicBezTo>
                    <a:pt x="114" y="3"/>
                    <a:pt x="118" y="3"/>
                    <a:pt x="122" y="2"/>
                  </a:cubicBezTo>
                  <a:cubicBezTo>
                    <a:pt x="126" y="2"/>
                    <a:pt x="129" y="2"/>
                    <a:pt x="133" y="2"/>
                  </a:cubicBezTo>
                  <a:cubicBezTo>
                    <a:pt x="133" y="7"/>
                    <a:pt x="133" y="7"/>
                    <a:pt x="133" y="7"/>
                  </a:cubicBezTo>
                  <a:cubicBezTo>
                    <a:pt x="129" y="7"/>
                    <a:pt x="126" y="8"/>
                    <a:pt x="125" y="9"/>
                  </a:cubicBezTo>
                  <a:cubicBezTo>
                    <a:pt x="123" y="10"/>
                    <a:pt x="122" y="12"/>
                    <a:pt x="122" y="16"/>
                  </a:cubicBezTo>
                  <a:cubicBezTo>
                    <a:pt x="122" y="81"/>
                    <a:pt x="122" y="81"/>
                    <a:pt x="122" y="81"/>
                  </a:cubicBezTo>
                  <a:cubicBezTo>
                    <a:pt x="122" y="86"/>
                    <a:pt x="123" y="89"/>
                    <a:pt x="124" y="91"/>
                  </a:cubicBezTo>
                  <a:cubicBezTo>
                    <a:pt x="126" y="92"/>
                    <a:pt x="128" y="93"/>
                    <a:pt x="133" y="93"/>
                  </a:cubicBezTo>
                  <a:cubicBezTo>
                    <a:pt x="133" y="93"/>
                    <a:pt x="133" y="93"/>
                    <a:pt x="133" y="93"/>
                  </a:cubicBezTo>
                  <a:cubicBezTo>
                    <a:pt x="133" y="99"/>
                    <a:pt x="133" y="99"/>
                    <a:pt x="133" y="99"/>
                  </a:cubicBezTo>
                  <a:cubicBezTo>
                    <a:pt x="130" y="98"/>
                    <a:pt x="126" y="98"/>
                    <a:pt x="122" y="98"/>
                  </a:cubicBezTo>
                  <a:cubicBezTo>
                    <a:pt x="118" y="98"/>
                    <a:pt x="114" y="98"/>
                    <a:pt x="110" y="98"/>
                  </a:cubicBezTo>
                  <a:cubicBezTo>
                    <a:pt x="107" y="98"/>
                    <a:pt x="104" y="98"/>
                    <a:pt x="100" y="98"/>
                  </a:cubicBezTo>
                  <a:cubicBezTo>
                    <a:pt x="96" y="98"/>
                    <a:pt x="92" y="98"/>
                    <a:pt x="87" y="99"/>
                  </a:cubicBezTo>
                  <a:cubicBezTo>
                    <a:pt x="87" y="99"/>
                    <a:pt x="87" y="99"/>
                    <a:pt x="87" y="99"/>
                  </a:cubicBezTo>
                  <a:close/>
                  <a:moveTo>
                    <a:pt x="236" y="4"/>
                  </a:moveTo>
                  <a:cubicBezTo>
                    <a:pt x="236" y="8"/>
                    <a:pt x="235" y="11"/>
                    <a:pt x="235" y="14"/>
                  </a:cubicBezTo>
                  <a:cubicBezTo>
                    <a:pt x="235" y="17"/>
                    <a:pt x="235" y="20"/>
                    <a:pt x="235" y="23"/>
                  </a:cubicBezTo>
                  <a:cubicBezTo>
                    <a:pt x="235" y="24"/>
                    <a:pt x="235" y="26"/>
                    <a:pt x="235" y="27"/>
                  </a:cubicBezTo>
                  <a:cubicBezTo>
                    <a:pt x="235" y="29"/>
                    <a:pt x="235" y="31"/>
                    <a:pt x="235" y="34"/>
                  </a:cubicBezTo>
                  <a:cubicBezTo>
                    <a:pt x="227" y="34"/>
                    <a:pt x="227" y="34"/>
                    <a:pt x="227" y="34"/>
                  </a:cubicBezTo>
                  <a:cubicBezTo>
                    <a:pt x="226" y="25"/>
                    <a:pt x="224" y="18"/>
                    <a:pt x="220" y="14"/>
                  </a:cubicBezTo>
                  <a:cubicBezTo>
                    <a:pt x="216" y="10"/>
                    <a:pt x="211" y="7"/>
                    <a:pt x="205" y="7"/>
                  </a:cubicBezTo>
                  <a:cubicBezTo>
                    <a:pt x="195" y="7"/>
                    <a:pt x="188" y="11"/>
                    <a:pt x="183" y="18"/>
                  </a:cubicBezTo>
                  <a:cubicBezTo>
                    <a:pt x="178" y="25"/>
                    <a:pt x="175" y="35"/>
                    <a:pt x="175" y="47"/>
                  </a:cubicBezTo>
                  <a:cubicBezTo>
                    <a:pt x="175" y="60"/>
                    <a:pt x="178" y="71"/>
                    <a:pt x="184" y="78"/>
                  </a:cubicBezTo>
                  <a:cubicBezTo>
                    <a:pt x="189" y="86"/>
                    <a:pt x="197" y="90"/>
                    <a:pt x="206" y="90"/>
                  </a:cubicBezTo>
                  <a:cubicBezTo>
                    <a:pt x="211" y="90"/>
                    <a:pt x="216" y="89"/>
                    <a:pt x="220" y="86"/>
                  </a:cubicBezTo>
                  <a:cubicBezTo>
                    <a:pt x="224" y="83"/>
                    <a:pt x="229" y="79"/>
                    <a:pt x="233" y="73"/>
                  </a:cubicBezTo>
                  <a:cubicBezTo>
                    <a:pt x="240" y="77"/>
                    <a:pt x="240" y="77"/>
                    <a:pt x="240" y="77"/>
                  </a:cubicBezTo>
                  <a:cubicBezTo>
                    <a:pt x="234" y="85"/>
                    <a:pt x="229" y="91"/>
                    <a:pt x="222" y="95"/>
                  </a:cubicBezTo>
                  <a:cubicBezTo>
                    <a:pt x="215" y="99"/>
                    <a:pt x="208" y="101"/>
                    <a:pt x="199" y="101"/>
                  </a:cubicBezTo>
                  <a:cubicBezTo>
                    <a:pt x="184" y="101"/>
                    <a:pt x="172" y="96"/>
                    <a:pt x="164" y="87"/>
                  </a:cubicBezTo>
                  <a:cubicBezTo>
                    <a:pt x="155" y="78"/>
                    <a:pt x="151" y="66"/>
                    <a:pt x="151" y="50"/>
                  </a:cubicBezTo>
                  <a:cubicBezTo>
                    <a:pt x="151" y="35"/>
                    <a:pt x="156" y="23"/>
                    <a:pt x="165" y="14"/>
                  </a:cubicBezTo>
                  <a:cubicBezTo>
                    <a:pt x="175" y="4"/>
                    <a:pt x="187" y="0"/>
                    <a:pt x="203" y="0"/>
                  </a:cubicBezTo>
                  <a:cubicBezTo>
                    <a:pt x="209" y="0"/>
                    <a:pt x="218" y="1"/>
                    <a:pt x="233" y="4"/>
                  </a:cubicBezTo>
                  <a:cubicBezTo>
                    <a:pt x="234" y="4"/>
                    <a:pt x="235" y="4"/>
                    <a:pt x="236" y="4"/>
                  </a:cubicBezTo>
                  <a:cubicBezTo>
                    <a:pt x="236" y="4"/>
                    <a:pt x="236" y="4"/>
                    <a:pt x="236" y="4"/>
                  </a:cubicBezTo>
                  <a:close/>
                  <a:moveTo>
                    <a:pt x="254" y="99"/>
                  </a:moveTo>
                  <a:cubicBezTo>
                    <a:pt x="254" y="93"/>
                    <a:pt x="254" y="93"/>
                    <a:pt x="254" y="93"/>
                  </a:cubicBezTo>
                  <a:cubicBezTo>
                    <a:pt x="255" y="93"/>
                    <a:pt x="255" y="93"/>
                    <a:pt x="255" y="93"/>
                  </a:cubicBezTo>
                  <a:cubicBezTo>
                    <a:pt x="259" y="93"/>
                    <a:pt x="262" y="92"/>
                    <a:pt x="263" y="91"/>
                  </a:cubicBezTo>
                  <a:cubicBezTo>
                    <a:pt x="265" y="89"/>
                    <a:pt x="265" y="86"/>
                    <a:pt x="265" y="81"/>
                  </a:cubicBezTo>
                  <a:cubicBezTo>
                    <a:pt x="265" y="16"/>
                    <a:pt x="265" y="16"/>
                    <a:pt x="265" y="16"/>
                  </a:cubicBezTo>
                  <a:cubicBezTo>
                    <a:pt x="265" y="13"/>
                    <a:pt x="265" y="11"/>
                    <a:pt x="263" y="9"/>
                  </a:cubicBezTo>
                  <a:cubicBezTo>
                    <a:pt x="262" y="8"/>
                    <a:pt x="259" y="7"/>
                    <a:pt x="256" y="7"/>
                  </a:cubicBezTo>
                  <a:cubicBezTo>
                    <a:pt x="254" y="7"/>
                    <a:pt x="254" y="7"/>
                    <a:pt x="254" y="7"/>
                  </a:cubicBezTo>
                  <a:cubicBezTo>
                    <a:pt x="254" y="2"/>
                    <a:pt x="254" y="2"/>
                    <a:pt x="254" y="2"/>
                  </a:cubicBezTo>
                  <a:cubicBezTo>
                    <a:pt x="257" y="2"/>
                    <a:pt x="260" y="2"/>
                    <a:pt x="263" y="2"/>
                  </a:cubicBezTo>
                  <a:cubicBezTo>
                    <a:pt x="267" y="3"/>
                    <a:pt x="271" y="3"/>
                    <a:pt x="277" y="3"/>
                  </a:cubicBezTo>
                  <a:cubicBezTo>
                    <a:pt x="282" y="3"/>
                    <a:pt x="286" y="3"/>
                    <a:pt x="290" y="2"/>
                  </a:cubicBezTo>
                  <a:cubicBezTo>
                    <a:pt x="294" y="2"/>
                    <a:pt x="297" y="2"/>
                    <a:pt x="299" y="2"/>
                  </a:cubicBezTo>
                  <a:cubicBezTo>
                    <a:pt x="299" y="7"/>
                    <a:pt x="299" y="7"/>
                    <a:pt x="299" y="7"/>
                  </a:cubicBezTo>
                  <a:cubicBezTo>
                    <a:pt x="295" y="7"/>
                    <a:pt x="292" y="8"/>
                    <a:pt x="291" y="9"/>
                  </a:cubicBezTo>
                  <a:cubicBezTo>
                    <a:pt x="289" y="10"/>
                    <a:pt x="288" y="12"/>
                    <a:pt x="288" y="16"/>
                  </a:cubicBezTo>
                  <a:cubicBezTo>
                    <a:pt x="288" y="43"/>
                    <a:pt x="288" y="43"/>
                    <a:pt x="288" y="43"/>
                  </a:cubicBezTo>
                  <a:cubicBezTo>
                    <a:pt x="329" y="43"/>
                    <a:pt x="329" y="43"/>
                    <a:pt x="329" y="43"/>
                  </a:cubicBezTo>
                  <a:cubicBezTo>
                    <a:pt x="329" y="16"/>
                    <a:pt x="329" y="16"/>
                    <a:pt x="329" y="16"/>
                  </a:cubicBezTo>
                  <a:cubicBezTo>
                    <a:pt x="329" y="13"/>
                    <a:pt x="328" y="10"/>
                    <a:pt x="326" y="9"/>
                  </a:cubicBezTo>
                  <a:cubicBezTo>
                    <a:pt x="325" y="8"/>
                    <a:pt x="322" y="7"/>
                    <a:pt x="318" y="7"/>
                  </a:cubicBezTo>
                  <a:cubicBezTo>
                    <a:pt x="317" y="7"/>
                    <a:pt x="317" y="7"/>
                    <a:pt x="317" y="7"/>
                  </a:cubicBezTo>
                  <a:cubicBezTo>
                    <a:pt x="317" y="2"/>
                    <a:pt x="317" y="2"/>
                    <a:pt x="317" y="2"/>
                  </a:cubicBezTo>
                  <a:cubicBezTo>
                    <a:pt x="321" y="2"/>
                    <a:pt x="324" y="2"/>
                    <a:pt x="328" y="2"/>
                  </a:cubicBezTo>
                  <a:cubicBezTo>
                    <a:pt x="331" y="3"/>
                    <a:pt x="336" y="3"/>
                    <a:pt x="340" y="3"/>
                  </a:cubicBezTo>
                  <a:cubicBezTo>
                    <a:pt x="345" y="3"/>
                    <a:pt x="349" y="3"/>
                    <a:pt x="352" y="2"/>
                  </a:cubicBezTo>
                  <a:cubicBezTo>
                    <a:pt x="356" y="2"/>
                    <a:pt x="359" y="2"/>
                    <a:pt x="362" y="2"/>
                  </a:cubicBezTo>
                  <a:cubicBezTo>
                    <a:pt x="362" y="7"/>
                    <a:pt x="362" y="7"/>
                    <a:pt x="362" y="7"/>
                  </a:cubicBezTo>
                  <a:cubicBezTo>
                    <a:pt x="361" y="7"/>
                    <a:pt x="361" y="7"/>
                    <a:pt x="361" y="7"/>
                  </a:cubicBezTo>
                  <a:cubicBezTo>
                    <a:pt x="357" y="7"/>
                    <a:pt x="355" y="8"/>
                    <a:pt x="354" y="9"/>
                  </a:cubicBezTo>
                  <a:cubicBezTo>
                    <a:pt x="352" y="11"/>
                    <a:pt x="351" y="13"/>
                    <a:pt x="351" y="16"/>
                  </a:cubicBezTo>
                  <a:cubicBezTo>
                    <a:pt x="351" y="81"/>
                    <a:pt x="351" y="81"/>
                    <a:pt x="351" y="81"/>
                  </a:cubicBezTo>
                  <a:cubicBezTo>
                    <a:pt x="351" y="86"/>
                    <a:pt x="352" y="89"/>
                    <a:pt x="354" y="90"/>
                  </a:cubicBezTo>
                  <a:cubicBezTo>
                    <a:pt x="355" y="92"/>
                    <a:pt x="358" y="93"/>
                    <a:pt x="362" y="93"/>
                  </a:cubicBezTo>
                  <a:cubicBezTo>
                    <a:pt x="362" y="99"/>
                    <a:pt x="362" y="99"/>
                    <a:pt x="362" y="99"/>
                  </a:cubicBezTo>
                  <a:cubicBezTo>
                    <a:pt x="358" y="98"/>
                    <a:pt x="354" y="98"/>
                    <a:pt x="350" y="98"/>
                  </a:cubicBezTo>
                  <a:cubicBezTo>
                    <a:pt x="346" y="98"/>
                    <a:pt x="343" y="98"/>
                    <a:pt x="340" y="98"/>
                  </a:cubicBezTo>
                  <a:cubicBezTo>
                    <a:pt x="338" y="98"/>
                    <a:pt x="336" y="98"/>
                    <a:pt x="332" y="98"/>
                  </a:cubicBezTo>
                  <a:cubicBezTo>
                    <a:pt x="328" y="98"/>
                    <a:pt x="323" y="98"/>
                    <a:pt x="318" y="99"/>
                  </a:cubicBezTo>
                  <a:cubicBezTo>
                    <a:pt x="318" y="93"/>
                    <a:pt x="318" y="93"/>
                    <a:pt x="318" y="93"/>
                  </a:cubicBezTo>
                  <a:cubicBezTo>
                    <a:pt x="318" y="93"/>
                    <a:pt x="318" y="93"/>
                    <a:pt x="318" y="93"/>
                  </a:cubicBezTo>
                  <a:cubicBezTo>
                    <a:pt x="323" y="93"/>
                    <a:pt x="325" y="92"/>
                    <a:pt x="327" y="91"/>
                  </a:cubicBezTo>
                  <a:cubicBezTo>
                    <a:pt x="328" y="89"/>
                    <a:pt x="329" y="86"/>
                    <a:pt x="329" y="81"/>
                  </a:cubicBezTo>
                  <a:cubicBezTo>
                    <a:pt x="329" y="50"/>
                    <a:pt x="329" y="50"/>
                    <a:pt x="329" y="50"/>
                  </a:cubicBezTo>
                  <a:cubicBezTo>
                    <a:pt x="288" y="50"/>
                    <a:pt x="288" y="50"/>
                    <a:pt x="288" y="50"/>
                  </a:cubicBezTo>
                  <a:cubicBezTo>
                    <a:pt x="288" y="81"/>
                    <a:pt x="288" y="81"/>
                    <a:pt x="288" y="81"/>
                  </a:cubicBezTo>
                  <a:cubicBezTo>
                    <a:pt x="288" y="86"/>
                    <a:pt x="289" y="89"/>
                    <a:pt x="290" y="91"/>
                  </a:cubicBezTo>
                  <a:cubicBezTo>
                    <a:pt x="292" y="92"/>
                    <a:pt x="294" y="93"/>
                    <a:pt x="299" y="93"/>
                  </a:cubicBezTo>
                  <a:cubicBezTo>
                    <a:pt x="299" y="93"/>
                    <a:pt x="299" y="93"/>
                    <a:pt x="299" y="93"/>
                  </a:cubicBezTo>
                  <a:cubicBezTo>
                    <a:pt x="299" y="98"/>
                    <a:pt x="299" y="98"/>
                    <a:pt x="299" y="98"/>
                  </a:cubicBezTo>
                  <a:cubicBezTo>
                    <a:pt x="294" y="98"/>
                    <a:pt x="290" y="98"/>
                    <a:pt x="286" y="98"/>
                  </a:cubicBezTo>
                  <a:cubicBezTo>
                    <a:pt x="282" y="98"/>
                    <a:pt x="279" y="98"/>
                    <a:pt x="277" y="98"/>
                  </a:cubicBezTo>
                  <a:cubicBezTo>
                    <a:pt x="273" y="98"/>
                    <a:pt x="270" y="98"/>
                    <a:pt x="266" y="98"/>
                  </a:cubicBezTo>
                  <a:cubicBezTo>
                    <a:pt x="262" y="98"/>
                    <a:pt x="258" y="98"/>
                    <a:pt x="254" y="99"/>
                  </a:cubicBezTo>
                  <a:cubicBezTo>
                    <a:pt x="254" y="99"/>
                    <a:pt x="254" y="99"/>
                    <a:pt x="254" y="99"/>
                  </a:cubicBezTo>
                  <a:close/>
                  <a:moveTo>
                    <a:pt x="388" y="16"/>
                  </a:moveTo>
                  <a:cubicBezTo>
                    <a:pt x="388" y="13"/>
                    <a:pt x="387" y="11"/>
                    <a:pt x="386" y="9"/>
                  </a:cubicBezTo>
                  <a:cubicBezTo>
                    <a:pt x="384" y="8"/>
                    <a:pt x="382" y="7"/>
                    <a:pt x="378" y="7"/>
                  </a:cubicBezTo>
                  <a:cubicBezTo>
                    <a:pt x="377" y="7"/>
                    <a:pt x="377" y="7"/>
                    <a:pt x="377" y="7"/>
                  </a:cubicBezTo>
                  <a:cubicBezTo>
                    <a:pt x="377" y="2"/>
                    <a:pt x="377" y="2"/>
                    <a:pt x="377" y="2"/>
                  </a:cubicBezTo>
                  <a:cubicBezTo>
                    <a:pt x="382" y="2"/>
                    <a:pt x="386" y="2"/>
                    <a:pt x="390" y="3"/>
                  </a:cubicBezTo>
                  <a:cubicBezTo>
                    <a:pt x="393" y="3"/>
                    <a:pt x="397" y="3"/>
                    <a:pt x="400" y="3"/>
                  </a:cubicBezTo>
                  <a:cubicBezTo>
                    <a:pt x="403" y="3"/>
                    <a:pt x="406" y="3"/>
                    <a:pt x="410" y="3"/>
                  </a:cubicBezTo>
                  <a:cubicBezTo>
                    <a:pt x="414" y="2"/>
                    <a:pt x="418" y="2"/>
                    <a:pt x="423" y="2"/>
                  </a:cubicBezTo>
                  <a:cubicBezTo>
                    <a:pt x="423" y="7"/>
                    <a:pt x="423" y="7"/>
                    <a:pt x="423" y="7"/>
                  </a:cubicBezTo>
                  <a:cubicBezTo>
                    <a:pt x="418" y="7"/>
                    <a:pt x="415" y="8"/>
                    <a:pt x="414" y="9"/>
                  </a:cubicBezTo>
                  <a:cubicBezTo>
                    <a:pt x="412" y="10"/>
                    <a:pt x="411" y="12"/>
                    <a:pt x="411" y="16"/>
                  </a:cubicBezTo>
                  <a:cubicBezTo>
                    <a:pt x="411" y="60"/>
                    <a:pt x="411" y="60"/>
                    <a:pt x="411" y="60"/>
                  </a:cubicBezTo>
                  <a:cubicBezTo>
                    <a:pt x="411" y="67"/>
                    <a:pt x="412" y="72"/>
                    <a:pt x="412" y="75"/>
                  </a:cubicBezTo>
                  <a:cubicBezTo>
                    <a:pt x="413" y="78"/>
                    <a:pt x="414" y="80"/>
                    <a:pt x="415" y="82"/>
                  </a:cubicBezTo>
                  <a:cubicBezTo>
                    <a:pt x="417" y="84"/>
                    <a:pt x="420" y="86"/>
                    <a:pt x="423" y="88"/>
                  </a:cubicBezTo>
                  <a:cubicBezTo>
                    <a:pt x="426" y="89"/>
                    <a:pt x="430" y="89"/>
                    <a:pt x="434" y="89"/>
                  </a:cubicBezTo>
                  <a:cubicBezTo>
                    <a:pt x="442" y="89"/>
                    <a:pt x="448" y="87"/>
                    <a:pt x="452" y="83"/>
                  </a:cubicBezTo>
                  <a:cubicBezTo>
                    <a:pt x="456" y="78"/>
                    <a:pt x="457" y="70"/>
                    <a:pt x="457" y="60"/>
                  </a:cubicBezTo>
                  <a:cubicBezTo>
                    <a:pt x="457" y="59"/>
                    <a:pt x="457" y="59"/>
                    <a:pt x="457" y="59"/>
                  </a:cubicBezTo>
                  <a:cubicBezTo>
                    <a:pt x="457" y="18"/>
                    <a:pt x="457" y="18"/>
                    <a:pt x="457" y="18"/>
                  </a:cubicBezTo>
                  <a:cubicBezTo>
                    <a:pt x="457" y="14"/>
                    <a:pt x="457" y="11"/>
                    <a:pt x="455" y="9"/>
                  </a:cubicBezTo>
                  <a:cubicBezTo>
                    <a:pt x="454" y="8"/>
                    <a:pt x="451" y="7"/>
                    <a:pt x="446" y="7"/>
                  </a:cubicBezTo>
                  <a:cubicBezTo>
                    <a:pt x="446" y="2"/>
                    <a:pt x="446" y="2"/>
                    <a:pt x="446" y="2"/>
                  </a:cubicBezTo>
                  <a:cubicBezTo>
                    <a:pt x="449" y="2"/>
                    <a:pt x="452" y="2"/>
                    <a:pt x="454" y="2"/>
                  </a:cubicBezTo>
                  <a:cubicBezTo>
                    <a:pt x="456" y="2"/>
                    <a:pt x="458" y="3"/>
                    <a:pt x="460" y="3"/>
                  </a:cubicBezTo>
                  <a:cubicBezTo>
                    <a:pt x="462" y="3"/>
                    <a:pt x="465" y="2"/>
                    <a:pt x="467" y="2"/>
                  </a:cubicBezTo>
                  <a:cubicBezTo>
                    <a:pt x="469" y="2"/>
                    <a:pt x="472" y="2"/>
                    <a:pt x="474" y="2"/>
                  </a:cubicBezTo>
                  <a:cubicBezTo>
                    <a:pt x="474" y="7"/>
                    <a:pt x="474" y="7"/>
                    <a:pt x="474" y="7"/>
                  </a:cubicBezTo>
                  <a:cubicBezTo>
                    <a:pt x="471" y="7"/>
                    <a:pt x="469" y="8"/>
                    <a:pt x="468" y="9"/>
                  </a:cubicBezTo>
                  <a:cubicBezTo>
                    <a:pt x="467" y="10"/>
                    <a:pt x="466" y="13"/>
                    <a:pt x="466" y="18"/>
                  </a:cubicBezTo>
                  <a:cubicBezTo>
                    <a:pt x="465" y="62"/>
                    <a:pt x="465" y="62"/>
                    <a:pt x="465" y="62"/>
                  </a:cubicBezTo>
                  <a:cubicBezTo>
                    <a:pt x="465" y="76"/>
                    <a:pt x="462" y="86"/>
                    <a:pt x="456" y="92"/>
                  </a:cubicBezTo>
                  <a:cubicBezTo>
                    <a:pt x="450" y="98"/>
                    <a:pt x="440" y="101"/>
                    <a:pt x="427" y="101"/>
                  </a:cubicBezTo>
                  <a:cubicBezTo>
                    <a:pt x="414" y="101"/>
                    <a:pt x="405" y="98"/>
                    <a:pt x="398" y="93"/>
                  </a:cubicBezTo>
                  <a:cubicBezTo>
                    <a:pt x="391" y="87"/>
                    <a:pt x="388" y="79"/>
                    <a:pt x="388" y="69"/>
                  </a:cubicBezTo>
                  <a:cubicBezTo>
                    <a:pt x="388" y="16"/>
                    <a:pt x="388" y="16"/>
                    <a:pt x="388" y="16"/>
                  </a:cubicBezTo>
                  <a:close/>
                  <a:moveTo>
                    <a:pt x="524" y="27"/>
                  </a:moveTo>
                  <a:cubicBezTo>
                    <a:pt x="511" y="60"/>
                    <a:pt x="511" y="60"/>
                    <a:pt x="511" y="60"/>
                  </a:cubicBezTo>
                  <a:cubicBezTo>
                    <a:pt x="536" y="60"/>
                    <a:pt x="536" y="60"/>
                    <a:pt x="536" y="60"/>
                  </a:cubicBezTo>
                  <a:cubicBezTo>
                    <a:pt x="524" y="27"/>
                    <a:pt x="524" y="27"/>
                    <a:pt x="524" y="27"/>
                  </a:cubicBezTo>
                  <a:close/>
                  <a:moveTo>
                    <a:pt x="501" y="84"/>
                  </a:moveTo>
                  <a:cubicBezTo>
                    <a:pt x="500" y="85"/>
                    <a:pt x="500" y="86"/>
                    <a:pt x="500" y="86"/>
                  </a:cubicBezTo>
                  <a:cubicBezTo>
                    <a:pt x="500" y="87"/>
                    <a:pt x="500" y="88"/>
                    <a:pt x="500" y="88"/>
                  </a:cubicBezTo>
                  <a:cubicBezTo>
                    <a:pt x="500" y="91"/>
                    <a:pt x="503" y="92"/>
                    <a:pt x="510" y="93"/>
                  </a:cubicBezTo>
                  <a:cubicBezTo>
                    <a:pt x="510" y="93"/>
                    <a:pt x="510" y="93"/>
                    <a:pt x="510" y="93"/>
                  </a:cubicBezTo>
                  <a:cubicBezTo>
                    <a:pt x="510" y="99"/>
                    <a:pt x="510" y="99"/>
                    <a:pt x="510" y="99"/>
                  </a:cubicBezTo>
                  <a:cubicBezTo>
                    <a:pt x="507" y="98"/>
                    <a:pt x="505" y="98"/>
                    <a:pt x="502" y="98"/>
                  </a:cubicBezTo>
                  <a:cubicBezTo>
                    <a:pt x="499" y="98"/>
                    <a:pt x="497" y="98"/>
                    <a:pt x="495" y="98"/>
                  </a:cubicBezTo>
                  <a:cubicBezTo>
                    <a:pt x="493" y="98"/>
                    <a:pt x="492" y="98"/>
                    <a:pt x="490" y="98"/>
                  </a:cubicBezTo>
                  <a:cubicBezTo>
                    <a:pt x="488" y="98"/>
                    <a:pt x="484" y="98"/>
                    <a:pt x="480" y="99"/>
                  </a:cubicBezTo>
                  <a:cubicBezTo>
                    <a:pt x="480" y="93"/>
                    <a:pt x="480" y="93"/>
                    <a:pt x="480" y="93"/>
                  </a:cubicBezTo>
                  <a:cubicBezTo>
                    <a:pt x="483" y="92"/>
                    <a:pt x="485" y="91"/>
                    <a:pt x="487" y="90"/>
                  </a:cubicBezTo>
                  <a:cubicBezTo>
                    <a:pt x="489" y="88"/>
                    <a:pt x="491" y="85"/>
                    <a:pt x="493" y="81"/>
                  </a:cubicBezTo>
                  <a:cubicBezTo>
                    <a:pt x="528" y="2"/>
                    <a:pt x="528" y="2"/>
                    <a:pt x="528" y="2"/>
                  </a:cubicBezTo>
                  <a:cubicBezTo>
                    <a:pt x="537" y="2"/>
                    <a:pt x="537" y="2"/>
                    <a:pt x="537" y="2"/>
                  </a:cubicBezTo>
                  <a:cubicBezTo>
                    <a:pt x="568" y="86"/>
                    <a:pt x="568" y="86"/>
                    <a:pt x="568" y="86"/>
                  </a:cubicBezTo>
                  <a:cubicBezTo>
                    <a:pt x="569" y="89"/>
                    <a:pt x="571" y="90"/>
                    <a:pt x="572" y="91"/>
                  </a:cubicBezTo>
                  <a:cubicBezTo>
                    <a:pt x="574" y="92"/>
                    <a:pt x="576" y="93"/>
                    <a:pt x="579" y="93"/>
                  </a:cubicBezTo>
                  <a:cubicBezTo>
                    <a:pt x="579" y="99"/>
                    <a:pt x="579" y="99"/>
                    <a:pt x="579" y="99"/>
                  </a:cubicBezTo>
                  <a:cubicBezTo>
                    <a:pt x="575" y="98"/>
                    <a:pt x="571" y="98"/>
                    <a:pt x="567" y="98"/>
                  </a:cubicBezTo>
                  <a:cubicBezTo>
                    <a:pt x="564" y="98"/>
                    <a:pt x="560" y="98"/>
                    <a:pt x="557" y="98"/>
                  </a:cubicBezTo>
                  <a:cubicBezTo>
                    <a:pt x="554" y="98"/>
                    <a:pt x="551" y="98"/>
                    <a:pt x="547" y="98"/>
                  </a:cubicBezTo>
                  <a:cubicBezTo>
                    <a:pt x="543" y="98"/>
                    <a:pt x="538" y="98"/>
                    <a:pt x="534" y="99"/>
                  </a:cubicBezTo>
                  <a:cubicBezTo>
                    <a:pt x="534" y="93"/>
                    <a:pt x="534" y="93"/>
                    <a:pt x="534" y="93"/>
                  </a:cubicBezTo>
                  <a:cubicBezTo>
                    <a:pt x="539" y="93"/>
                    <a:pt x="542" y="92"/>
                    <a:pt x="543" y="92"/>
                  </a:cubicBezTo>
                  <a:cubicBezTo>
                    <a:pt x="545" y="91"/>
                    <a:pt x="545" y="90"/>
                    <a:pt x="545" y="88"/>
                  </a:cubicBezTo>
                  <a:cubicBezTo>
                    <a:pt x="545" y="88"/>
                    <a:pt x="545" y="87"/>
                    <a:pt x="545" y="87"/>
                  </a:cubicBezTo>
                  <a:cubicBezTo>
                    <a:pt x="545" y="86"/>
                    <a:pt x="545" y="86"/>
                    <a:pt x="545" y="85"/>
                  </a:cubicBezTo>
                  <a:cubicBezTo>
                    <a:pt x="538" y="67"/>
                    <a:pt x="538" y="67"/>
                    <a:pt x="538" y="67"/>
                  </a:cubicBezTo>
                  <a:cubicBezTo>
                    <a:pt x="508" y="67"/>
                    <a:pt x="508" y="67"/>
                    <a:pt x="508" y="67"/>
                  </a:cubicBezTo>
                  <a:cubicBezTo>
                    <a:pt x="501" y="84"/>
                    <a:pt x="501" y="84"/>
                    <a:pt x="501" y="84"/>
                  </a:cubicBezTo>
                  <a:close/>
                  <a:moveTo>
                    <a:pt x="672" y="64"/>
                  </a:moveTo>
                  <a:cubicBezTo>
                    <a:pt x="672" y="17"/>
                    <a:pt x="672" y="17"/>
                    <a:pt x="672" y="17"/>
                  </a:cubicBezTo>
                  <a:cubicBezTo>
                    <a:pt x="672" y="13"/>
                    <a:pt x="671" y="10"/>
                    <a:pt x="669" y="9"/>
                  </a:cubicBezTo>
                  <a:cubicBezTo>
                    <a:pt x="668" y="8"/>
                    <a:pt x="664" y="7"/>
                    <a:pt x="659" y="7"/>
                  </a:cubicBezTo>
                  <a:cubicBezTo>
                    <a:pt x="659" y="2"/>
                    <a:pt x="659" y="2"/>
                    <a:pt x="659" y="2"/>
                  </a:cubicBezTo>
                  <a:cubicBezTo>
                    <a:pt x="661" y="2"/>
                    <a:pt x="664" y="2"/>
                    <a:pt x="666" y="2"/>
                  </a:cubicBezTo>
                  <a:cubicBezTo>
                    <a:pt x="669" y="2"/>
                    <a:pt x="672" y="2"/>
                    <a:pt x="675" y="2"/>
                  </a:cubicBezTo>
                  <a:cubicBezTo>
                    <a:pt x="678" y="2"/>
                    <a:pt x="680" y="2"/>
                    <a:pt x="683" y="2"/>
                  </a:cubicBezTo>
                  <a:cubicBezTo>
                    <a:pt x="685" y="2"/>
                    <a:pt x="688" y="2"/>
                    <a:pt x="690" y="2"/>
                  </a:cubicBezTo>
                  <a:cubicBezTo>
                    <a:pt x="690" y="7"/>
                    <a:pt x="690" y="7"/>
                    <a:pt x="690" y="7"/>
                  </a:cubicBezTo>
                  <a:cubicBezTo>
                    <a:pt x="689" y="7"/>
                    <a:pt x="689" y="7"/>
                    <a:pt x="689" y="7"/>
                  </a:cubicBezTo>
                  <a:cubicBezTo>
                    <a:pt x="686" y="7"/>
                    <a:pt x="683" y="8"/>
                    <a:pt x="682" y="9"/>
                  </a:cubicBezTo>
                  <a:cubicBezTo>
                    <a:pt x="681" y="11"/>
                    <a:pt x="680" y="13"/>
                    <a:pt x="680" y="17"/>
                  </a:cubicBezTo>
                  <a:cubicBezTo>
                    <a:pt x="680" y="99"/>
                    <a:pt x="680" y="99"/>
                    <a:pt x="680" y="99"/>
                  </a:cubicBezTo>
                  <a:cubicBezTo>
                    <a:pt x="671" y="99"/>
                    <a:pt x="671" y="99"/>
                    <a:pt x="671" y="99"/>
                  </a:cubicBezTo>
                  <a:cubicBezTo>
                    <a:pt x="610" y="20"/>
                    <a:pt x="610" y="20"/>
                    <a:pt x="610" y="20"/>
                  </a:cubicBezTo>
                  <a:cubicBezTo>
                    <a:pt x="610" y="81"/>
                    <a:pt x="610" y="81"/>
                    <a:pt x="610" y="81"/>
                  </a:cubicBezTo>
                  <a:cubicBezTo>
                    <a:pt x="610" y="86"/>
                    <a:pt x="611" y="89"/>
                    <a:pt x="612" y="91"/>
                  </a:cubicBezTo>
                  <a:cubicBezTo>
                    <a:pt x="614" y="92"/>
                    <a:pt x="617" y="93"/>
                    <a:pt x="623" y="93"/>
                  </a:cubicBezTo>
                  <a:cubicBezTo>
                    <a:pt x="623" y="99"/>
                    <a:pt x="623" y="99"/>
                    <a:pt x="623" y="99"/>
                  </a:cubicBezTo>
                  <a:cubicBezTo>
                    <a:pt x="620" y="98"/>
                    <a:pt x="617" y="98"/>
                    <a:pt x="614" y="98"/>
                  </a:cubicBezTo>
                  <a:cubicBezTo>
                    <a:pt x="611" y="98"/>
                    <a:pt x="608" y="98"/>
                    <a:pt x="605" y="98"/>
                  </a:cubicBezTo>
                  <a:cubicBezTo>
                    <a:pt x="603" y="98"/>
                    <a:pt x="600" y="98"/>
                    <a:pt x="598" y="98"/>
                  </a:cubicBezTo>
                  <a:cubicBezTo>
                    <a:pt x="595" y="98"/>
                    <a:pt x="592" y="98"/>
                    <a:pt x="590" y="99"/>
                  </a:cubicBezTo>
                  <a:cubicBezTo>
                    <a:pt x="590" y="93"/>
                    <a:pt x="590" y="93"/>
                    <a:pt x="590" y="93"/>
                  </a:cubicBezTo>
                  <a:cubicBezTo>
                    <a:pt x="595" y="93"/>
                    <a:pt x="598" y="92"/>
                    <a:pt x="599" y="91"/>
                  </a:cubicBezTo>
                  <a:cubicBezTo>
                    <a:pt x="601" y="89"/>
                    <a:pt x="602" y="86"/>
                    <a:pt x="602" y="81"/>
                  </a:cubicBezTo>
                  <a:cubicBezTo>
                    <a:pt x="602" y="17"/>
                    <a:pt x="602" y="17"/>
                    <a:pt x="602" y="17"/>
                  </a:cubicBezTo>
                  <a:cubicBezTo>
                    <a:pt x="602" y="13"/>
                    <a:pt x="601" y="11"/>
                    <a:pt x="599" y="9"/>
                  </a:cubicBezTo>
                  <a:cubicBezTo>
                    <a:pt x="598" y="8"/>
                    <a:pt x="595" y="8"/>
                    <a:pt x="591" y="7"/>
                  </a:cubicBezTo>
                  <a:cubicBezTo>
                    <a:pt x="591" y="2"/>
                    <a:pt x="591" y="2"/>
                    <a:pt x="591" y="2"/>
                  </a:cubicBezTo>
                  <a:cubicBezTo>
                    <a:pt x="595" y="2"/>
                    <a:pt x="599" y="2"/>
                    <a:pt x="601" y="2"/>
                  </a:cubicBezTo>
                  <a:cubicBezTo>
                    <a:pt x="603" y="2"/>
                    <a:pt x="605" y="3"/>
                    <a:pt x="607" y="3"/>
                  </a:cubicBezTo>
                  <a:cubicBezTo>
                    <a:pt x="609" y="3"/>
                    <a:pt x="612" y="2"/>
                    <a:pt x="614" y="2"/>
                  </a:cubicBezTo>
                  <a:cubicBezTo>
                    <a:pt x="617" y="2"/>
                    <a:pt x="620" y="2"/>
                    <a:pt x="623" y="2"/>
                  </a:cubicBezTo>
                  <a:cubicBezTo>
                    <a:pt x="672" y="64"/>
                    <a:pt x="672" y="64"/>
                    <a:pt x="672" y="64"/>
                  </a:cubicBezTo>
                  <a:close/>
                  <a:moveTo>
                    <a:pt x="781" y="16"/>
                  </a:moveTo>
                  <a:cubicBezTo>
                    <a:pt x="781" y="13"/>
                    <a:pt x="780" y="11"/>
                    <a:pt x="779" y="9"/>
                  </a:cubicBezTo>
                  <a:cubicBezTo>
                    <a:pt x="777" y="8"/>
                    <a:pt x="775" y="7"/>
                    <a:pt x="771" y="7"/>
                  </a:cubicBezTo>
                  <a:cubicBezTo>
                    <a:pt x="770" y="7"/>
                    <a:pt x="770" y="7"/>
                    <a:pt x="770" y="7"/>
                  </a:cubicBezTo>
                  <a:cubicBezTo>
                    <a:pt x="770" y="2"/>
                    <a:pt x="770" y="2"/>
                    <a:pt x="770" y="2"/>
                  </a:cubicBezTo>
                  <a:cubicBezTo>
                    <a:pt x="775" y="2"/>
                    <a:pt x="779" y="2"/>
                    <a:pt x="782" y="3"/>
                  </a:cubicBezTo>
                  <a:cubicBezTo>
                    <a:pt x="786" y="3"/>
                    <a:pt x="790" y="3"/>
                    <a:pt x="793" y="3"/>
                  </a:cubicBezTo>
                  <a:cubicBezTo>
                    <a:pt x="796" y="3"/>
                    <a:pt x="799" y="3"/>
                    <a:pt x="803" y="3"/>
                  </a:cubicBezTo>
                  <a:cubicBezTo>
                    <a:pt x="807" y="2"/>
                    <a:pt x="811" y="2"/>
                    <a:pt x="815" y="2"/>
                  </a:cubicBezTo>
                  <a:cubicBezTo>
                    <a:pt x="815" y="7"/>
                    <a:pt x="815" y="7"/>
                    <a:pt x="815" y="7"/>
                  </a:cubicBezTo>
                  <a:cubicBezTo>
                    <a:pt x="811" y="7"/>
                    <a:pt x="808" y="8"/>
                    <a:pt x="807" y="9"/>
                  </a:cubicBezTo>
                  <a:cubicBezTo>
                    <a:pt x="805" y="10"/>
                    <a:pt x="804" y="12"/>
                    <a:pt x="804" y="16"/>
                  </a:cubicBezTo>
                  <a:cubicBezTo>
                    <a:pt x="804" y="60"/>
                    <a:pt x="804" y="60"/>
                    <a:pt x="804" y="60"/>
                  </a:cubicBezTo>
                  <a:cubicBezTo>
                    <a:pt x="804" y="67"/>
                    <a:pt x="805" y="72"/>
                    <a:pt x="805" y="75"/>
                  </a:cubicBezTo>
                  <a:cubicBezTo>
                    <a:pt x="806" y="78"/>
                    <a:pt x="807" y="80"/>
                    <a:pt x="808" y="82"/>
                  </a:cubicBezTo>
                  <a:cubicBezTo>
                    <a:pt x="810" y="84"/>
                    <a:pt x="813" y="86"/>
                    <a:pt x="816" y="88"/>
                  </a:cubicBezTo>
                  <a:cubicBezTo>
                    <a:pt x="819" y="89"/>
                    <a:pt x="822" y="89"/>
                    <a:pt x="827" y="89"/>
                  </a:cubicBezTo>
                  <a:cubicBezTo>
                    <a:pt x="835" y="89"/>
                    <a:pt x="841" y="87"/>
                    <a:pt x="845" y="83"/>
                  </a:cubicBezTo>
                  <a:cubicBezTo>
                    <a:pt x="848" y="78"/>
                    <a:pt x="850" y="70"/>
                    <a:pt x="850" y="60"/>
                  </a:cubicBezTo>
                  <a:cubicBezTo>
                    <a:pt x="850" y="59"/>
                    <a:pt x="850" y="59"/>
                    <a:pt x="850" y="59"/>
                  </a:cubicBezTo>
                  <a:cubicBezTo>
                    <a:pt x="850" y="18"/>
                    <a:pt x="850" y="18"/>
                    <a:pt x="850" y="18"/>
                  </a:cubicBezTo>
                  <a:cubicBezTo>
                    <a:pt x="850" y="14"/>
                    <a:pt x="849" y="11"/>
                    <a:pt x="848" y="9"/>
                  </a:cubicBezTo>
                  <a:cubicBezTo>
                    <a:pt x="847" y="8"/>
                    <a:pt x="844" y="7"/>
                    <a:pt x="839" y="7"/>
                  </a:cubicBezTo>
                  <a:cubicBezTo>
                    <a:pt x="839" y="2"/>
                    <a:pt x="839" y="2"/>
                    <a:pt x="839" y="2"/>
                  </a:cubicBezTo>
                  <a:cubicBezTo>
                    <a:pt x="842" y="2"/>
                    <a:pt x="845" y="2"/>
                    <a:pt x="847" y="2"/>
                  </a:cubicBezTo>
                  <a:cubicBezTo>
                    <a:pt x="849" y="2"/>
                    <a:pt x="851" y="3"/>
                    <a:pt x="853" y="3"/>
                  </a:cubicBezTo>
                  <a:cubicBezTo>
                    <a:pt x="855" y="3"/>
                    <a:pt x="857" y="2"/>
                    <a:pt x="860" y="2"/>
                  </a:cubicBezTo>
                  <a:cubicBezTo>
                    <a:pt x="862" y="2"/>
                    <a:pt x="865" y="2"/>
                    <a:pt x="867" y="2"/>
                  </a:cubicBezTo>
                  <a:cubicBezTo>
                    <a:pt x="867" y="7"/>
                    <a:pt x="867" y="7"/>
                    <a:pt x="867" y="7"/>
                  </a:cubicBezTo>
                  <a:cubicBezTo>
                    <a:pt x="864" y="7"/>
                    <a:pt x="862" y="8"/>
                    <a:pt x="861" y="9"/>
                  </a:cubicBezTo>
                  <a:cubicBezTo>
                    <a:pt x="860" y="10"/>
                    <a:pt x="859" y="13"/>
                    <a:pt x="859" y="18"/>
                  </a:cubicBezTo>
                  <a:cubicBezTo>
                    <a:pt x="858" y="62"/>
                    <a:pt x="858" y="62"/>
                    <a:pt x="858" y="62"/>
                  </a:cubicBezTo>
                  <a:cubicBezTo>
                    <a:pt x="858" y="76"/>
                    <a:pt x="855" y="86"/>
                    <a:pt x="849" y="92"/>
                  </a:cubicBezTo>
                  <a:cubicBezTo>
                    <a:pt x="843" y="98"/>
                    <a:pt x="833" y="101"/>
                    <a:pt x="820" y="101"/>
                  </a:cubicBezTo>
                  <a:cubicBezTo>
                    <a:pt x="807" y="101"/>
                    <a:pt x="797" y="98"/>
                    <a:pt x="791" y="93"/>
                  </a:cubicBezTo>
                  <a:cubicBezTo>
                    <a:pt x="784" y="87"/>
                    <a:pt x="781" y="79"/>
                    <a:pt x="781" y="69"/>
                  </a:cubicBezTo>
                  <a:cubicBezTo>
                    <a:pt x="781" y="16"/>
                    <a:pt x="781" y="16"/>
                    <a:pt x="781" y="16"/>
                  </a:cubicBezTo>
                  <a:close/>
                  <a:moveTo>
                    <a:pt x="963" y="64"/>
                  </a:moveTo>
                  <a:cubicBezTo>
                    <a:pt x="963" y="17"/>
                    <a:pt x="963" y="17"/>
                    <a:pt x="963" y="17"/>
                  </a:cubicBezTo>
                  <a:cubicBezTo>
                    <a:pt x="963" y="13"/>
                    <a:pt x="962" y="10"/>
                    <a:pt x="961" y="9"/>
                  </a:cubicBezTo>
                  <a:cubicBezTo>
                    <a:pt x="959" y="8"/>
                    <a:pt x="956" y="7"/>
                    <a:pt x="950" y="7"/>
                  </a:cubicBezTo>
                  <a:cubicBezTo>
                    <a:pt x="950" y="2"/>
                    <a:pt x="950" y="2"/>
                    <a:pt x="950" y="2"/>
                  </a:cubicBezTo>
                  <a:cubicBezTo>
                    <a:pt x="953" y="2"/>
                    <a:pt x="955" y="2"/>
                    <a:pt x="958" y="2"/>
                  </a:cubicBezTo>
                  <a:cubicBezTo>
                    <a:pt x="960" y="2"/>
                    <a:pt x="963" y="2"/>
                    <a:pt x="966" y="2"/>
                  </a:cubicBezTo>
                  <a:cubicBezTo>
                    <a:pt x="969" y="2"/>
                    <a:pt x="972" y="2"/>
                    <a:pt x="974" y="2"/>
                  </a:cubicBezTo>
                  <a:cubicBezTo>
                    <a:pt x="977" y="2"/>
                    <a:pt x="979" y="2"/>
                    <a:pt x="981" y="2"/>
                  </a:cubicBezTo>
                  <a:cubicBezTo>
                    <a:pt x="981" y="7"/>
                    <a:pt x="981" y="7"/>
                    <a:pt x="981" y="7"/>
                  </a:cubicBezTo>
                  <a:cubicBezTo>
                    <a:pt x="980" y="7"/>
                    <a:pt x="980" y="7"/>
                    <a:pt x="980" y="7"/>
                  </a:cubicBezTo>
                  <a:cubicBezTo>
                    <a:pt x="977" y="7"/>
                    <a:pt x="975" y="8"/>
                    <a:pt x="973" y="9"/>
                  </a:cubicBezTo>
                  <a:cubicBezTo>
                    <a:pt x="972" y="11"/>
                    <a:pt x="971" y="13"/>
                    <a:pt x="971" y="17"/>
                  </a:cubicBezTo>
                  <a:cubicBezTo>
                    <a:pt x="971" y="99"/>
                    <a:pt x="971" y="99"/>
                    <a:pt x="971" y="99"/>
                  </a:cubicBezTo>
                  <a:cubicBezTo>
                    <a:pt x="963" y="99"/>
                    <a:pt x="963" y="99"/>
                    <a:pt x="963" y="99"/>
                  </a:cubicBezTo>
                  <a:cubicBezTo>
                    <a:pt x="901" y="20"/>
                    <a:pt x="901" y="20"/>
                    <a:pt x="901" y="20"/>
                  </a:cubicBezTo>
                  <a:cubicBezTo>
                    <a:pt x="901" y="81"/>
                    <a:pt x="901" y="81"/>
                    <a:pt x="901" y="81"/>
                  </a:cubicBezTo>
                  <a:cubicBezTo>
                    <a:pt x="901" y="86"/>
                    <a:pt x="902" y="89"/>
                    <a:pt x="904" y="91"/>
                  </a:cubicBezTo>
                  <a:cubicBezTo>
                    <a:pt x="905" y="92"/>
                    <a:pt x="909" y="93"/>
                    <a:pt x="914" y="93"/>
                  </a:cubicBezTo>
                  <a:cubicBezTo>
                    <a:pt x="914" y="99"/>
                    <a:pt x="914" y="99"/>
                    <a:pt x="914" y="99"/>
                  </a:cubicBezTo>
                  <a:cubicBezTo>
                    <a:pt x="911" y="98"/>
                    <a:pt x="908" y="98"/>
                    <a:pt x="905" y="98"/>
                  </a:cubicBezTo>
                  <a:cubicBezTo>
                    <a:pt x="902" y="98"/>
                    <a:pt x="900" y="98"/>
                    <a:pt x="897" y="98"/>
                  </a:cubicBezTo>
                  <a:cubicBezTo>
                    <a:pt x="894" y="98"/>
                    <a:pt x="892" y="98"/>
                    <a:pt x="889" y="98"/>
                  </a:cubicBezTo>
                  <a:cubicBezTo>
                    <a:pt x="886" y="98"/>
                    <a:pt x="884" y="98"/>
                    <a:pt x="881" y="99"/>
                  </a:cubicBezTo>
                  <a:cubicBezTo>
                    <a:pt x="881" y="93"/>
                    <a:pt x="881" y="93"/>
                    <a:pt x="881" y="93"/>
                  </a:cubicBezTo>
                  <a:cubicBezTo>
                    <a:pt x="886" y="93"/>
                    <a:pt x="889" y="92"/>
                    <a:pt x="891" y="91"/>
                  </a:cubicBezTo>
                  <a:cubicBezTo>
                    <a:pt x="892" y="89"/>
                    <a:pt x="893" y="86"/>
                    <a:pt x="893" y="81"/>
                  </a:cubicBezTo>
                  <a:cubicBezTo>
                    <a:pt x="893" y="17"/>
                    <a:pt x="893" y="17"/>
                    <a:pt x="893" y="17"/>
                  </a:cubicBezTo>
                  <a:cubicBezTo>
                    <a:pt x="893" y="13"/>
                    <a:pt x="892" y="11"/>
                    <a:pt x="891" y="9"/>
                  </a:cubicBezTo>
                  <a:cubicBezTo>
                    <a:pt x="889" y="8"/>
                    <a:pt x="886" y="8"/>
                    <a:pt x="882" y="7"/>
                  </a:cubicBezTo>
                  <a:cubicBezTo>
                    <a:pt x="882" y="2"/>
                    <a:pt x="882" y="2"/>
                    <a:pt x="882" y="2"/>
                  </a:cubicBezTo>
                  <a:cubicBezTo>
                    <a:pt x="887" y="2"/>
                    <a:pt x="890" y="2"/>
                    <a:pt x="892" y="2"/>
                  </a:cubicBezTo>
                  <a:cubicBezTo>
                    <a:pt x="895" y="2"/>
                    <a:pt x="897" y="3"/>
                    <a:pt x="899" y="3"/>
                  </a:cubicBezTo>
                  <a:cubicBezTo>
                    <a:pt x="901" y="3"/>
                    <a:pt x="903" y="2"/>
                    <a:pt x="906" y="2"/>
                  </a:cubicBezTo>
                  <a:cubicBezTo>
                    <a:pt x="908" y="2"/>
                    <a:pt x="911" y="2"/>
                    <a:pt x="915" y="2"/>
                  </a:cubicBezTo>
                  <a:cubicBezTo>
                    <a:pt x="963" y="64"/>
                    <a:pt x="963" y="64"/>
                    <a:pt x="963" y="64"/>
                  </a:cubicBezTo>
                  <a:close/>
                  <a:moveTo>
                    <a:pt x="997" y="99"/>
                  </a:moveTo>
                  <a:cubicBezTo>
                    <a:pt x="997" y="93"/>
                    <a:pt x="997" y="93"/>
                    <a:pt x="997" y="93"/>
                  </a:cubicBezTo>
                  <a:cubicBezTo>
                    <a:pt x="997" y="93"/>
                    <a:pt x="997" y="93"/>
                    <a:pt x="997" y="93"/>
                  </a:cubicBezTo>
                  <a:cubicBezTo>
                    <a:pt x="1002" y="93"/>
                    <a:pt x="1005" y="92"/>
                    <a:pt x="1006" y="91"/>
                  </a:cubicBezTo>
                  <a:cubicBezTo>
                    <a:pt x="1007" y="89"/>
                    <a:pt x="1008" y="86"/>
                    <a:pt x="1008" y="81"/>
                  </a:cubicBezTo>
                  <a:cubicBezTo>
                    <a:pt x="1008" y="16"/>
                    <a:pt x="1008" y="16"/>
                    <a:pt x="1008" y="16"/>
                  </a:cubicBezTo>
                  <a:cubicBezTo>
                    <a:pt x="1008" y="13"/>
                    <a:pt x="1007" y="11"/>
                    <a:pt x="1006" y="9"/>
                  </a:cubicBezTo>
                  <a:cubicBezTo>
                    <a:pt x="1004" y="8"/>
                    <a:pt x="1002" y="7"/>
                    <a:pt x="998" y="7"/>
                  </a:cubicBezTo>
                  <a:cubicBezTo>
                    <a:pt x="997" y="7"/>
                    <a:pt x="997" y="7"/>
                    <a:pt x="997" y="7"/>
                  </a:cubicBezTo>
                  <a:cubicBezTo>
                    <a:pt x="997" y="2"/>
                    <a:pt x="997" y="2"/>
                    <a:pt x="997" y="2"/>
                  </a:cubicBezTo>
                  <a:cubicBezTo>
                    <a:pt x="1001" y="2"/>
                    <a:pt x="1004" y="2"/>
                    <a:pt x="1008" y="2"/>
                  </a:cubicBezTo>
                  <a:cubicBezTo>
                    <a:pt x="1012" y="3"/>
                    <a:pt x="1016" y="3"/>
                    <a:pt x="1020" y="3"/>
                  </a:cubicBezTo>
                  <a:cubicBezTo>
                    <a:pt x="1023" y="3"/>
                    <a:pt x="1027" y="3"/>
                    <a:pt x="1031" y="2"/>
                  </a:cubicBezTo>
                  <a:cubicBezTo>
                    <a:pt x="1035" y="2"/>
                    <a:pt x="1039" y="2"/>
                    <a:pt x="1042" y="2"/>
                  </a:cubicBezTo>
                  <a:cubicBezTo>
                    <a:pt x="1042" y="7"/>
                    <a:pt x="1042" y="7"/>
                    <a:pt x="1042" y="7"/>
                  </a:cubicBezTo>
                  <a:cubicBezTo>
                    <a:pt x="1038" y="7"/>
                    <a:pt x="1035" y="8"/>
                    <a:pt x="1034" y="9"/>
                  </a:cubicBezTo>
                  <a:cubicBezTo>
                    <a:pt x="1032" y="10"/>
                    <a:pt x="1031" y="12"/>
                    <a:pt x="1031" y="16"/>
                  </a:cubicBezTo>
                  <a:cubicBezTo>
                    <a:pt x="1031" y="81"/>
                    <a:pt x="1031" y="81"/>
                    <a:pt x="1031" y="81"/>
                  </a:cubicBezTo>
                  <a:cubicBezTo>
                    <a:pt x="1031" y="86"/>
                    <a:pt x="1032" y="89"/>
                    <a:pt x="1033" y="91"/>
                  </a:cubicBezTo>
                  <a:cubicBezTo>
                    <a:pt x="1035" y="92"/>
                    <a:pt x="1038" y="93"/>
                    <a:pt x="1042" y="93"/>
                  </a:cubicBezTo>
                  <a:cubicBezTo>
                    <a:pt x="1042" y="93"/>
                    <a:pt x="1042" y="93"/>
                    <a:pt x="1042" y="93"/>
                  </a:cubicBezTo>
                  <a:cubicBezTo>
                    <a:pt x="1042" y="99"/>
                    <a:pt x="1042" y="99"/>
                    <a:pt x="1042" y="99"/>
                  </a:cubicBezTo>
                  <a:cubicBezTo>
                    <a:pt x="1039" y="98"/>
                    <a:pt x="1035" y="98"/>
                    <a:pt x="1031" y="98"/>
                  </a:cubicBezTo>
                  <a:cubicBezTo>
                    <a:pt x="1027" y="98"/>
                    <a:pt x="1024" y="98"/>
                    <a:pt x="1020" y="98"/>
                  </a:cubicBezTo>
                  <a:cubicBezTo>
                    <a:pt x="1016" y="98"/>
                    <a:pt x="1013" y="98"/>
                    <a:pt x="1009" y="98"/>
                  </a:cubicBezTo>
                  <a:cubicBezTo>
                    <a:pt x="1005" y="98"/>
                    <a:pt x="1001" y="98"/>
                    <a:pt x="997" y="99"/>
                  </a:cubicBezTo>
                  <a:cubicBezTo>
                    <a:pt x="997" y="99"/>
                    <a:pt x="997" y="99"/>
                    <a:pt x="997" y="99"/>
                  </a:cubicBezTo>
                  <a:close/>
                  <a:moveTo>
                    <a:pt x="1107" y="100"/>
                  </a:moveTo>
                  <a:cubicBezTo>
                    <a:pt x="1097" y="100"/>
                    <a:pt x="1097" y="100"/>
                    <a:pt x="1097" y="100"/>
                  </a:cubicBezTo>
                  <a:cubicBezTo>
                    <a:pt x="1066" y="16"/>
                    <a:pt x="1066" y="16"/>
                    <a:pt x="1066" y="16"/>
                  </a:cubicBezTo>
                  <a:cubicBezTo>
                    <a:pt x="1065" y="13"/>
                    <a:pt x="1064" y="11"/>
                    <a:pt x="1062" y="9"/>
                  </a:cubicBezTo>
                  <a:cubicBezTo>
                    <a:pt x="1060" y="8"/>
                    <a:pt x="1058" y="7"/>
                    <a:pt x="1055" y="7"/>
                  </a:cubicBezTo>
                  <a:cubicBezTo>
                    <a:pt x="1054" y="7"/>
                    <a:pt x="1054" y="7"/>
                    <a:pt x="1054" y="7"/>
                  </a:cubicBezTo>
                  <a:cubicBezTo>
                    <a:pt x="1054" y="2"/>
                    <a:pt x="1054" y="2"/>
                    <a:pt x="1054" y="2"/>
                  </a:cubicBezTo>
                  <a:cubicBezTo>
                    <a:pt x="1058" y="2"/>
                    <a:pt x="1062" y="2"/>
                    <a:pt x="1066" y="2"/>
                  </a:cubicBezTo>
                  <a:cubicBezTo>
                    <a:pt x="1070" y="2"/>
                    <a:pt x="1073" y="3"/>
                    <a:pt x="1076" y="3"/>
                  </a:cubicBezTo>
                  <a:cubicBezTo>
                    <a:pt x="1079" y="3"/>
                    <a:pt x="1081" y="2"/>
                    <a:pt x="1085" y="2"/>
                  </a:cubicBezTo>
                  <a:cubicBezTo>
                    <a:pt x="1088" y="2"/>
                    <a:pt x="1093" y="2"/>
                    <a:pt x="1100" y="2"/>
                  </a:cubicBezTo>
                  <a:cubicBezTo>
                    <a:pt x="1100" y="7"/>
                    <a:pt x="1100" y="7"/>
                    <a:pt x="1100" y="7"/>
                  </a:cubicBezTo>
                  <a:cubicBezTo>
                    <a:pt x="1099" y="7"/>
                    <a:pt x="1099" y="7"/>
                    <a:pt x="1099" y="7"/>
                  </a:cubicBezTo>
                  <a:cubicBezTo>
                    <a:pt x="1095" y="7"/>
                    <a:pt x="1093" y="8"/>
                    <a:pt x="1092" y="8"/>
                  </a:cubicBezTo>
                  <a:cubicBezTo>
                    <a:pt x="1090" y="9"/>
                    <a:pt x="1089" y="11"/>
                    <a:pt x="1089" y="12"/>
                  </a:cubicBezTo>
                  <a:cubicBezTo>
                    <a:pt x="1089" y="13"/>
                    <a:pt x="1089" y="13"/>
                    <a:pt x="1090" y="14"/>
                  </a:cubicBezTo>
                  <a:cubicBezTo>
                    <a:pt x="1090" y="14"/>
                    <a:pt x="1090" y="15"/>
                    <a:pt x="1090" y="15"/>
                  </a:cubicBezTo>
                  <a:cubicBezTo>
                    <a:pt x="1110" y="74"/>
                    <a:pt x="1110" y="74"/>
                    <a:pt x="1110" y="74"/>
                  </a:cubicBezTo>
                  <a:cubicBezTo>
                    <a:pt x="1133" y="16"/>
                    <a:pt x="1133" y="16"/>
                    <a:pt x="1133" y="16"/>
                  </a:cubicBezTo>
                  <a:cubicBezTo>
                    <a:pt x="1134" y="14"/>
                    <a:pt x="1134" y="14"/>
                    <a:pt x="1134" y="13"/>
                  </a:cubicBezTo>
                  <a:cubicBezTo>
                    <a:pt x="1134" y="12"/>
                    <a:pt x="1135" y="11"/>
                    <a:pt x="1135" y="11"/>
                  </a:cubicBezTo>
                  <a:cubicBezTo>
                    <a:pt x="1135" y="9"/>
                    <a:pt x="1134" y="9"/>
                    <a:pt x="1132" y="8"/>
                  </a:cubicBezTo>
                  <a:cubicBezTo>
                    <a:pt x="1131" y="7"/>
                    <a:pt x="1128" y="7"/>
                    <a:pt x="1125" y="7"/>
                  </a:cubicBezTo>
                  <a:cubicBezTo>
                    <a:pt x="1124" y="7"/>
                    <a:pt x="1124" y="7"/>
                    <a:pt x="1124" y="7"/>
                  </a:cubicBezTo>
                  <a:cubicBezTo>
                    <a:pt x="1124" y="2"/>
                    <a:pt x="1124" y="2"/>
                    <a:pt x="1124" y="2"/>
                  </a:cubicBezTo>
                  <a:cubicBezTo>
                    <a:pt x="1126" y="2"/>
                    <a:pt x="1128" y="2"/>
                    <a:pt x="1130" y="2"/>
                  </a:cubicBezTo>
                  <a:cubicBezTo>
                    <a:pt x="1132" y="2"/>
                    <a:pt x="1135" y="2"/>
                    <a:pt x="1137" y="2"/>
                  </a:cubicBezTo>
                  <a:cubicBezTo>
                    <a:pt x="1140" y="2"/>
                    <a:pt x="1143" y="2"/>
                    <a:pt x="1145" y="2"/>
                  </a:cubicBezTo>
                  <a:cubicBezTo>
                    <a:pt x="1147" y="2"/>
                    <a:pt x="1149" y="2"/>
                    <a:pt x="1151" y="2"/>
                  </a:cubicBezTo>
                  <a:cubicBezTo>
                    <a:pt x="1152" y="7"/>
                    <a:pt x="1152" y="7"/>
                    <a:pt x="1152" y="7"/>
                  </a:cubicBezTo>
                  <a:cubicBezTo>
                    <a:pt x="1149" y="7"/>
                    <a:pt x="1148" y="8"/>
                    <a:pt x="1146" y="9"/>
                  </a:cubicBezTo>
                  <a:cubicBezTo>
                    <a:pt x="1145" y="10"/>
                    <a:pt x="1144" y="12"/>
                    <a:pt x="1143" y="15"/>
                  </a:cubicBezTo>
                  <a:cubicBezTo>
                    <a:pt x="1107" y="100"/>
                    <a:pt x="1107" y="100"/>
                    <a:pt x="1107" y="100"/>
                  </a:cubicBezTo>
                  <a:close/>
                  <a:moveTo>
                    <a:pt x="1163" y="99"/>
                  </a:moveTo>
                  <a:cubicBezTo>
                    <a:pt x="1163" y="93"/>
                    <a:pt x="1163" y="93"/>
                    <a:pt x="1163" y="93"/>
                  </a:cubicBezTo>
                  <a:cubicBezTo>
                    <a:pt x="1165" y="93"/>
                    <a:pt x="1165" y="93"/>
                    <a:pt x="1165" y="93"/>
                  </a:cubicBezTo>
                  <a:cubicBezTo>
                    <a:pt x="1168" y="93"/>
                    <a:pt x="1171" y="92"/>
                    <a:pt x="1173" y="91"/>
                  </a:cubicBezTo>
                  <a:cubicBezTo>
                    <a:pt x="1174" y="89"/>
                    <a:pt x="1175" y="87"/>
                    <a:pt x="1175" y="84"/>
                  </a:cubicBezTo>
                  <a:cubicBezTo>
                    <a:pt x="1175" y="16"/>
                    <a:pt x="1175" y="16"/>
                    <a:pt x="1175" y="16"/>
                  </a:cubicBezTo>
                  <a:cubicBezTo>
                    <a:pt x="1175" y="13"/>
                    <a:pt x="1174" y="11"/>
                    <a:pt x="1173" y="10"/>
                  </a:cubicBezTo>
                  <a:cubicBezTo>
                    <a:pt x="1171" y="8"/>
                    <a:pt x="1168" y="7"/>
                    <a:pt x="1165" y="7"/>
                  </a:cubicBezTo>
                  <a:cubicBezTo>
                    <a:pt x="1163" y="7"/>
                    <a:pt x="1163" y="7"/>
                    <a:pt x="1163" y="7"/>
                  </a:cubicBezTo>
                  <a:cubicBezTo>
                    <a:pt x="1163" y="2"/>
                    <a:pt x="1163" y="2"/>
                    <a:pt x="1163" y="2"/>
                  </a:cubicBezTo>
                  <a:cubicBezTo>
                    <a:pt x="1166" y="2"/>
                    <a:pt x="1170" y="2"/>
                    <a:pt x="1174" y="2"/>
                  </a:cubicBezTo>
                  <a:cubicBezTo>
                    <a:pt x="1178" y="2"/>
                    <a:pt x="1184" y="2"/>
                    <a:pt x="1193" y="2"/>
                  </a:cubicBezTo>
                  <a:cubicBezTo>
                    <a:pt x="1207" y="2"/>
                    <a:pt x="1207" y="2"/>
                    <a:pt x="1207" y="2"/>
                  </a:cubicBezTo>
                  <a:cubicBezTo>
                    <a:pt x="1214" y="2"/>
                    <a:pt x="1219" y="2"/>
                    <a:pt x="1224" y="2"/>
                  </a:cubicBezTo>
                  <a:cubicBezTo>
                    <a:pt x="1228" y="2"/>
                    <a:pt x="1232" y="2"/>
                    <a:pt x="1236" y="2"/>
                  </a:cubicBezTo>
                  <a:cubicBezTo>
                    <a:pt x="1236" y="5"/>
                    <a:pt x="1236" y="9"/>
                    <a:pt x="1236" y="13"/>
                  </a:cubicBezTo>
                  <a:cubicBezTo>
                    <a:pt x="1236" y="16"/>
                    <a:pt x="1237" y="21"/>
                    <a:pt x="1237" y="25"/>
                  </a:cubicBezTo>
                  <a:cubicBezTo>
                    <a:pt x="1231" y="25"/>
                    <a:pt x="1231" y="25"/>
                    <a:pt x="1231" y="25"/>
                  </a:cubicBezTo>
                  <a:cubicBezTo>
                    <a:pt x="1230" y="19"/>
                    <a:pt x="1228" y="15"/>
                    <a:pt x="1225" y="12"/>
                  </a:cubicBezTo>
                  <a:cubicBezTo>
                    <a:pt x="1222" y="10"/>
                    <a:pt x="1216" y="9"/>
                    <a:pt x="1208" y="9"/>
                  </a:cubicBezTo>
                  <a:cubicBezTo>
                    <a:pt x="1204" y="9"/>
                    <a:pt x="1201" y="9"/>
                    <a:pt x="1200" y="10"/>
                  </a:cubicBezTo>
                  <a:cubicBezTo>
                    <a:pt x="1198" y="10"/>
                    <a:pt x="1198" y="12"/>
                    <a:pt x="1198" y="13"/>
                  </a:cubicBezTo>
                  <a:cubicBezTo>
                    <a:pt x="1198" y="46"/>
                    <a:pt x="1198" y="46"/>
                    <a:pt x="1198" y="46"/>
                  </a:cubicBezTo>
                  <a:cubicBezTo>
                    <a:pt x="1210" y="46"/>
                    <a:pt x="1210" y="46"/>
                    <a:pt x="1210" y="46"/>
                  </a:cubicBezTo>
                  <a:cubicBezTo>
                    <a:pt x="1214" y="46"/>
                    <a:pt x="1217" y="45"/>
                    <a:pt x="1219" y="42"/>
                  </a:cubicBezTo>
                  <a:cubicBezTo>
                    <a:pt x="1221" y="40"/>
                    <a:pt x="1222" y="37"/>
                    <a:pt x="1222" y="32"/>
                  </a:cubicBezTo>
                  <a:cubicBezTo>
                    <a:pt x="1227" y="32"/>
                    <a:pt x="1227" y="32"/>
                    <a:pt x="1227" y="32"/>
                  </a:cubicBezTo>
                  <a:cubicBezTo>
                    <a:pt x="1227" y="35"/>
                    <a:pt x="1227" y="38"/>
                    <a:pt x="1227" y="40"/>
                  </a:cubicBezTo>
                  <a:cubicBezTo>
                    <a:pt x="1227" y="43"/>
                    <a:pt x="1227" y="46"/>
                    <a:pt x="1227" y="49"/>
                  </a:cubicBezTo>
                  <a:cubicBezTo>
                    <a:pt x="1227" y="52"/>
                    <a:pt x="1227" y="54"/>
                    <a:pt x="1227" y="57"/>
                  </a:cubicBezTo>
                  <a:cubicBezTo>
                    <a:pt x="1227" y="60"/>
                    <a:pt x="1227" y="63"/>
                    <a:pt x="1227" y="65"/>
                  </a:cubicBezTo>
                  <a:cubicBezTo>
                    <a:pt x="1222" y="65"/>
                    <a:pt x="1222" y="65"/>
                    <a:pt x="1222" y="65"/>
                  </a:cubicBezTo>
                  <a:cubicBezTo>
                    <a:pt x="1222" y="60"/>
                    <a:pt x="1221" y="57"/>
                    <a:pt x="1219" y="55"/>
                  </a:cubicBezTo>
                  <a:cubicBezTo>
                    <a:pt x="1218" y="53"/>
                    <a:pt x="1215" y="52"/>
                    <a:pt x="1211" y="52"/>
                  </a:cubicBezTo>
                  <a:cubicBezTo>
                    <a:pt x="1198" y="52"/>
                    <a:pt x="1198" y="52"/>
                    <a:pt x="1198" y="52"/>
                  </a:cubicBezTo>
                  <a:cubicBezTo>
                    <a:pt x="1198" y="85"/>
                    <a:pt x="1198" y="85"/>
                    <a:pt x="1198" y="85"/>
                  </a:cubicBezTo>
                  <a:cubicBezTo>
                    <a:pt x="1198" y="87"/>
                    <a:pt x="1198" y="88"/>
                    <a:pt x="1199" y="89"/>
                  </a:cubicBezTo>
                  <a:cubicBezTo>
                    <a:pt x="1201" y="90"/>
                    <a:pt x="1202" y="90"/>
                    <a:pt x="1205" y="90"/>
                  </a:cubicBezTo>
                  <a:cubicBezTo>
                    <a:pt x="1216" y="90"/>
                    <a:pt x="1224" y="89"/>
                    <a:pt x="1229" y="86"/>
                  </a:cubicBezTo>
                  <a:cubicBezTo>
                    <a:pt x="1233" y="83"/>
                    <a:pt x="1236" y="78"/>
                    <a:pt x="1238" y="71"/>
                  </a:cubicBezTo>
                  <a:cubicBezTo>
                    <a:pt x="1244" y="71"/>
                    <a:pt x="1244" y="71"/>
                    <a:pt x="1244" y="71"/>
                  </a:cubicBezTo>
                  <a:cubicBezTo>
                    <a:pt x="1243" y="76"/>
                    <a:pt x="1242" y="80"/>
                    <a:pt x="1241" y="85"/>
                  </a:cubicBezTo>
                  <a:cubicBezTo>
                    <a:pt x="1240" y="90"/>
                    <a:pt x="1239" y="94"/>
                    <a:pt x="1239" y="99"/>
                  </a:cubicBezTo>
                  <a:cubicBezTo>
                    <a:pt x="1233" y="98"/>
                    <a:pt x="1228" y="98"/>
                    <a:pt x="1221" y="98"/>
                  </a:cubicBezTo>
                  <a:cubicBezTo>
                    <a:pt x="1215" y="98"/>
                    <a:pt x="1208" y="98"/>
                    <a:pt x="1201" y="98"/>
                  </a:cubicBezTo>
                  <a:cubicBezTo>
                    <a:pt x="1193" y="98"/>
                    <a:pt x="1186" y="98"/>
                    <a:pt x="1180" y="98"/>
                  </a:cubicBezTo>
                  <a:cubicBezTo>
                    <a:pt x="1174" y="98"/>
                    <a:pt x="1168" y="98"/>
                    <a:pt x="1163" y="99"/>
                  </a:cubicBezTo>
                  <a:cubicBezTo>
                    <a:pt x="1163" y="99"/>
                    <a:pt x="1163" y="99"/>
                    <a:pt x="1163" y="99"/>
                  </a:cubicBezTo>
                  <a:close/>
                  <a:moveTo>
                    <a:pt x="1259" y="99"/>
                  </a:moveTo>
                  <a:cubicBezTo>
                    <a:pt x="1259" y="93"/>
                    <a:pt x="1259" y="93"/>
                    <a:pt x="1259" y="93"/>
                  </a:cubicBezTo>
                  <a:cubicBezTo>
                    <a:pt x="1263" y="93"/>
                    <a:pt x="1266" y="92"/>
                    <a:pt x="1267" y="91"/>
                  </a:cubicBezTo>
                  <a:cubicBezTo>
                    <a:pt x="1269" y="89"/>
                    <a:pt x="1270" y="86"/>
                    <a:pt x="1270" y="81"/>
                  </a:cubicBezTo>
                  <a:cubicBezTo>
                    <a:pt x="1270" y="16"/>
                    <a:pt x="1270" y="16"/>
                    <a:pt x="1270" y="16"/>
                  </a:cubicBezTo>
                  <a:cubicBezTo>
                    <a:pt x="1270" y="13"/>
                    <a:pt x="1269" y="11"/>
                    <a:pt x="1267" y="9"/>
                  </a:cubicBezTo>
                  <a:cubicBezTo>
                    <a:pt x="1266" y="8"/>
                    <a:pt x="1263" y="7"/>
                    <a:pt x="1260" y="7"/>
                  </a:cubicBezTo>
                  <a:cubicBezTo>
                    <a:pt x="1259" y="7"/>
                    <a:pt x="1259" y="7"/>
                    <a:pt x="1259" y="7"/>
                  </a:cubicBezTo>
                  <a:cubicBezTo>
                    <a:pt x="1259" y="2"/>
                    <a:pt x="1259" y="2"/>
                    <a:pt x="1259" y="2"/>
                  </a:cubicBezTo>
                  <a:cubicBezTo>
                    <a:pt x="1262" y="2"/>
                    <a:pt x="1265" y="2"/>
                    <a:pt x="1268" y="2"/>
                  </a:cubicBezTo>
                  <a:cubicBezTo>
                    <a:pt x="1271" y="2"/>
                    <a:pt x="1274" y="3"/>
                    <a:pt x="1277" y="3"/>
                  </a:cubicBezTo>
                  <a:cubicBezTo>
                    <a:pt x="1281" y="3"/>
                    <a:pt x="1286" y="2"/>
                    <a:pt x="1292" y="2"/>
                  </a:cubicBezTo>
                  <a:cubicBezTo>
                    <a:pt x="1298" y="2"/>
                    <a:pt x="1302" y="2"/>
                    <a:pt x="1305" y="2"/>
                  </a:cubicBezTo>
                  <a:cubicBezTo>
                    <a:pt x="1316" y="2"/>
                    <a:pt x="1325" y="4"/>
                    <a:pt x="1330" y="7"/>
                  </a:cubicBezTo>
                  <a:cubicBezTo>
                    <a:pt x="1336" y="11"/>
                    <a:pt x="1339" y="17"/>
                    <a:pt x="1339" y="24"/>
                  </a:cubicBezTo>
                  <a:cubicBezTo>
                    <a:pt x="1339" y="30"/>
                    <a:pt x="1337" y="36"/>
                    <a:pt x="1333" y="40"/>
                  </a:cubicBezTo>
                  <a:cubicBezTo>
                    <a:pt x="1329" y="45"/>
                    <a:pt x="1323" y="49"/>
                    <a:pt x="1316" y="51"/>
                  </a:cubicBezTo>
                  <a:cubicBezTo>
                    <a:pt x="1320" y="53"/>
                    <a:pt x="1324" y="56"/>
                    <a:pt x="1328" y="61"/>
                  </a:cubicBezTo>
                  <a:cubicBezTo>
                    <a:pt x="1332" y="66"/>
                    <a:pt x="1336" y="73"/>
                    <a:pt x="1341" y="82"/>
                  </a:cubicBezTo>
                  <a:cubicBezTo>
                    <a:pt x="1341" y="83"/>
                    <a:pt x="1341" y="84"/>
                    <a:pt x="1342" y="85"/>
                  </a:cubicBezTo>
                  <a:cubicBezTo>
                    <a:pt x="1345" y="92"/>
                    <a:pt x="1348" y="95"/>
                    <a:pt x="1351" y="95"/>
                  </a:cubicBezTo>
                  <a:cubicBezTo>
                    <a:pt x="1352" y="95"/>
                    <a:pt x="1352" y="95"/>
                    <a:pt x="1352" y="95"/>
                  </a:cubicBezTo>
                  <a:cubicBezTo>
                    <a:pt x="1352" y="100"/>
                    <a:pt x="1352" y="100"/>
                    <a:pt x="1352" y="100"/>
                  </a:cubicBezTo>
                  <a:cubicBezTo>
                    <a:pt x="1347" y="99"/>
                    <a:pt x="1341" y="99"/>
                    <a:pt x="1334" y="98"/>
                  </a:cubicBezTo>
                  <a:cubicBezTo>
                    <a:pt x="1333" y="98"/>
                    <a:pt x="1333" y="98"/>
                    <a:pt x="1332" y="98"/>
                  </a:cubicBezTo>
                  <a:cubicBezTo>
                    <a:pt x="1328" y="98"/>
                    <a:pt x="1326" y="97"/>
                    <a:pt x="1324" y="96"/>
                  </a:cubicBezTo>
                  <a:cubicBezTo>
                    <a:pt x="1322" y="94"/>
                    <a:pt x="1320" y="91"/>
                    <a:pt x="1318" y="86"/>
                  </a:cubicBezTo>
                  <a:cubicBezTo>
                    <a:pt x="1317" y="83"/>
                    <a:pt x="1316" y="80"/>
                    <a:pt x="1314" y="75"/>
                  </a:cubicBezTo>
                  <a:cubicBezTo>
                    <a:pt x="1310" y="64"/>
                    <a:pt x="1307" y="58"/>
                    <a:pt x="1304" y="56"/>
                  </a:cubicBezTo>
                  <a:cubicBezTo>
                    <a:pt x="1303" y="56"/>
                    <a:pt x="1302" y="55"/>
                    <a:pt x="1301" y="55"/>
                  </a:cubicBezTo>
                  <a:cubicBezTo>
                    <a:pt x="1300" y="55"/>
                    <a:pt x="1298" y="55"/>
                    <a:pt x="1296" y="55"/>
                  </a:cubicBezTo>
                  <a:cubicBezTo>
                    <a:pt x="1296" y="55"/>
                    <a:pt x="1295" y="55"/>
                    <a:pt x="1295" y="55"/>
                  </a:cubicBezTo>
                  <a:cubicBezTo>
                    <a:pt x="1294" y="55"/>
                    <a:pt x="1293" y="55"/>
                    <a:pt x="1292" y="55"/>
                  </a:cubicBezTo>
                  <a:cubicBezTo>
                    <a:pt x="1292" y="81"/>
                    <a:pt x="1292" y="81"/>
                    <a:pt x="1292" y="81"/>
                  </a:cubicBezTo>
                  <a:cubicBezTo>
                    <a:pt x="1292" y="86"/>
                    <a:pt x="1293" y="89"/>
                    <a:pt x="1294" y="90"/>
                  </a:cubicBezTo>
                  <a:cubicBezTo>
                    <a:pt x="1295" y="92"/>
                    <a:pt x="1298" y="93"/>
                    <a:pt x="1302" y="93"/>
                  </a:cubicBezTo>
                  <a:cubicBezTo>
                    <a:pt x="1302" y="99"/>
                    <a:pt x="1302" y="99"/>
                    <a:pt x="1302" y="99"/>
                  </a:cubicBezTo>
                  <a:cubicBezTo>
                    <a:pt x="1297" y="98"/>
                    <a:pt x="1292" y="98"/>
                    <a:pt x="1289" y="98"/>
                  </a:cubicBezTo>
                  <a:cubicBezTo>
                    <a:pt x="1285" y="98"/>
                    <a:pt x="1282" y="98"/>
                    <a:pt x="1281" y="98"/>
                  </a:cubicBezTo>
                  <a:cubicBezTo>
                    <a:pt x="1277" y="98"/>
                    <a:pt x="1274" y="98"/>
                    <a:pt x="1270" y="98"/>
                  </a:cubicBezTo>
                  <a:cubicBezTo>
                    <a:pt x="1267" y="98"/>
                    <a:pt x="1263" y="98"/>
                    <a:pt x="1259" y="99"/>
                  </a:cubicBezTo>
                  <a:cubicBezTo>
                    <a:pt x="1259" y="99"/>
                    <a:pt x="1259" y="99"/>
                    <a:pt x="1259" y="99"/>
                  </a:cubicBezTo>
                  <a:close/>
                  <a:moveTo>
                    <a:pt x="1292" y="48"/>
                  </a:moveTo>
                  <a:cubicBezTo>
                    <a:pt x="1298" y="48"/>
                    <a:pt x="1298" y="48"/>
                    <a:pt x="1298" y="48"/>
                  </a:cubicBezTo>
                  <a:cubicBezTo>
                    <a:pt x="1305" y="48"/>
                    <a:pt x="1310" y="46"/>
                    <a:pt x="1313" y="43"/>
                  </a:cubicBezTo>
                  <a:cubicBezTo>
                    <a:pt x="1316" y="40"/>
                    <a:pt x="1318" y="35"/>
                    <a:pt x="1318" y="28"/>
                  </a:cubicBezTo>
                  <a:cubicBezTo>
                    <a:pt x="1318" y="21"/>
                    <a:pt x="1316" y="16"/>
                    <a:pt x="1313" y="13"/>
                  </a:cubicBezTo>
                  <a:cubicBezTo>
                    <a:pt x="1309" y="10"/>
                    <a:pt x="1304" y="8"/>
                    <a:pt x="1297" y="8"/>
                  </a:cubicBezTo>
                  <a:cubicBezTo>
                    <a:pt x="1295" y="8"/>
                    <a:pt x="1295" y="8"/>
                    <a:pt x="1294" y="8"/>
                  </a:cubicBezTo>
                  <a:cubicBezTo>
                    <a:pt x="1293" y="9"/>
                    <a:pt x="1293" y="9"/>
                    <a:pt x="1292" y="9"/>
                  </a:cubicBezTo>
                  <a:cubicBezTo>
                    <a:pt x="1292" y="48"/>
                    <a:pt x="1292" y="48"/>
                    <a:pt x="1292" y="48"/>
                  </a:cubicBezTo>
                  <a:close/>
                  <a:moveTo>
                    <a:pt x="1370" y="66"/>
                  </a:moveTo>
                  <a:cubicBezTo>
                    <a:pt x="1380" y="66"/>
                    <a:pt x="1380" y="66"/>
                    <a:pt x="1380" y="66"/>
                  </a:cubicBezTo>
                  <a:cubicBezTo>
                    <a:pt x="1380" y="75"/>
                    <a:pt x="1382" y="81"/>
                    <a:pt x="1385" y="85"/>
                  </a:cubicBezTo>
                  <a:cubicBezTo>
                    <a:pt x="1389" y="90"/>
                    <a:pt x="1394" y="92"/>
                    <a:pt x="1400" y="92"/>
                  </a:cubicBezTo>
                  <a:cubicBezTo>
                    <a:pt x="1406" y="92"/>
                    <a:pt x="1410" y="90"/>
                    <a:pt x="1413" y="88"/>
                  </a:cubicBezTo>
                  <a:cubicBezTo>
                    <a:pt x="1416" y="85"/>
                    <a:pt x="1418" y="82"/>
                    <a:pt x="1418" y="77"/>
                  </a:cubicBezTo>
                  <a:cubicBezTo>
                    <a:pt x="1418" y="74"/>
                    <a:pt x="1417" y="71"/>
                    <a:pt x="1415" y="68"/>
                  </a:cubicBezTo>
                  <a:cubicBezTo>
                    <a:pt x="1413" y="66"/>
                    <a:pt x="1408" y="63"/>
                    <a:pt x="1400" y="60"/>
                  </a:cubicBezTo>
                  <a:cubicBezTo>
                    <a:pt x="1389" y="55"/>
                    <a:pt x="1381" y="51"/>
                    <a:pt x="1377" y="46"/>
                  </a:cubicBezTo>
                  <a:cubicBezTo>
                    <a:pt x="1373" y="41"/>
                    <a:pt x="1371" y="36"/>
                    <a:pt x="1371" y="29"/>
                  </a:cubicBezTo>
                  <a:cubicBezTo>
                    <a:pt x="1371" y="20"/>
                    <a:pt x="1374" y="13"/>
                    <a:pt x="1380" y="8"/>
                  </a:cubicBezTo>
                  <a:cubicBezTo>
                    <a:pt x="1386" y="2"/>
                    <a:pt x="1393" y="0"/>
                    <a:pt x="1403" y="0"/>
                  </a:cubicBezTo>
                  <a:cubicBezTo>
                    <a:pt x="1407" y="0"/>
                    <a:pt x="1411" y="0"/>
                    <a:pt x="1415" y="1"/>
                  </a:cubicBezTo>
                  <a:cubicBezTo>
                    <a:pt x="1420" y="1"/>
                    <a:pt x="1425" y="2"/>
                    <a:pt x="1431" y="3"/>
                  </a:cubicBezTo>
                  <a:cubicBezTo>
                    <a:pt x="1431" y="4"/>
                    <a:pt x="1431" y="4"/>
                    <a:pt x="1431" y="4"/>
                  </a:cubicBezTo>
                  <a:cubicBezTo>
                    <a:pt x="1431" y="9"/>
                    <a:pt x="1431" y="14"/>
                    <a:pt x="1431" y="17"/>
                  </a:cubicBezTo>
                  <a:cubicBezTo>
                    <a:pt x="1431" y="19"/>
                    <a:pt x="1431" y="23"/>
                    <a:pt x="1431" y="29"/>
                  </a:cubicBezTo>
                  <a:cubicBezTo>
                    <a:pt x="1431" y="29"/>
                    <a:pt x="1431" y="29"/>
                    <a:pt x="1431" y="29"/>
                  </a:cubicBezTo>
                  <a:cubicBezTo>
                    <a:pt x="1423" y="29"/>
                    <a:pt x="1423" y="29"/>
                    <a:pt x="1423" y="29"/>
                  </a:cubicBezTo>
                  <a:cubicBezTo>
                    <a:pt x="1423" y="22"/>
                    <a:pt x="1421" y="17"/>
                    <a:pt x="1418" y="13"/>
                  </a:cubicBezTo>
                  <a:cubicBezTo>
                    <a:pt x="1415" y="10"/>
                    <a:pt x="1410" y="8"/>
                    <a:pt x="1404" y="8"/>
                  </a:cubicBezTo>
                  <a:cubicBezTo>
                    <a:pt x="1400" y="8"/>
                    <a:pt x="1396" y="9"/>
                    <a:pt x="1393" y="11"/>
                  </a:cubicBezTo>
                  <a:cubicBezTo>
                    <a:pt x="1391" y="14"/>
                    <a:pt x="1389" y="17"/>
                    <a:pt x="1389" y="21"/>
                  </a:cubicBezTo>
                  <a:cubicBezTo>
                    <a:pt x="1389" y="24"/>
                    <a:pt x="1390" y="27"/>
                    <a:pt x="1392" y="30"/>
                  </a:cubicBezTo>
                  <a:cubicBezTo>
                    <a:pt x="1395" y="32"/>
                    <a:pt x="1400" y="35"/>
                    <a:pt x="1407" y="38"/>
                  </a:cubicBezTo>
                  <a:cubicBezTo>
                    <a:pt x="1408" y="38"/>
                    <a:pt x="1410" y="39"/>
                    <a:pt x="1412" y="40"/>
                  </a:cubicBezTo>
                  <a:cubicBezTo>
                    <a:pt x="1420" y="43"/>
                    <a:pt x="1426" y="46"/>
                    <a:pt x="1429" y="49"/>
                  </a:cubicBezTo>
                  <a:cubicBezTo>
                    <a:pt x="1432" y="51"/>
                    <a:pt x="1434" y="55"/>
                    <a:pt x="1435" y="58"/>
                  </a:cubicBezTo>
                  <a:cubicBezTo>
                    <a:pt x="1437" y="61"/>
                    <a:pt x="1437" y="65"/>
                    <a:pt x="1437" y="69"/>
                  </a:cubicBezTo>
                  <a:cubicBezTo>
                    <a:pt x="1437" y="79"/>
                    <a:pt x="1434" y="86"/>
                    <a:pt x="1428" y="92"/>
                  </a:cubicBezTo>
                  <a:cubicBezTo>
                    <a:pt x="1421" y="98"/>
                    <a:pt x="1413" y="101"/>
                    <a:pt x="1402" y="101"/>
                  </a:cubicBezTo>
                  <a:cubicBezTo>
                    <a:pt x="1396" y="101"/>
                    <a:pt x="1390" y="100"/>
                    <a:pt x="1385" y="99"/>
                  </a:cubicBezTo>
                  <a:cubicBezTo>
                    <a:pt x="1379" y="98"/>
                    <a:pt x="1374" y="96"/>
                    <a:pt x="1369" y="93"/>
                  </a:cubicBezTo>
                  <a:cubicBezTo>
                    <a:pt x="1370" y="90"/>
                    <a:pt x="1370" y="87"/>
                    <a:pt x="1370" y="83"/>
                  </a:cubicBezTo>
                  <a:cubicBezTo>
                    <a:pt x="1370" y="80"/>
                    <a:pt x="1370" y="77"/>
                    <a:pt x="1370" y="73"/>
                  </a:cubicBezTo>
                  <a:cubicBezTo>
                    <a:pt x="1370" y="71"/>
                    <a:pt x="1370" y="70"/>
                    <a:pt x="1370" y="69"/>
                  </a:cubicBezTo>
                  <a:cubicBezTo>
                    <a:pt x="1370" y="68"/>
                    <a:pt x="1370" y="67"/>
                    <a:pt x="1370" y="66"/>
                  </a:cubicBezTo>
                  <a:cubicBezTo>
                    <a:pt x="1370" y="66"/>
                    <a:pt x="1370" y="66"/>
                    <a:pt x="1370" y="66"/>
                  </a:cubicBezTo>
                  <a:close/>
                  <a:moveTo>
                    <a:pt x="1456" y="99"/>
                  </a:moveTo>
                  <a:cubicBezTo>
                    <a:pt x="1456" y="93"/>
                    <a:pt x="1456" y="93"/>
                    <a:pt x="1456" y="93"/>
                  </a:cubicBezTo>
                  <a:cubicBezTo>
                    <a:pt x="1457" y="93"/>
                    <a:pt x="1457" y="93"/>
                    <a:pt x="1457" y="93"/>
                  </a:cubicBezTo>
                  <a:cubicBezTo>
                    <a:pt x="1461" y="93"/>
                    <a:pt x="1464" y="92"/>
                    <a:pt x="1466" y="91"/>
                  </a:cubicBezTo>
                  <a:cubicBezTo>
                    <a:pt x="1467" y="89"/>
                    <a:pt x="1468" y="86"/>
                    <a:pt x="1468" y="81"/>
                  </a:cubicBezTo>
                  <a:cubicBezTo>
                    <a:pt x="1468" y="16"/>
                    <a:pt x="1468" y="16"/>
                    <a:pt x="1468" y="16"/>
                  </a:cubicBezTo>
                  <a:cubicBezTo>
                    <a:pt x="1468" y="13"/>
                    <a:pt x="1467" y="11"/>
                    <a:pt x="1465" y="9"/>
                  </a:cubicBezTo>
                  <a:cubicBezTo>
                    <a:pt x="1464" y="8"/>
                    <a:pt x="1461" y="7"/>
                    <a:pt x="1458" y="7"/>
                  </a:cubicBezTo>
                  <a:cubicBezTo>
                    <a:pt x="1456" y="7"/>
                    <a:pt x="1456" y="7"/>
                    <a:pt x="1456" y="7"/>
                  </a:cubicBezTo>
                  <a:cubicBezTo>
                    <a:pt x="1456" y="2"/>
                    <a:pt x="1456" y="2"/>
                    <a:pt x="1456" y="2"/>
                  </a:cubicBezTo>
                  <a:cubicBezTo>
                    <a:pt x="1460" y="2"/>
                    <a:pt x="1464" y="2"/>
                    <a:pt x="1468" y="2"/>
                  </a:cubicBezTo>
                  <a:cubicBezTo>
                    <a:pt x="1472" y="3"/>
                    <a:pt x="1475" y="3"/>
                    <a:pt x="1479" y="3"/>
                  </a:cubicBezTo>
                  <a:cubicBezTo>
                    <a:pt x="1483" y="3"/>
                    <a:pt x="1487" y="3"/>
                    <a:pt x="1491" y="2"/>
                  </a:cubicBezTo>
                  <a:cubicBezTo>
                    <a:pt x="1494" y="2"/>
                    <a:pt x="1498" y="2"/>
                    <a:pt x="1502" y="2"/>
                  </a:cubicBezTo>
                  <a:cubicBezTo>
                    <a:pt x="1502" y="7"/>
                    <a:pt x="1502" y="7"/>
                    <a:pt x="1502" y="7"/>
                  </a:cubicBezTo>
                  <a:cubicBezTo>
                    <a:pt x="1498" y="7"/>
                    <a:pt x="1495" y="8"/>
                    <a:pt x="1493" y="9"/>
                  </a:cubicBezTo>
                  <a:cubicBezTo>
                    <a:pt x="1492" y="10"/>
                    <a:pt x="1491" y="12"/>
                    <a:pt x="1491" y="16"/>
                  </a:cubicBezTo>
                  <a:cubicBezTo>
                    <a:pt x="1491" y="81"/>
                    <a:pt x="1491" y="81"/>
                    <a:pt x="1491" y="81"/>
                  </a:cubicBezTo>
                  <a:cubicBezTo>
                    <a:pt x="1491" y="86"/>
                    <a:pt x="1492" y="89"/>
                    <a:pt x="1493" y="91"/>
                  </a:cubicBezTo>
                  <a:cubicBezTo>
                    <a:pt x="1494" y="92"/>
                    <a:pt x="1497" y="93"/>
                    <a:pt x="1501" y="93"/>
                  </a:cubicBezTo>
                  <a:cubicBezTo>
                    <a:pt x="1502" y="93"/>
                    <a:pt x="1502" y="93"/>
                    <a:pt x="1502" y="93"/>
                  </a:cubicBezTo>
                  <a:cubicBezTo>
                    <a:pt x="1502" y="99"/>
                    <a:pt x="1502" y="99"/>
                    <a:pt x="1502" y="99"/>
                  </a:cubicBezTo>
                  <a:cubicBezTo>
                    <a:pt x="1498" y="98"/>
                    <a:pt x="1495" y="98"/>
                    <a:pt x="1491" y="98"/>
                  </a:cubicBezTo>
                  <a:cubicBezTo>
                    <a:pt x="1487" y="98"/>
                    <a:pt x="1483" y="98"/>
                    <a:pt x="1479" y="98"/>
                  </a:cubicBezTo>
                  <a:cubicBezTo>
                    <a:pt x="1476" y="98"/>
                    <a:pt x="1472" y="98"/>
                    <a:pt x="1469" y="98"/>
                  </a:cubicBezTo>
                  <a:cubicBezTo>
                    <a:pt x="1465" y="98"/>
                    <a:pt x="1461" y="98"/>
                    <a:pt x="1456" y="99"/>
                  </a:cubicBezTo>
                  <a:cubicBezTo>
                    <a:pt x="1456" y="99"/>
                    <a:pt x="1456" y="99"/>
                    <a:pt x="1456" y="99"/>
                  </a:cubicBezTo>
                  <a:close/>
                  <a:moveTo>
                    <a:pt x="1533" y="99"/>
                  </a:moveTo>
                  <a:cubicBezTo>
                    <a:pt x="1533" y="93"/>
                    <a:pt x="1533" y="93"/>
                    <a:pt x="1533" y="93"/>
                  </a:cubicBezTo>
                  <a:cubicBezTo>
                    <a:pt x="1535" y="93"/>
                    <a:pt x="1535" y="93"/>
                    <a:pt x="1535" y="93"/>
                  </a:cubicBezTo>
                  <a:cubicBezTo>
                    <a:pt x="1539" y="93"/>
                    <a:pt x="1542" y="92"/>
                    <a:pt x="1543" y="91"/>
                  </a:cubicBezTo>
                  <a:cubicBezTo>
                    <a:pt x="1545" y="89"/>
                    <a:pt x="1546" y="87"/>
                    <a:pt x="1546" y="84"/>
                  </a:cubicBezTo>
                  <a:cubicBezTo>
                    <a:pt x="1546" y="9"/>
                    <a:pt x="1546" y="9"/>
                    <a:pt x="1546" y="9"/>
                  </a:cubicBezTo>
                  <a:cubicBezTo>
                    <a:pt x="1543" y="9"/>
                    <a:pt x="1543" y="9"/>
                    <a:pt x="1543" y="9"/>
                  </a:cubicBezTo>
                  <a:cubicBezTo>
                    <a:pt x="1537" y="9"/>
                    <a:pt x="1532" y="10"/>
                    <a:pt x="1528" y="13"/>
                  </a:cubicBezTo>
                  <a:cubicBezTo>
                    <a:pt x="1525" y="16"/>
                    <a:pt x="1523" y="20"/>
                    <a:pt x="1522" y="26"/>
                  </a:cubicBezTo>
                  <a:cubicBezTo>
                    <a:pt x="1517" y="26"/>
                    <a:pt x="1517" y="26"/>
                    <a:pt x="1517" y="26"/>
                  </a:cubicBezTo>
                  <a:cubicBezTo>
                    <a:pt x="1518" y="2"/>
                    <a:pt x="1518" y="2"/>
                    <a:pt x="1518" y="2"/>
                  </a:cubicBezTo>
                  <a:cubicBezTo>
                    <a:pt x="1520" y="2"/>
                    <a:pt x="1522" y="2"/>
                    <a:pt x="1524" y="2"/>
                  </a:cubicBezTo>
                  <a:cubicBezTo>
                    <a:pt x="1527" y="2"/>
                    <a:pt x="1531" y="2"/>
                    <a:pt x="1536" y="2"/>
                  </a:cubicBezTo>
                  <a:cubicBezTo>
                    <a:pt x="1557" y="2"/>
                    <a:pt x="1557" y="2"/>
                    <a:pt x="1557" y="2"/>
                  </a:cubicBezTo>
                  <a:cubicBezTo>
                    <a:pt x="1578" y="2"/>
                    <a:pt x="1578" y="2"/>
                    <a:pt x="1578" y="2"/>
                  </a:cubicBezTo>
                  <a:cubicBezTo>
                    <a:pt x="1584" y="2"/>
                    <a:pt x="1588" y="2"/>
                    <a:pt x="1591" y="2"/>
                  </a:cubicBezTo>
                  <a:cubicBezTo>
                    <a:pt x="1593" y="2"/>
                    <a:pt x="1595" y="2"/>
                    <a:pt x="1597" y="2"/>
                  </a:cubicBezTo>
                  <a:cubicBezTo>
                    <a:pt x="1598" y="26"/>
                    <a:pt x="1598" y="26"/>
                    <a:pt x="1598" y="26"/>
                  </a:cubicBezTo>
                  <a:cubicBezTo>
                    <a:pt x="1593" y="26"/>
                    <a:pt x="1593" y="26"/>
                    <a:pt x="1593" y="26"/>
                  </a:cubicBezTo>
                  <a:cubicBezTo>
                    <a:pt x="1592" y="20"/>
                    <a:pt x="1590" y="16"/>
                    <a:pt x="1586" y="13"/>
                  </a:cubicBezTo>
                  <a:cubicBezTo>
                    <a:pt x="1583" y="10"/>
                    <a:pt x="1578" y="9"/>
                    <a:pt x="1572" y="9"/>
                  </a:cubicBezTo>
                  <a:cubicBezTo>
                    <a:pt x="1569" y="9"/>
                    <a:pt x="1569" y="9"/>
                    <a:pt x="1569" y="9"/>
                  </a:cubicBezTo>
                  <a:cubicBezTo>
                    <a:pt x="1569" y="83"/>
                    <a:pt x="1569" y="83"/>
                    <a:pt x="1569" y="83"/>
                  </a:cubicBezTo>
                  <a:cubicBezTo>
                    <a:pt x="1569" y="87"/>
                    <a:pt x="1570" y="89"/>
                    <a:pt x="1571" y="91"/>
                  </a:cubicBezTo>
                  <a:cubicBezTo>
                    <a:pt x="1573" y="92"/>
                    <a:pt x="1576" y="93"/>
                    <a:pt x="1580" y="93"/>
                  </a:cubicBezTo>
                  <a:cubicBezTo>
                    <a:pt x="1581" y="93"/>
                    <a:pt x="1581" y="93"/>
                    <a:pt x="1581" y="93"/>
                  </a:cubicBezTo>
                  <a:cubicBezTo>
                    <a:pt x="1581" y="99"/>
                    <a:pt x="1581" y="99"/>
                    <a:pt x="1581" y="99"/>
                  </a:cubicBezTo>
                  <a:cubicBezTo>
                    <a:pt x="1576" y="98"/>
                    <a:pt x="1571" y="98"/>
                    <a:pt x="1567" y="98"/>
                  </a:cubicBezTo>
                  <a:cubicBezTo>
                    <a:pt x="1563" y="98"/>
                    <a:pt x="1560" y="98"/>
                    <a:pt x="1557" y="98"/>
                  </a:cubicBezTo>
                  <a:cubicBezTo>
                    <a:pt x="1553" y="98"/>
                    <a:pt x="1549" y="98"/>
                    <a:pt x="1545" y="98"/>
                  </a:cubicBezTo>
                  <a:cubicBezTo>
                    <a:pt x="1541" y="98"/>
                    <a:pt x="1537" y="98"/>
                    <a:pt x="1533" y="99"/>
                  </a:cubicBezTo>
                  <a:cubicBezTo>
                    <a:pt x="1533" y="99"/>
                    <a:pt x="1533" y="99"/>
                    <a:pt x="1533" y="99"/>
                  </a:cubicBezTo>
                  <a:close/>
                  <a:moveTo>
                    <a:pt x="1666" y="56"/>
                  </a:moveTo>
                  <a:cubicBezTo>
                    <a:pt x="1666" y="81"/>
                    <a:pt x="1666" y="81"/>
                    <a:pt x="1666" y="81"/>
                  </a:cubicBezTo>
                  <a:cubicBezTo>
                    <a:pt x="1666" y="86"/>
                    <a:pt x="1667" y="89"/>
                    <a:pt x="1669" y="91"/>
                  </a:cubicBezTo>
                  <a:cubicBezTo>
                    <a:pt x="1670" y="92"/>
                    <a:pt x="1673" y="93"/>
                    <a:pt x="1678" y="93"/>
                  </a:cubicBezTo>
                  <a:cubicBezTo>
                    <a:pt x="1680" y="93"/>
                    <a:pt x="1680" y="93"/>
                    <a:pt x="1680" y="93"/>
                  </a:cubicBezTo>
                  <a:cubicBezTo>
                    <a:pt x="1680" y="99"/>
                    <a:pt x="1680" y="99"/>
                    <a:pt x="1680" y="99"/>
                  </a:cubicBezTo>
                  <a:cubicBezTo>
                    <a:pt x="1675" y="98"/>
                    <a:pt x="1670" y="98"/>
                    <a:pt x="1666" y="98"/>
                  </a:cubicBezTo>
                  <a:cubicBezTo>
                    <a:pt x="1661" y="98"/>
                    <a:pt x="1658" y="98"/>
                    <a:pt x="1656" y="98"/>
                  </a:cubicBezTo>
                  <a:cubicBezTo>
                    <a:pt x="1653" y="98"/>
                    <a:pt x="1649" y="98"/>
                    <a:pt x="1645" y="98"/>
                  </a:cubicBezTo>
                  <a:cubicBezTo>
                    <a:pt x="1640" y="98"/>
                    <a:pt x="1635" y="98"/>
                    <a:pt x="1630" y="99"/>
                  </a:cubicBezTo>
                  <a:cubicBezTo>
                    <a:pt x="1630" y="93"/>
                    <a:pt x="1630" y="93"/>
                    <a:pt x="1630" y="93"/>
                  </a:cubicBezTo>
                  <a:cubicBezTo>
                    <a:pt x="1633" y="93"/>
                    <a:pt x="1633" y="93"/>
                    <a:pt x="1633" y="93"/>
                  </a:cubicBezTo>
                  <a:cubicBezTo>
                    <a:pt x="1638" y="93"/>
                    <a:pt x="1641" y="92"/>
                    <a:pt x="1642" y="91"/>
                  </a:cubicBezTo>
                  <a:cubicBezTo>
                    <a:pt x="1644" y="89"/>
                    <a:pt x="1644" y="86"/>
                    <a:pt x="1644" y="81"/>
                  </a:cubicBezTo>
                  <a:cubicBezTo>
                    <a:pt x="1644" y="56"/>
                    <a:pt x="1644" y="56"/>
                    <a:pt x="1644" y="56"/>
                  </a:cubicBezTo>
                  <a:cubicBezTo>
                    <a:pt x="1619" y="14"/>
                    <a:pt x="1619" y="14"/>
                    <a:pt x="1619" y="14"/>
                  </a:cubicBezTo>
                  <a:cubicBezTo>
                    <a:pt x="1619" y="14"/>
                    <a:pt x="1619" y="14"/>
                    <a:pt x="1619" y="14"/>
                  </a:cubicBezTo>
                  <a:cubicBezTo>
                    <a:pt x="1616" y="10"/>
                    <a:pt x="1613" y="7"/>
                    <a:pt x="1610" y="7"/>
                  </a:cubicBezTo>
                  <a:cubicBezTo>
                    <a:pt x="1608" y="7"/>
                    <a:pt x="1608" y="7"/>
                    <a:pt x="1608" y="7"/>
                  </a:cubicBezTo>
                  <a:cubicBezTo>
                    <a:pt x="1608" y="2"/>
                    <a:pt x="1608" y="2"/>
                    <a:pt x="1608" y="2"/>
                  </a:cubicBezTo>
                  <a:cubicBezTo>
                    <a:pt x="1612" y="2"/>
                    <a:pt x="1616" y="2"/>
                    <a:pt x="1620" y="2"/>
                  </a:cubicBezTo>
                  <a:cubicBezTo>
                    <a:pt x="1623" y="2"/>
                    <a:pt x="1627" y="3"/>
                    <a:pt x="1631" y="3"/>
                  </a:cubicBezTo>
                  <a:cubicBezTo>
                    <a:pt x="1636" y="3"/>
                    <a:pt x="1640" y="2"/>
                    <a:pt x="1644" y="2"/>
                  </a:cubicBezTo>
                  <a:cubicBezTo>
                    <a:pt x="1648" y="2"/>
                    <a:pt x="1651" y="2"/>
                    <a:pt x="1654" y="2"/>
                  </a:cubicBezTo>
                  <a:cubicBezTo>
                    <a:pt x="1654" y="7"/>
                    <a:pt x="1654" y="7"/>
                    <a:pt x="1654" y="7"/>
                  </a:cubicBezTo>
                  <a:cubicBezTo>
                    <a:pt x="1650" y="7"/>
                    <a:pt x="1647" y="7"/>
                    <a:pt x="1646" y="8"/>
                  </a:cubicBezTo>
                  <a:cubicBezTo>
                    <a:pt x="1644" y="9"/>
                    <a:pt x="1644" y="9"/>
                    <a:pt x="1644" y="11"/>
                  </a:cubicBezTo>
                  <a:cubicBezTo>
                    <a:pt x="1644" y="11"/>
                    <a:pt x="1644" y="11"/>
                    <a:pt x="1644" y="12"/>
                  </a:cubicBezTo>
                  <a:cubicBezTo>
                    <a:pt x="1644" y="12"/>
                    <a:pt x="1644" y="13"/>
                    <a:pt x="1644" y="13"/>
                  </a:cubicBezTo>
                  <a:cubicBezTo>
                    <a:pt x="1664" y="48"/>
                    <a:pt x="1664" y="48"/>
                    <a:pt x="1664" y="48"/>
                  </a:cubicBezTo>
                  <a:cubicBezTo>
                    <a:pt x="1683" y="13"/>
                    <a:pt x="1683" y="13"/>
                    <a:pt x="1683" y="13"/>
                  </a:cubicBezTo>
                  <a:cubicBezTo>
                    <a:pt x="1683" y="12"/>
                    <a:pt x="1683" y="12"/>
                    <a:pt x="1683" y="11"/>
                  </a:cubicBezTo>
                  <a:cubicBezTo>
                    <a:pt x="1683" y="11"/>
                    <a:pt x="1683" y="11"/>
                    <a:pt x="1683" y="10"/>
                  </a:cubicBezTo>
                  <a:cubicBezTo>
                    <a:pt x="1683" y="9"/>
                    <a:pt x="1683" y="8"/>
                    <a:pt x="1681" y="8"/>
                  </a:cubicBezTo>
                  <a:cubicBezTo>
                    <a:pt x="1679" y="7"/>
                    <a:pt x="1677" y="7"/>
                    <a:pt x="1673" y="7"/>
                  </a:cubicBezTo>
                  <a:cubicBezTo>
                    <a:pt x="1673" y="2"/>
                    <a:pt x="1673" y="2"/>
                    <a:pt x="1673" y="2"/>
                  </a:cubicBezTo>
                  <a:cubicBezTo>
                    <a:pt x="1676" y="2"/>
                    <a:pt x="1679" y="2"/>
                    <a:pt x="1682" y="2"/>
                  </a:cubicBezTo>
                  <a:cubicBezTo>
                    <a:pt x="1684" y="2"/>
                    <a:pt x="1686" y="3"/>
                    <a:pt x="1688" y="3"/>
                  </a:cubicBezTo>
                  <a:cubicBezTo>
                    <a:pt x="1691" y="3"/>
                    <a:pt x="1693" y="2"/>
                    <a:pt x="1695" y="2"/>
                  </a:cubicBezTo>
                  <a:cubicBezTo>
                    <a:pt x="1698" y="2"/>
                    <a:pt x="1700" y="2"/>
                    <a:pt x="1702" y="2"/>
                  </a:cubicBezTo>
                  <a:cubicBezTo>
                    <a:pt x="1702" y="7"/>
                    <a:pt x="1702" y="7"/>
                    <a:pt x="1702" y="7"/>
                  </a:cubicBezTo>
                  <a:cubicBezTo>
                    <a:pt x="1699" y="7"/>
                    <a:pt x="1697" y="8"/>
                    <a:pt x="1696" y="8"/>
                  </a:cubicBezTo>
                  <a:cubicBezTo>
                    <a:pt x="1695" y="9"/>
                    <a:pt x="1694" y="10"/>
                    <a:pt x="1692" y="13"/>
                  </a:cubicBezTo>
                  <a:lnTo>
                    <a:pt x="1666" y="5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28" name="ïṩḷïḓè"/>
            <p:cNvGrpSpPr/>
            <p:nvPr/>
          </p:nvGrpSpPr>
          <p:grpSpPr>
            <a:xfrm>
              <a:off x="5388759" y="2716555"/>
              <a:ext cx="3612028" cy="965242"/>
              <a:chOff x="5102226" y="2428875"/>
              <a:chExt cx="5067300" cy="1354138"/>
            </a:xfrm>
            <a:grpFill/>
          </p:grpSpPr>
          <p:sp>
            <p:nvSpPr>
              <p:cNvPr id="29" name="i$ḻïďè"/>
              <p:cNvSpPr/>
              <p:nvPr/>
            </p:nvSpPr>
            <p:spPr bwMode="auto">
              <a:xfrm>
                <a:off x="5102226" y="2884488"/>
                <a:ext cx="1347788" cy="673100"/>
              </a:xfrm>
              <a:custGeom>
                <a:avLst/>
                <a:gdLst>
                  <a:gd name="T0" fmla="*/ 62 w 409"/>
                  <a:gd name="T1" fmla="*/ 79 h 204"/>
                  <a:gd name="T2" fmla="*/ 47 w 409"/>
                  <a:gd name="T3" fmla="*/ 55 h 204"/>
                  <a:gd name="T4" fmla="*/ 23 w 409"/>
                  <a:gd name="T5" fmla="*/ 49 h 204"/>
                  <a:gd name="T6" fmla="*/ 0 w 409"/>
                  <a:gd name="T7" fmla="*/ 87 h 204"/>
                  <a:gd name="T8" fmla="*/ 34 w 409"/>
                  <a:gd name="T9" fmla="*/ 193 h 204"/>
                  <a:gd name="T10" fmla="*/ 70 w 409"/>
                  <a:gd name="T11" fmla="*/ 186 h 204"/>
                  <a:gd name="T12" fmla="*/ 65 w 409"/>
                  <a:gd name="T13" fmla="*/ 129 h 204"/>
                  <a:gd name="T14" fmla="*/ 132 w 409"/>
                  <a:gd name="T15" fmla="*/ 63 h 204"/>
                  <a:gd name="T16" fmla="*/ 219 w 409"/>
                  <a:gd name="T17" fmla="*/ 42 h 204"/>
                  <a:gd name="T18" fmla="*/ 223 w 409"/>
                  <a:gd name="T19" fmla="*/ 63 h 204"/>
                  <a:gd name="T20" fmla="*/ 191 w 409"/>
                  <a:gd name="T21" fmla="*/ 105 h 204"/>
                  <a:gd name="T22" fmla="*/ 179 w 409"/>
                  <a:gd name="T23" fmla="*/ 103 h 204"/>
                  <a:gd name="T24" fmla="*/ 166 w 409"/>
                  <a:gd name="T25" fmla="*/ 77 h 204"/>
                  <a:gd name="T26" fmla="*/ 141 w 409"/>
                  <a:gd name="T27" fmla="*/ 85 h 204"/>
                  <a:gd name="T28" fmla="*/ 150 w 409"/>
                  <a:gd name="T29" fmla="*/ 113 h 204"/>
                  <a:gd name="T30" fmla="*/ 156 w 409"/>
                  <a:gd name="T31" fmla="*/ 127 h 204"/>
                  <a:gd name="T32" fmla="*/ 126 w 409"/>
                  <a:gd name="T33" fmla="*/ 142 h 204"/>
                  <a:gd name="T34" fmla="*/ 108 w 409"/>
                  <a:gd name="T35" fmla="*/ 153 h 204"/>
                  <a:gd name="T36" fmla="*/ 122 w 409"/>
                  <a:gd name="T37" fmla="*/ 177 h 204"/>
                  <a:gd name="T38" fmla="*/ 160 w 409"/>
                  <a:gd name="T39" fmla="*/ 156 h 204"/>
                  <a:gd name="T40" fmla="*/ 202 w 409"/>
                  <a:gd name="T41" fmla="*/ 149 h 204"/>
                  <a:gd name="T42" fmla="*/ 225 w 409"/>
                  <a:gd name="T43" fmla="*/ 169 h 204"/>
                  <a:gd name="T44" fmla="*/ 280 w 409"/>
                  <a:gd name="T45" fmla="*/ 173 h 204"/>
                  <a:gd name="T46" fmla="*/ 369 w 409"/>
                  <a:gd name="T47" fmla="*/ 139 h 204"/>
                  <a:gd name="T48" fmla="*/ 404 w 409"/>
                  <a:gd name="T49" fmla="*/ 129 h 204"/>
                  <a:gd name="T50" fmla="*/ 337 w 409"/>
                  <a:gd name="T51" fmla="*/ 21 h 204"/>
                  <a:gd name="T52" fmla="*/ 193 w 409"/>
                  <a:gd name="T53" fmla="*/ 12 h 204"/>
                  <a:gd name="T54" fmla="*/ 93 w 409"/>
                  <a:gd name="T55" fmla="*/ 54 h 204"/>
                  <a:gd name="T56" fmla="*/ 62 w 409"/>
                  <a:gd name="T57" fmla="*/ 79 h 204"/>
                  <a:gd name="T58" fmla="*/ 62 w 409"/>
                  <a:gd name="T59" fmla="*/ 79 h 204"/>
                  <a:gd name="T60" fmla="*/ 204 w 409"/>
                  <a:gd name="T61" fmla="*/ 125 h 204"/>
                  <a:gd name="T62" fmla="*/ 194 w 409"/>
                  <a:gd name="T63" fmla="*/ 124 h 204"/>
                  <a:gd name="T64" fmla="*/ 244 w 409"/>
                  <a:gd name="T65" fmla="*/ 90 h 204"/>
                  <a:gd name="T66" fmla="*/ 245 w 409"/>
                  <a:gd name="T67" fmla="*/ 60 h 204"/>
                  <a:gd name="T68" fmla="*/ 234 w 409"/>
                  <a:gd name="T69" fmla="*/ 45 h 204"/>
                  <a:gd name="T70" fmla="*/ 284 w 409"/>
                  <a:gd name="T71" fmla="*/ 43 h 204"/>
                  <a:gd name="T72" fmla="*/ 357 w 409"/>
                  <a:gd name="T73" fmla="*/ 75 h 204"/>
                  <a:gd name="T74" fmla="*/ 307 w 409"/>
                  <a:gd name="T75" fmla="*/ 112 h 204"/>
                  <a:gd name="T76" fmla="*/ 249 w 409"/>
                  <a:gd name="T77" fmla="*/ 142 h 204"/>
                  <a:gd name="T78" fmla="*/ 229 w 409"/>
                  <a:gd name="T79" fmla="*/ 127 h 204"/>
                  <a:gd name="T80" fmla="*/ 204 w 409"/>
                  <a:gd name="T81" fmla="*/ 125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409" h="204">
                    <a:moveTo>
                      <a:pt x="62" y="79"/>
                    </a:moveTo>
                    <a:cubicBezTo>
                      <a:pt x="56" y="77"/>
                      <a:pt x="57" y="61"/>
                      <a:pt x="47" y="55"/>
                    </a:cubicBezTo>
                    <a:cubicBezTo>
                      <a:pt x="38" y="49"/>
                      <a:pt x="30" y="49"/>
                      <a:pt x="23" y="49"/>
                    </a:cubicBezTo>
                    <a:cubicBezTo>
                      <a:pt x="16" y="50"/>
                      <a:pt x="1" y="62"/>
                      <a:pt x="0" y="87"/>
                    </a:cubicBezTo>
                    <a:cubicBezTo>
                      <a:pt x="0" y="112"/>
                      <a:pt x="25" y="181"/>
                      <a:pt x="34" y="193"/>
                    </a:cubicBezTo>
                    <a:cubicBezTo>
                      <a:pt x="43" y="204"/>
                      <a:pt x="74" y="198"/>
                      <a:pt x="70" y="186"/>
                    </a:cubicBezTo>
                    <a:cubicBezTo>
                      <a:pt x="65" y="175"/>
                      <a:pt x="57" y="144"/>
                      <a:pt x="65" y="129"/>
                    </a:cubicBezTo>
                    <a:cubicBezTo>
                      <a:pt x="73" y="115"/>
                      <a:pt x="88" y="89"/>
                      <a:pt x="132" y="63"/>
                    </a:cubicBezTo>
                    <a:cubicBezTo>
                      <a:pt x="177" y="38"/>
                      <a:pt x="211" y="39"/>
                      <a:pt x="219" y="42"/>
                    </a:cubicBezTo>
                    <a:cubicBezTo>
                      <a:pt x="227" y="45"/>
                      <a:pt x="224" y="59"/>
                      <a:pt x="223" y="63"/>
                    </a:cubicBezTo>
                    <a:cubicBezTo>
                      <a:pt x="221" y="67"/>
                      <a:pt x="191" y="102"/>
                      <a:pt x="191" y="105"/>
                    </a:cubicBezTo>
                    <a:cubicBezTo>
                      <a:pt x="190" y="108"/>
                      <a:pt x="180" y="114"/>
                      <a:pt x="179" y="103"/>
                    </a:cubicBezTo>
                    <a:cubicBezTo>
                      <a:pt x="179" y="92"/>
                      <a:pt x="177" y="81"/>
                      <a:pt x="166" y="77"/>
                    </a:cubicBezTo>
                    <a:cubicBezTo>
                      <a:pt x="156" y="73"/>
                      <a:pt x="146" y="71"/>
                      <a:pt x="141" y="85"/>
                    </a:cubicBezTo>
                    <a:cubicBezTo>
                      <a:pt x="137" y="99"/>
                      <a:pt x="144" y="109"/>
                      <a:pt x="150" y="113"/>
                    </a:cubicBezTo>
                    <a:cubicBezTo>
                      <a:pt x="155" y="118"/>
                      <a:pt x="164" y="126"/>
                      <a:pt x="156" y="127"/>
                    </a:cubicBezTo>
                    <a:cubicBezTo>
                      <a:pt x="149" y="127"/>
                      <a:pt x="126" y="142"/>
                      <a:pt x="126" y="142"/>
                    </a:cubicBezTo>
                    <a:cubicBezTo>
                      <a:pt x="126" y="142"/>
                      <a:pt x="111" y="140"/>
                      <a:pt x="108" y="153"/>
                    </a:cubicBezTo>
                    <a:cubicBezTo>
                      <a:pt x="106" y="166"/>
                      <a:pt x="115" y="181"/>
                      <a:pt x="122" y="177"/>
                    </a:cubicBezTo>
                    <a:cubicBezTo>
                      <a:pt x="128" y="173"/>
                      <a:pt x="148" y="161"/>
                      <a:pt x="160" y="156"/>
                    </a:cubicBezTo>
                    <a:cubicBezTo>
                      <a:pt x="173" y="151"/>
                      <a:pt x="194" y="144"/>
                      <a:pt x="202" y="149"/>
                    </a:cubicBezTo>
                    <a:cubicBezTo>
                      <a:pt x="210" y="154"/>
                      <a:pt x="211" y="162"/>
                      <a:pt x="225" y="169"/>
                    </a:cubicBezTo>
                    <a:cubicBezTo>
                      <a:pt x="240" y="177"/>
                      <a:pt x="268" y="178"/>
                      <a:pt x="280" y="173"/>
                    </a:cubicBezTo>
                    <a:cubicBezTo>
                      <a:pt x="292" y="167"/>
                      <a:pt x="356" y="138"/>
                      <a:pt x="369" y="139"/>
                    </a:cubicBezTo>
                    <a:cubicBezTo>
                      <a:pt x="383" y="140"/>
                      <a:pt x="398" y="154"/>
                      <a:pt x="404" y="129"/>
                    </a:cubicBezTo>
                    <a:cubicBezTo>
                      <a:pt x="409" y="104"/>
                      <a:pt x="378" y="37"/>
                      <a:pt x="337" y="21"/>
                    </a:cubicBezTo>
                    <a:cubicBezTo>
                      <a:pt x="295" y="5"/>
                      <a:pt x="248" y="0"/>
                      <a:pt x="193" y="12"/>
                    </a:cubicBezTo>
                    <a:cubicBezTo>
                      <a:pt x="139" y="23"/>
                      <a:pt x="113" y="34"/>
                      <a:pt x="93" y="54"/>
                    </a:cubicBezTo>
                    <a:cubicBezTo>
                      <a:pt x="73" y="73"/>
                      <a:pt x="68" y="82"/>
                      <a:pt x="62" y="79"/>
                    </a:cubicBezTo>
                    <a:cubicBezTo>
                      <a:pt x="62" y="79"/>
                      <a:pt x="62" y="79"/>
                      <a:pt x="62" y="79"/>
                    </a:cubicBezTo>
                    <a:close/>
                    <a:moveTo>
                      <a:pt x="204" y="125"/>
                    </a:moveTo>
                    <a:cubicBezTo>
                      <a:pt x="204" y="125"/>
                      <a:pt x="200" y="122"/>
                      <a:pt x="194" y="124"/>
                    </a:cubicBezTo>
                    <a:cubicBezTo>
                      <a:pt x="188" y="125"/>
                      <a:pt x="229" y="99"/>
                      <a:pt x="244" y="90"/>
                    </a:cubicBezTo>
                    <a:cubicBezTo>
                      <a:pt x="259" y="81"/>
                      <a:pt x="253" y="71"/>
                      <a:pt x="245" y="60"/>
                    </a:cubicBezTo>
                    <a:cubicBezTo>
                      <a:pt x="238" y="50"/>
                      <a:pt x="238" y="50"/>
                      <a:pt x="234" y="45"/>
                    </a:cubicBezTo>
                    <a:cubicBezTo>
                      <a:pt x="251" y="42"/>
                      <a:pt x="264" y="41"/>
                      <a:pt x="284" y="43"/>
                    </a:cubicBezTo>
                    <a:cubicBezTo>
                      <a:pt x="310" y="45"/>
                      <a:pt x="341" y="53"/>
                      <a:pt x="357" y="75"/>
                    </a:cubicBezTo>
                    <a:cubicBezTo>
                      <a:pt x="366" y="87"/>
                      <a:pt x="319" y="105"/>
                      <a:pt x="307" y="112"/>
                    </a:cubicBezTo>
                    <a:cubicBezTo>
                      <a:pt x="294" y="118"/>
                      <a:pt x="257" y="138"/>
                      <a:pt x="249" y="142"/>
                    </a:cubicBezTo>
                    <a:cubicBezTo>
                      <a:pt x="241" y="145"/>
                      <a:pt x="238" y="137"/>
                      <a:pt x="229" y="127"/>
                    </a:cubicBezTo>
                    <a:cubicBezTo>
                      <a:pt x="220" y="118"/>
                      <a:pt x="204" y="125"/>
                      <a:pt x="204" y="1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" name="ïslîde"/>
              <p:cNvSpPr/>
              <p:nvPr/>
            </p:nvSpPr>
            <p:spPr bwMode="auto">
              <a:xfrm>
                <a:off x="6911976" y="2584450"/>
                <a:ext cx="781050" cy="1198563"/>
              </a:xfrm>
              <a:custGeom>
                <a:avLst/>
                <a:gdLst>
                  <a:gd name="T0" fmla="*/ 35 w 237"/>
                  <a:gd name="T1" fmla="*/ 87 h 363"/>
                  <a:gd name="T2" fmla="*/ 18 w 237"/>
                  <a:gd name="T3" fmla="*/ 113 h 363"/>
                  <a:gd name="T4" fmla="*/ 29 w 237"/>
                  <a:gd name="T5" fmla="*/ 166 h 363"/>
                  <a:gd name="T6" fmla="*/ 18 w 237"/>
                  <a:gd name="T7" fmla="*/ 273 h 363"/>
                  <a:gd name="T8" fmla="*/ 7 w 237"/>
                  <a:gd name="T9" fmla="*/ 306 h 363"/>
                  <a:gd name="T10" fmla="*/ 16 w 237"/>
                  <a:gd name="T11" fmla="*/ 338 h 363"/>
                  <a:gd name="T12" fmla="*/ 35 w 237"/>
                  <a:gd name="T13" fmla="*/ 311 h 363"/>
                  <a:gd name="T14" fmla="*/ 48 w 237"/>
                  <a:gd name="T15" fmla="*/ 205 h 363"/>
                  <a:gd name="T16" fmla="*/ 52 w 237"/>
                  <a:gd name="T17" fmla="*/ 149 h 363"/>
                  <a:gd name="T18" fmla="*/ 54 w 237"/>
                  <a:gd name="T19" fmla="*/ 114 h 363"/>
                  <a:gd name="T20" fmla="*/ 35 w 237"/>
                  <a:gd name="T21" fmla="*/ 87 h 363"/>
                  <a:gd name="T22" fmla="*/ 35 w 237"/>
                  <a:gd name="T23" fmla="*/ 87 h 363"/>
                  <a:gd name="T24" fmla="*/ 112 w 237"/>
                  <a:gd name="T25" fmla="*/ 102 h 363"/>
                  <a:gd name="T26" fmla="*/ 94 w 237"/>
                  <a:gd name="T27" fmla="*/ 109 h 363"/>
                  <a:gd name="T28" fmla="*/ 98 w 237"/>
                  <a:gd name="T29" fmla="*/ 142 h 363"/>
                  <a:gd name="T30" fmla="*/ 103 w 237"/>
                  <a:gd name="T31" fmla="*/ 171 h 363"/>
                  <a:gd name="T32" fmla="*/ 106 w 237"/>
                  <a:gd name="T33" fmla="*/ 246 h 363"/>
                  <a:gd name="T34" fmla="*/ 127 w 237"/>
                  <a:gd name="T35" fmla="*/ 232 h 363"/>
                  <a:gd name="T36" fmla="*/ 133 w 237"/>
                  <a:gd name="T37" fmla="*/ 191 h 363"/>
                  <a:gd name="T38" fmla="*/ 135 w 237"/>
                  <a:gd name="T39" fmla="*/ 161 h 363"/>
                  <a:gd name="T40" fmla="*/ 133 w 237"/>
                  <a:gd name="T41" fmla="*/ 119 h 363"/>
                  <a:gd name="T42" fmla="*/ 112 w 237"/>
                  <a:gd name="T43" fmla="*/ 102 h 363"/>
                  <a:gd name="T44" fmla="*/ 112 w 237"/>
                  <a:gd name="T45" fmla="*/ 102 h 363"/>
                  <a:gd name="T46" fmla="*/ 209 w 237"/>
                  <a:gd name="T47" fmla="*/ 2 h 363"/>
                  <a:gd name="T48" fmla="*/ 186 w 237"/>
                  <a:gd name="T49" fmla="*/ 5 h 363"/>
                  <a:gd name="T50" fmla="*/ 184 w 237"/>
                  <a:gd name="T51" fmla="*/ 33 h 363"/>
                  <a:gd name="T52" fmla="*/ 190 w 237"/>
                  <a:gd name="T53" fmla="*/ 65 h 363"/>
                  <a:gd name="T54" fmla="*/ 191 w 237"/>
                  <a:gd name="T55" fmla="*/ 174 h 363"/>
                  <a:gd name="T56" fmla="*/ 189 w 237"/>
                  <a:gd name="T57" fmla="*/ 262 h 363"/>
                  <a:gd name="T58" fmla="*/ 199 w 237"/>
                  <a:gd name="T59" fmla="*/ 350 h 363"/>
                  <a:gd name="T60" fmla="*/ 221 w 237"/>
                  <a:gd name="T61" fmla="*/ 330 h 363"/>
                  <a:gd name="T62" fmla="*/ 212 w 237"/>
                  <a:gd name="T63" fmla="*/ 296 h 363"/>
                  <a:gd name="T64" fmla="*/ 208 w 237"/>
                  <a:gd name="T65" fmla="*/ 128 h 363"/>
                  <a:gd name="T66" fmla="*/ 217 w 237"/>
                  <a:gd name="T67" fmla="*/ 68 h 363"/>
                  <a:gd name="T68" fmla="*/ 234 w 237"/>
                  <a:gd name="T69" fmla="*/ 32 h 363"/>
                  <a:gd name="T70" fmla="*/ 209 w 237"/>
                  <a:gd name="T71" fmla="*/ 2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37" h="363">
                    <a:moveTo>
                      <a:pt x="35" y="87"/>
                    </a:moveTo>
                    <a:cubicBezTo>
                      <a:pt x="23" y="88"/>
                      <a:pt x="16" y="93"/>
                      <a:pt x="18" y="113"/>
                    </a:cubicBezTo>
                    <a:cubicBezTo>
                      <a:pt x="21" y="132"/>
                      <a:pt x="33" y="134"/>
                      <a:pt x="29" y="166"/>
                    </a:cubicBezTo>
                    <a:cubicBezTo>
                      <a:pt x="25" y="197"/>
                      <a:pt x="18" y="262"/>
                      <a:pt x="18" y="273"/>
                    </a:cubicBezTo>
                    <a:cubicBezTo>
                      <a:pt x="18" y="283"/>
                      <a:pt x="9" y="299"/>
                      <a:pt x="7" y="306"/>
                    </a:cubicBezTo>
                    <a:cubicBezTo>
                      <a:pt x="4" y="313"/>
                      <a:pt x="0" y="335"/>
                      <a:pt x="16" y="338"/>
                    </a:cubicBezTo>
                    <a:cubicBezTo>
                      <a:pt x="32" y="341"/>
                      <a:pt x="33" y="320"/>
                      <a:pt x="35" y="311"/>
                    </a:cubicBezTo>
                    <a:cubicBezTo>
                      <a:pt x="38" y="301"/>
                      <a:pt x="48" y="218"/>
                      <a:pt x="48" y="205"/>
                    </a:cubicBezTo>
                    <a:cubicBezTo>
                      <a:pt x="47" y="192"/>
                      <a:pt x="49" y="160"/>
                      <a:pt x="52" y="149"/>
                    </a:cubicBezTo>
                    <a:cubicBezTo>
                      <a:pt x="55" y="138"/>
                      <a:pt x="59" y="128"/>
                      <a:pt x="54" y="114"/>
                    </a:cubicBezTo>
                    <a:cubicBezTo>
                      <a:pt x="49" y="101"/>
                      <a:pt x="47" y="86"/>
                      <a:pt x="35" y="87"/>
                    </a:cubicBezTo>
                    <a:cubicBezTo>
                      <a:pt x="35" y="87"/>
                      <a:pt x="35" y="87"/>
                      <a:pt x="35" y="87"/>
                    </a:cubicBezTo>
                    <a:close/>
                    <a:moveTo>
                      <a:pt x="112" y="102"/>
                    </a:moveTo>
                    <a:cubicBezTo>
                      <a:pt x="107" y="101"/>
                      <a:pt x="98" y="100"/>
                      <a:pt x="94" y="109"/>
                    </a:cubicBezTo>
                    <a:cubicBezTo>
                      <a:pt x="89" y="118"/>
                      <a:pt x="94" y="133"/>
                      <a:pt x="98" y="142"/>
                    </a:cubicBezTo>
                    <a:cubicBezTo>
                      <a:pt x="101" y="152"/>
                      <a:pt x="104" y="162"/>
                      <a:pt x="103" y="171"/>
                    </a:cubicBezTo>
                    <a:cubicBezTo>
                      <a:pt x="101" y="180"/>
                      <a:pt x="100" y="240"/>
                      <a:pt x="106" y="246"/>
                    </a:cubicBezTo>
                    <a:cubicBezTo>
                      <a:pt x="111" y="252"/>
                      <a:pt x="121" y="245"/>
                      <a:pt x="127" y="232"/>
                    </a:cubicBezTo>
                    <a:cubicBezTo>
                      <a:pt x="133" y="218"/>
                      <a:pt x="137" y="200"/>
                      <a:pt x="133" y="191"/>
                    </a:cubicBezTo>
                    <a:cubicBezTo>
                      <a:pt x="130" y="183"/>
                      <a:pt x="130" y="173"/>
                      <a:pt x="135" y="161"/>
                    </a:cubicBezTo>
                    <a:cubicBezTo>
                      <a:pt x="140" y="149"/>
                      <a:pt x="137" y="133"/>
                      <a:pt x="133" y="119"/>
                    </a:cubicBezTo>
                    <a:cubicBezTo>
                      <a:pt x="129" y="105"/>
                      <a:pt x="117" y="102"/>
                      <a:pt x="112" y="102"/>
                    </a:cubicBezTo>
                    <a:cubicBezTo>
                      <a:pt x="112" y="102"/>
                      <a:pt x="112" y="102"/>
                      <a:pt x="112" y="102"/>
                    </a:cubicBezTo>
                    <a:close/>
                    <a:moveTo>
                      <a:pt x="209" y="2"/>
                    </a:moveTo>
                    <a:cubicBezTo>
                      <a:pt x="203" y="1"/>
                      <a:pt x="190" y="0"/>
                      <a:pt x="186" y="5"/>
                    </a:cubicBezTo>
                    <a:cubicBezTo>
                      <a:pt x="181" y="10"/>
                      <a:pt x="179" y="21"/>
                      <a:pt x="184" y="33"/>
                    </a:cubicBezTo>
                    <a:cubicBezTo>
                      <a:pt x="190" y="46"/>
                      <a:pt x="191" y="57"/>
                      <a:pt x="190" y="65"/>
                    </a:cubicBezTo>
                    <a:cubicBezTo>
                      <a:pt x="189" y="72"/>
                      <a:pt x="191" y="153"/>
                      <a:pt x="191" y="174"/>
                    </a:cubicBezTo>
                    <a:cubicBezTo>
                      <a:pt x="191" y="195"/>
                      <a:pt x="188" y="235"/>
                      <a:pt x="189" y="262"/>
                    </a:cubicBezTo>
                    <a:cubicBezTo>
                      <a:pt x="190" y="289"/>
                      <a:pt x="189" y="337"/>
                      <a:pt x="199" y="350"/>
                    </a:cubicBezTo>
                    <a:cubicBezTo>
                      <a:pt x="210" y="363"/>
                      <a:pt x="225" y="344"/>
                      <a:pt x="221" y="330"/>
                    </a:cubicBezTo>
                    <a:cubicBezTo>
                      <a:pt x="217" y="317"/>
                      <a:pt x="216" y="321"/>
                      <a:pt x="212" y="296"/>
                    </a:cubicBezTo>
                    <a:cubicBezTo>
                      <a:pt x="209" y="270"/>
                      <a:pt x="208" y="138"/>
                      <a:pt x="208" y="128"/>
                    </a:cubicBezTo>
                    <a:cubicBezTo>
                      <a:pt x="209" y="117"/>
                      <a:pt x="212" y="79"/>
                      <a:pt x="217" y="68"/>
                    </a:cubicBezTo>
                    <a:cubicBezTo>
                      <a:pt x="221" y="57"/>
                      <a:pt x="237" y="45"/>
                      <a:pt x="234" y="32"/>
                    </a:cubicBezTo>
                    <a:cubicBezTo>
                      <a:pt x="236" y="20"/>
                      <a:pt x="215" y="4"/>
                      <a:pt x="209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" name="ïś1idè"/>
              <p:cNvSpPr/>
              <p:nvPr/>
            </p:nvSpPr>
            <p:spPr bwMode="auto">
              <a:xfrm>
                <a:off x="8172451" y="2600325"/>
                <a:ext cx="806450" cy="1046163"/>
              </a:xfrm>
              <a:custGeom>
                <a:avLst/>
                <a:gdLst>
                  <a:gd name="T0" fmla="*/ 144 w 245"/>
                  <a:gd name="T1" fmla="*/ 240 h 317"/>
                  <a:gd name="T2" fmla="*/ 216 w 245"/>
                  <a:gd name="T3" fmla="*/ 298 h 317"/>
                  <a:gd name="T4" fmla="*/ 221 w 245"/>
                  <a:gd name="T5" fmla="*/ 247 h 317"/>
                  <a:gd name="T6" fmla="*/ 155 w 245"/>
                  <a:gd name="T7" fmla="*/ 214 h 317"/>
                  <a:gd name="T8" fmla="*/ 144 w 245"/>
                  <a:gd name="T9" fmla="*/ 240 h 317"/>
                  <a:gd name="T10" fmla="*/ 144 w 245"/>
                  <a:gd name="T11" fmla="*/ 240 h 317"/>
                  <a:gd name="T12" fmla="*/ 117 w 245"/>
                  <a:gd name="T13" fmla="*/ 59 h 317"/>
                  <a:gd name="T14" fmla="*/ 114 w 245"/>
                  <a:gd name="T15" fmla="*/ 20 h 317"/>
                  <a:gd name="T16" fmla="*/ 132 w 245"/>
                  <a:gd name="T17" fmla="*/ 2 h 317"/>
                  <a:gd name="T18" fmla="*/ 151 w 245"/>
                  <a:gd name="T19" fmla="*/ 32 h 317"/>
                  <a:gd name="T20" fmla="*/ 142 w 245"/>
                  <a:gd name="T21" fmla="*/ 57 h 317"/>
                  <a:gd name="T22" fmla="*/ 136 w 245"/>
                  <a:gd name="T23" fmla="*/ 74 h 317"/>
                  <a:gd name="T24" fmla="*/ 131 w 245"/>
                  <a:gd name="T25" fmla="*/ 98 h 317"/>
                  <a:gd name="T26" fmla="*/ 151 w 245"/>
                  <a:gd name="T27" fmla="*/ 91 h 317"/>
                  <a:gd name="T28" fmla="*/ 177 w 245"/>
                  <a:gd name="T29" fmla="*/ 76 h 317"/>
                  <a:gd name="T30" fmla="*/ 208 w 245"/>
                  <a:gd name="T31" fmla="*/ 82 h 317"/>
                  <a:gd name="T32" fmla="*/ 199 w 245"/>
                  <a:gd name="T33" fmla="*/ 103 h 317"/>
                  <a:gd name="T34" fmla="*/ 172 w 245"/>
                  <a:gd name="T35" fmla="*/ 109 h 317"/>
                  <a:gd name="T36" fmla="*/ 124 w 245"/>
                  <a:gd name="T37" fmla="*/ 132 h 317"/>
                  <a:gd name="T38" fmla="*/ 107 w 245"/>
                  <a:gd name="T39" fmla="*/ 203 h 317"/>
                  <a:gd name="T40" fmla="*/ 65 w 245"/>
                  <a:gd name="T41" fmla="*/ 263 h 317"/>
                  <a:gd name="T42" fmla="*/ 32 w 245"/>
                  <a:gd name="T43" fmla="*/ 308 h 317"/>
                  <a:gd name="T44" fmla="*/ 14 w 245"/>
                  <a:gd name="T45" fmla="*/ 303 h 317"/>
                  <a:gd name="T46" fmla="*/ 8 w 245"/>
                  <a:gd name="T47" fmla="*/ 275 h 317"/>
                  <a:gd name="T48" fmla="*/ 24 w 245"/>
                  <a:gd name="T49" fmla="*/ 263 h 317"/>
                  <a:gd name="T50" fmla="*/ 36 w 245"/>
                  <a:gd name="T51" fmla="*/ 267 h 317"/>
                  <a:gd name="T52" fmla="*/ 70 w 245"/>
                  <a:gd name="T53" fmla="*/ 222 h 317"/>
                  <a:gd name="T54" fmla="*/ 93 w 245"/>
                  <a:gd name="T55" fmla="*/ 165 h 317"/>
                  <a:gd name="T56" fmla="*/ 98 w 245"/>
                  <a:gd name="T57" fmla="*/ 148 h 317"/>
                  <a:gd name="T58" fmla="*/ 79 w 245"/>
                  <a:gd name="T59" fmla="*/ 160 h 317"/>
                  <a:gd name="T60" fmla="*/ 46 w 245"/>
                  <a:gd name="T61" fmla="*/ 163 h 317"/>
                  <a:gd name="T62" fmla="*/ 20 w 245"/>
                  <a:gd name="T63" fmla="*/ 134 h 317"/>
                  <a:gd name="T64" fmla="*/ 30 w 245"/>
                  <a:gd name="T65" fmla="*/ 115 h 317"/>
                  <a:gd name="T66" fmla="*/ 64 w 245"/>
                  <a:gd name="T67" fmla="*/ 119 h 317"/>
                  <a:gd name="T68" fmla="*/ 105 w 245"/>
                  <a:gd name="T69" fmla="*/ 106 h 317"/>
                  <a:gd name="T70" fmla="*/ 106 w 245"/>
                  <a:gd name="T71" fmla="*/ 105 h 317"/>
                  <a:gd name="T72" fmla="*/ 117 w 245"/>
                  <a:gd name="T73" fmla="*/ 59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245" h="317">
                    <a:moveTo>
                      <a:pt x="144" y="240"/>
                    </a:moveTo>
                    <a:cubicBezTo>
                      <a:pt x="154" y="257"/>
                      <a:pt x="187" y="309"/>
                      <a:pt x="216" y="298"/>
                    </a:cubicBezTo>
                    <a:cubicBezTo>
                      <a:pt x="245" y="288"/>
                      <a:pt x="233" y="255"/>
                      <a:pt x="221" y="247"/>
                    </a:cubicBezTo>
                    <a:cubicBezTo>
                      <a:pt x="210" y="239"/>
                      <a:pt x="155" y="214"/>
                      <a:pt x="155" y="214"/>
                    </a:cubicBezTo>
                    <a:cubicBezTo>
                      <a:pt x="132" y="204"/>
                      <a:pt x="138" y="230"/>
                      <a:pt x="144" y="240"/>
                    </a:cubicBezTo>
                    <a:cubicBezTo>
                      <a:pt x="144" y="240"/>
                      <a:pt x="144" y="240"/>
                      <a:pt x="144" y="240"/>
                    </a:cubicBezTo>
                    <a:close/>
                    <a:moveTo>
                      <a:pt x="117" y="59"/>
                    </a:moveTo>
                    <a:cubicBezTo>
                      <a:pt x="120" y="57"/>
                      <a:pt x="113" y="32"/>
                      <a:pt x="114" y="20"/>
                    </a:cubicBezTo>
                    <a:cubicBezTo>
                      <a:pt x="115" y="8"/>
                      <a:pt x="124" y="0"/>
                      <a:pt x="132" y="2"/>
                    </a:cubicBezTo>
                    <a:cubicBezTo>
                      <a:pt x="140" y="4"/>
                      <a:pt x="152" y="23"/>
                      <a:pt x="151" y="32"/>
                    </a:cubicBezTo>
                    <a:cubicBezTo>
                      <a:pt x="150" y="42"/>
                      <a:pt x="145" y="53"/>
                      <a:pt x="142" y="57"/>
                    </a:cubicBezTo>
                    <a:cubicBezTo>
                      <a:pt x="139" y="60"/>
                      <a:pt x="137" y="64"/>
                      <a:pt x="136" y="74"/>
                    </a:cubicBezTo>
                    <a:cubicBezTo>
                      <a:pt x="135" y="80"/>
                      <a:pt x="133" y="89"/>
                      <a:pt x="131" y="98"/>
                    </a:cubicBezTo>
                    <a:cubicBezTo>
                      <a:pt x="140" y="95"/>
                      <a:pt x="148" y="93"/>
                      <a:pt x="151" y="91"/>
                    </a:cubicBezTo>
                    <a:cubicBezTo>
                      <a:pt x="157" y="87"/>
                      <a:pt x="168" y="83"/>
                      <a:pt x="177" y="76"/>
                    </a:cubicBezTo>
                    <a:cubicBezTo>
                      <a:pt x="187" y="68"/>
                      <a:pt x="197" y="76"/>
                      <a:pt x="208" y="82"/>
                    </a:cubicBezTo>
                    <a:cubicBezTo>
                      <a:pt x="218" y="88"/>
                      <a:pt x="209" y="98"/>
                      <a:pt x="199" y="103"/>
                    </a:cubicBezTo>
                    <a:cubicBezTo>
                      <a:pt x="188" y="109"/>
                      <a:pt x="179" y="106"/>
                      <a:pt x="172" y="109"/>
                    </a:cubicBezTo>
                    <a:cubicBezTo>
                      <a:pt x="166" y="112"/>
                      <a:pt x="138" y="124"/>
                      <a:pt x="124" y="132"/>
                    </a:cubicBezTo>
                    <a:cubicBezTo>
                      <a:pt x="121" y="152"/>
                      <a:pt x="113" y="188"/>
                      <a:pt x="107" y="203"/>
                    </a:cubicBezTo>
                    <a:cubicBezTo>
                      <a:pt x="101" y="221"/>
                      <a:pt x="77" y="248"/>
                      <a:pt x="65" y="263"/>
                    </a:cubicBezTo>
                    <a:cubicBezTo>
                      <a:pt x="52" y="279"/>
                      <a:pt x="45" y="300"/>
                      <a:pt x="32" y="308"/>
                    </a:cubicBezTo>
                    <a:cubicBezTo>
                      <a:pt x="19" y="317"/>
                      <a:pt x="16" y="311"/>
                      <a:pt x="14" y="303"/>
                    </a:cubicBezTo>
                    <a:cubicBezTo>
                      <a:pt x="12" y="295"/>
                      <a:pt x="0" y="285"/>
                      <a:pt x="8" y="275"/>
                    </a:cubicBezTo>
                    <a:cubicBezTo>
                      <a:pt x="16" y="264"/>
                      <a:pt x="18" y="252"/>
                      <a:pt x="24" y="263"/>
                    </a:cubicBezTo>
                    <a:cubicBezTo>
                      <a:pt x="29" y="273"/>
                      <a:pt x="38" y="267"/>
                      <a:pt x="36" y="267"/>
                    </a:cubicBezTo>
                    <a:cubicBezTo>
                      <a:pt x="34" y="266"/>
                      <a:pt x="62" y="236"/>
                      <a:pt x="70" y="222"/>
                    </a:cubicBezTo>
                    <a:cubicBezTo>
                      <a:pt x="79" y="207"/>
                      <a:pt x="89" y="173"/>
                      <a:pt x="93" y="165"/>
                    </a:cubicBezTo>
                    <a:cubicBezTo>
                      <a:pt x="94" y="163"/>
                      <a:pt x="96" y="157"/>
                      <a:pt x="98" y="148"/>
                    </a:cubicBezTo>
                    <a:cubicBezTo>
                      <a:pt x="91" y="152"/>
                      <a:pt x="84" y="156"/>
                      <a:pt x="79" y="160"/>
                    </a:cubicBezTo>
                    <a:cubicBezTo>
                      <a:pt x="68" y="168"/>
                      <a:pt x="66" y="171"/>
                      <a:pt x="46" y="163"/>
                    </a:cubicBezTo>
                    <a:cubicBezTo>
                      <a:pt x="26" y="154"/>
                      <a:pt x="21" y="145"/>
                      <a:pt x="20" y="134"/>
                    </a:cubicBezTo>
                    <a:cubicBezTo>
                      <a:pt x="18" y="123"/>
                      <a:pt x="24" y="116"/>
                      <a:pt x="30" y="115"/>
                    </a:cubicBezTo>
                    <a:cubicBezTo>
                      <a:pt x="37" y="113"/>
                      <a:pt x="53" y="117"/>
                      <a:pt x="64" y="119"/>
                    </a:cubicBezTo>
                    <a:cubicBezTo>
                      <a:pt x="76" y="121"/>
                      <a:pt x="99" y="108"/>
                      <a:pt x="105" y="106"/>
                    </a:cubicBezTo>
                    <a:cubicBezTo>
                      <a:pt x="105" y="106"/>
                      <a:pt x="106" y="105"/>
                      <a:pt x="106" y="105"/>
                    </a:cubicBezTo>
                    <a:cubicBezTo>
                      <a:pt x="111" y="82"/>
                      <a:pt x="115" y="60"/>
                      <a:pt x="117" y="5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" name="ïsľîďè"/>
              <p:cNvSpPr/>
              <p:nvPr/>
            </p:nvSpPr>
            <p:spPr bwMode="auto">
              <a:xfrm>
                <a:off x="9385301" y="2428875"/>
                <a:ext cx="784225" cy="1284288"/>
              </a:xfrm>
              <a:custGeom>
                <a:avLst/>
                <a:gdLst>
                  <a:gd name="T0" fmla="*/ 62 w 238"/>
                  <a:gd name="T1" fmla="*/ 102 h 389"/>
                  <a:gd name="T2" fmla="*/ 70 w 238"/>
                  <a:gd name="T3" fmla="*/ 150 h 389"/>
                  <a:gd name="T4" fmla="*/ 80 w 238"/>
                  <a:gd name="T5" fmla="*/ 191 h 389"/>
                  <a:gd name="T6" fmla="*/ 98 w 238"/>
                  <a:gd name="T7" fmla="*/ 182 h 389"/>
                  <a:gd name="T8" fmla="*/ 98 w 238"/>
                  <a:gd name="T9" fmla="*/ 198 h 389"/>
                  <a:gd name="T10" fmla="*/ 16 w 238"/>
                  <a:gd name="T11" fmla="*/ 237 h 389"/>
                  <a:gd name="T12" fmla="*/ 7 w 238"/>
                  <a:gd name="T13" fmla="*/ 265 h 389"/>
                  <a:gd name="T14" fmla="*/ 70 w 238"/>
                  <a:gd name="T15" fmla="*/ 235 h 389"/>
                  <a:gd name="T16" fmla="*/ 183 w 238"/>
                  <a:gd name="T17" fmla="*/ 180 h 389"/>
                  <a:gd name="T18" fmla="*/ 183 w 238"/>
                  <a:gd name="T19" fmla="*/ 205 h 389"/>
                  <a:gd name="T20" fmla="*/ 199 w 238"/>
                  <a:gd name="T21" fmla="*/ 209 h 389"/>
                  <a:gd name="T22" fmla="*/ 212 w 238"/>
                  <a:gd name="T23" fmla="*/ 164 h 389"/>
                  <a:gd name="T24" fmla="*/ 163 w 238"/>
                  <a:gd name="T25" fmla="*/ 161 h 389"/>
                  <a:gd name="T26" fmla="*/ 188 w 238"/>
                  <a:gd name="T27" fmla="*/ 110 h 389"/>
                  <a:gd name="T28" fmla="*/ 183 w 238"/>
                  <a:gd name="T29" fmla="*/ 77 h 389"/>
                  <a:gd name="T30" fmla="*/ 179 w 238"/>
                  <a:gd name="T31" fmla="*/ 43 h 389"/>
                  <a:gd name="T32" fmla="*/ 189 w 238"/>
                  <a:gd name="T33" fmla="*/ 22 h 389"/>
                  <a:gd name="T34" fmla="*/ 163 w 238"/>
                  <a:gd name="T35" fmla="*/ 5 h 389"/>
                  <a:gd name="T36" fmla="*/ 163 w 238"/>
                  <a:gd name="T37" fmla="*/ 42 h 389"/>
                  <a:gd name="T38" fmla="*/ 159 w 238"/>
                  <a:gd name="T39" fmla="*/ 65 h 389"/>
                  <a:gd name="T40" fmla="*/ 145 w 238"/>
                  <a:gd name="T41" fmla="*/ 96 h 389"/>
                  <a:gd name="T42" fmla="*/ 139 w 238"/>
                  <a:gd name="T43" fmla="*/ 145 h 389"/>
                  <a:gd name="T44" fmla="*/ 147 w 238"/>
                  <a:gd name="T45" fmla="*/ 172 h 389"/>
                  <a:gd name="T46" fmla="*/ 120 w 238"/>
                  <a:gd name="T47" fmla="*/ 172 h 389"/>
                  <a:gd name="T48" fmla="*/ 125 w 238"/>
                  <a:gd name="T49" fmla="*/ 127 h 389"/>
                  <a:gd name="T50" fmla="*/ 110 w 238"/>
                  <a:gd name="T51" fmla="*/ 117 h 389"/>
                  <a:gd name="T52" fmla="*/ 115 w 238"/>
                  <a:gd name="T53" fmla="*/ 39 h 389"/>
                  <a:gd name="T54" fmla="*/ 104 w 238"/>
                  <a:gd name="T55" fmla="*/ 73 h 389"/>
                  <a:gd name="T56" fmla="*/ 101 w 238"/>
                  <a:gd name="T57" fmla="*/ 134 h 389"/>
                  <a:gd name="T58" fmla="*/ 86 w 238"/>
                  <a:gd name="T59" fmla="*/ 96 h 389"/>
                  <a:gd name="T60" fmla="*/ 54 w 238"/>
                  <a:gd name="T61" fmla="*/ 88 h 389"/>
                  <a:gd name="T62" fmla="*/ 93 w 238"/>
                  <a:gd name="T63" fmla="*/ 244 h 389"/>
                  <a:gd name="T64" fmla="*/ 151 w 238"/>
                  <a:gd name="T65" fmla="*/ 216 h 389"/>
                  <a:gd name="T66" fmla="*/ 146 w 238"/>
                  <a:gd name="T67" fmla="*/ 262 h 389"/>
                  <a:gd name="T68" fmla="*/ 194 w 238"/>
                  <a:gd name="T69" fmla="*/ 265 h 389"/>
                  <a:gd name="T70" fmla="*/ 168 w 238"/>
                  <a:gd name="T71" fmla="*/ 297 h 389"/>
                  <a:gd name="T72" fmla="*/ 158 w 238"/>
                  <a:gd name="T73" fmla="*/ 349 h 389"/>
                  <a:gd name="T74" fmla="*/ 102 w 238"/>
                  <a:gd name="T75" fmla="*/ 372 h 389"/>
                  <a:gd name="T76" fmla="*/ 112 w 238"/>
                  <a:gd name="T77" fmla="*/ 355 h 389"/>
                  <a:gd name="T78" fmla="*/ 151 w 238"/>
                  <a:gd name="T79" fmla="*/ 319 h 389"/>
                  <a:gd name="T80" fmla="*/ 114 w 238"/>
                  <a:gd name="T81" fmla="*/ 312 h 389"/>
                  <a:gd name="T82" fmla="*/ 62 w 238"/>
                  <a:gd name="T83" fmla="*/ 309 h 389"/>
                  <a:gd name="T84" fmla="*/ 133 w 238"/>
                  <a:gd name="T85" fmla="*/ 280 h 389"/>
                  <a:gd name="T86" fmla="*/ 106 w 238"/>
                  <a:gd name="T87" fmla="*/ 259 h 3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38" h="389">
                    <a:moveTo>
                      <a:pt x="54" y="88"/>
                    </a:moveTo>
                    <a:cubicBezTo>
                      <a:pt x="55" y="91"/>
                      <a:pt x="59" y="99"/>
                      <a:pt x="62" y="102"/>
                    </a:cubicBezTo>
                    <a:cubicBezTo>
                      <a:pt x="66" y="106"/>
                      <a:pt x="73" y="113"/>
                      <a:pt x="72" y="116"/>
                    </a:cubicBezTo>
                    <a:cubicBezTo>
                      <a:pt x="72" y="120"/>
                      <a:pt x="70" y="144"/>
                      <a:pt x="70" y="150"/>
                    </a:cubicBezTo>
                    <a:cubicBezTo>
                      <a:pt x="70" y="156"/>
                      <a:pt x="67" y="172"/>
                      <a:pt x="71" y="176"/>
                    </a:cubicBezTo>
                    <a:cubicBezTo>
                      <a:pt x="74" y="180"/>
                      <a:pt x="80" y="191"/>
                      <a:pt x="80" y="191"/>
                    </a:cubicBezTo>
                    <a:cubicBezTo>
                      <a:pt x="80" y="191"/>
                      <a:pt x="88" y="193"/>
                      <a:pt x="90" y="187"/>
                    </a:cubicBezTo>
                    <a:cubicBezTo>
                      <a:pt x="92" y="180"/>
                      <a:pt x="98" y="182"/>
                      <a:pt x="98" y="182"/>
                    </a:cubicBezTo>
                    <a:cubicBezTo>
                      <a:pt x="98" y="182"/>
                      <a:pt x="110" y="187"/>
                      <a:pt x="107" y="190"/>
                    </a:cubicBezTo>
                    <a:cubicBezTo>
                      <a:pt x="104" y="193"/>
                      <a:pt x="105" y="194"/>
                      <a:pt x="98" y="198"/>
                    </a:cubicBezTo>
                    <a:cubicBezTo>
                      <a:pt x="92" y="202"/>
                      <a:pt x="39" y="231"/>
                      <a:pt x="39" y="231"/>
                    </a:cubicBezTo>
                    <a:cubicBezTo>
                      <a:pt x="39" y="231"/>
                      <a:pt x="21" y="236"/>
                      <a:pt x="16" y="237"/>
                    </a:cubicBezTo>
                    <a:cubicBezTo>
                      <a:pt x="11" y="238"/>
                      <a:pt x="4" y="236"/>
                      <a:pt x="2" y="243"/>
                    </a:cubicBezTo>
                    <a:cubicBezTo>
                      <a:pt x="0" y="250"/>
                      <a:pt x="2" y="260"/>
                      <a:pt x="7" y="265"/>
                    </a:cubicBezTo>
                    <a:cubicBezTo>
                      <a:pt x="10" y="266"/>
                      <a:pt x="22" y="271"/>
                      <a:pt x="33" y="266"/>
                    </a:cubicBezTo>
                    <a:cubicBezTo>
                      <a:pt x="47" y="260"/>
                      <a:pt x="60" y="244"/>
                      <a:pt x="70" y="235"/>
                    </a:cubicBezTo>
                    <a:cubicBezTo>
                      <a:pt x="88" y="221"/>
                      <a:pt x="104" y="211"/>
                      <a:pt x="119" y="204"/>
                    </a:cubicBezTo>
                    <a:cubicBezTo>
                      <a:pt x="134" y="198"/>
                      <a:pt x="167" y="182"/>
                      <a:pt x="183" y="180"/>
                    </a:cubicBezTo>
                    <a:cubicBezTo>
                      <a:pt x="199" y="178"/>
                      <a:pt x="202" y="186"/>
                      <a:pt x="199" y="190"/>
                    </a:cubicBezTo>
                    <a:cubicBezTo>
                      <a:pt x="197" y="195"/>
                      <a:pt x="188" y="203"/>
                      <a:pt x="183" y="205"/>
                    </a:cubicBezTo>
                    <a:cubicBezTo>
                      <a:pt x="179" y="208"/>
                      <a:pt x="181" y="213"/>
                      <a:pt x="181" y="213"/>
                    </a:cubicBezTo>
                    <a:cubicBezTo>
                      <a:pt x="181" y="213"/>
                      <a:pt x="185" y="213"/>
                      <a:pt x="199" y="209"/>
                    </a:cubicBezTo>
                    <a:cubicBezTo>
                      <a:pt x="214" y="205"/>
                      <a:pt x="234" y="205"/>
                      <a:pt x="236" y="200"/>
                    </a:cubicBezTo>
                    <a:cubicBezTo>
                      <a:pt x="238" y="196"/>
                      <a:pt x="230" y="165"/>
                      <a:pt x="212" y="164"/>
                    </a:cubicBezTo>
                    <a:cubicBezTo>
                      <a:pt x="193" y="163"/>
                      <a:pt x="172" y="168"/>
                      <a:pt x="167" y="170"/>
                    </a:cubicBezTo>
                    <a:cubicBezTo>
                      <a:pt x="162" y="171"/>
                      <a:pt x="157" y="167"/>
                      <a:pt x="163" y="161"/>
                    </a:cubicBezTo>
                    <a:cubicBezTo>
                      <a:pt x="169" y="154"/>
                      <a:pt x="178" y="146"/>
                      <a:pt x="182" y="133"/>
                    </a:cubicBezTo>
                    <a:cubicBezTo>
                      <a:pt x="186" y="119"/>
                      <a:pt x="192" y="116"/>
                      <a:pt x="188" y="110"/>
                    </a:cubicBezTo>
                    <a:cubicBezTo>
                      <a:pt x="183" y="104"/>
                      <a:pt x="176" y="92"/>
                      <a:pt x="173" y="90"/>
                    </a:cubicBezTo>
                    <a:cubicBezTo>
                      <a:pt x="170" y="88"/>
                      <a:pt x="173" y="81"/>
                      <a:pt x="183" y="77"/>
                    </a:cubicBezTo>
                    <a:cubicBezTo>
                      <a:pt x="193" y="72"/>
                      <a:pt x="204" y="61"/>
                      <a:pt x="198" y="54"/>
                    </a:cubicBezTo>
                    <a:cubicBezTo>
                      <a:pt x="192" y="46"/>
                      <a:pt x="180" y="50"/>
                      <a:pt x="179" y="43"/>
                    </a:cubicBezTo>
                    <a:cubicBezTo>
                      <a:pt x="179" y="35"/>
                      <a:pt x="173" y="31"/>
                      <a:pt x="179" y="29"/>
                    </a:cubicBezTo>
                    <a:cubicBezTo>
                      <a:pt x="185" y="27"/>
                      <a:pt x="191" y="25"/>
                      <a:pt x="189" y="22"/>
                    </a:cubicBezTo>
                    <a:cubicBezTo>
                      <a:pt x="187" y="18"/>
                      <a:pt x="184" y="12"/>
                      <a:pt x="180" y="6"/>
                    </a:cubicBezTo>
                    <a:cubicBezTo>
                      <a:pt x="175" y="1"/>
                      <a:pt x="164" y="0"/>
                      <a:pt x="163" y="5"/>
                    </a:cubicBezTo>
                    <a:cubicBezTo>
                      <a:pt x="161" y="11"/>
                      <a:pt x="161" y="21"/>
                      <a:pt x="161" y="26"/>
                    </a:cubicBezTo>
                    <a:cubicBezTo>
                      <a:pt x="161" y="31"/>
                      <a:pt x="160" y="38"/>
                      <a:pt x="163" y="42"/>
                    </a:cubicBezTo>
                    <a:cubicBezTo>
                      <a:pt x="167" y="46"/>
                      <a:pt x="168" y="48"/>
                      <a:pt x="167" y="52"/>
                    </a:cubicBezTo>
                    <a:cubicBezTo>
                      <a:pt x="166" y="55"/>
                      <a:pt x="166" y="61"/>
                      <a:pt x="159" y="65"/>
                    </a:cubicBezTo>
                    <a:cubicBezTo>
                      <a:pt x="151" y="69"/>
                      <a:pt x="147" y="69"/>
                      <a:pt x="145" y="74"/>
                    </a:cubicBezTo>
                    <a:cubicBezTo>
                      <a:pt x="142" y="80"/>
                      <a:pt x="142" y="94"/>
                      <a:pt x="145" y="96"/>
                    </a:cubicBezTo>
                    <a:cubicBezTo>
                      <a:pt x="147" y="97"/>
                      <a:pt x="155" y="95"/>
                      <a:pt x="153" y="105"/>
                    </a:cubicBezTo>
                    <a:cubicBezTo>
                      <a:pt x="150" y="116"/>
                      <a:pt x="138" y="141"/>
                      <a:pt x="139" y="145"/>
                    </a:cubicBezTo>
                    <a:cubicBezTo>
                      <a:pt x="140" y="150"/>
                      <a:pt x="148" y="148"/>
                      <a:pt x="148" y="153"/>
                    </a:cubicBezTo>
                    <a:cubicBezTo>
                      <a:pt x="148" y="159"/>
                      <a:pt x="151" y="169"/>
                      <a:pt x="147" y="172"/>
                    </a:cubicBezTo>
                    <a:cubicBezTo>
                      <a:pt x="143" y="176"/>
                      <a:pt x="130" y="180"/>
                      <a:pt x="130" y="180"/>
                    </a:cubicBezTo>
                    <a:cubicBezTo>
                      <a:pt x="130" y="180"/>
                      <a:pt x="116" y="184"/>
                      <a:pt x="120" y="172"/>
                    </a:cubicBezTo>
                    <a:cubicBezTo>
                      <a:pt x="123" y="160"/>
                      <a:pt x="126" y="141"/>
                      <a:pt x="127" y="137"/>
                    </a:cubicBezTo>
                    <a:cubicBezTo>
                      <a:pt x="127" y="133"/>
                      <a:pt x="131" y="128"/>
                      <a:pt x="125" y="127"/>
                    </a:cubicBezTo>
                    <a:cubicBezTo>
                      <a:pt x="120" y="127"/>
                      <a:pt x="126" y="117"/>
                      <a:pt x="119" y="120"/>
                    </a:cubicBezTo>
                    <a:cubicBezTo>
                      <a:pt x="113" y="122"/>
                      <a:pt x="108" y="125"/>
                      <a:pt x="110" y="117"/>
                    </a:cubicBezTo>
                    <a:cubicBezTo>
                      <a:pt x="111" y="108"/>
                      <a:pt x="121" y="80"/>
                      <a:pt x="124" y="63"/>
                    </a:cubicBezTo>
                    <a:cubicBezTo>
                      <a:pt x="126" y="46"/>
                      <a:pt x="120" y="43"/>
                      <a:pt x="115" y="39"/>
                    </a:cubicBezTo>
                    <a:cubicBezTo>
                      <a:pt x="110" y="36"/>
                      <a:pt x="95" y="44"/>
                      <a:pt x="95" y="50"/>
                    </a:cubicBezTo>
                    <a:cubicBezTo>
                      <a:pt x="95" y="56"/>
                      <a:pt x="103" y="65"/>
                      <a:pt x="104" y="73"/>
                    </a:cubicBezTo>
                    <a:cubicBezTo>
                      <a:pt x="105" y="81"/>
                      <a:pt x="103" y="107"/>
                      <a:pt x="104" y="110"/>
                    </a:cubicBezTo>
                    <a:cubicBezTo>
                      <a:pt x="104" y="113"/>
                      <a:pt x="102" y="130"/>
                      <a:pt x="101" y="134"/>
                    </a:cubicBezTo>
                    <a:cubicBezTo>
                      <a:pt x="100" y="137"/>
                      <a:pt x="83" y="150"/>
                      <a:pt x="85" y="136"/>
                    </a:cubicBezTo>
                    <a:cubicBezTo>
                      <a:pt x="88" y="122"/>
                      <a:pt x="89" y="105"/>
                      <a:pt x="86" y="96"/>
                    </a:cubicBezTo>
                    <a:cubicBezTo>
                      <a:pt x="82" y="87"/>
                      <a:pt x="67" y="75"/>
                      <a:pt x="62" y="74"/>
                    </a:cubicBezTo>
                    <a:cubicBezTo>
                      <a:pt x="58" y="74"/>
                      <a:pt x="54" y="84"/>
                      <a:pt x="54" y="88"/>
                    </a:cubicBezTo>
                    <a:cubicBezTo>
                      <a:pt x="54" y="88"/>
                      <a:pt x="54" y="88"/>
                      <a:pt x="54" y="88"/>
                    </a:cubicBezTo>
                    <a:close/>
                    <a:moveTo>
                      <a:pt x="93" y="244"/>
                    </a:moveTo>
                    <a:cubicBezTo>
                      <a:pt x="93" y="236"/>
                      <a:pt x="103" y="232"/>
                      <a:pt x="110" y="230"/>
                    </a:cubicBezTo>
                    <a:cubicBezTo>
                      <a:pt x="116" y="229"/>
                      <a:pt x="140" y="217"/>
                      <a:pt x="151" y="216"/>
                    </a:cubicBezTo>
                    <a:cubicBezTo>
                      <a:pt x="162" y="216"/>
                      <a:pt x="162" y="232"/>
                      <a:pt x="159" y="239"/>
                    </a:cubicBezTo>
                    <a:cubicBezTo>
                      <a:pt x="156" y="246"/>
                      <a:pt x="150" y="257"/>
                      <a:pt x="146" y="262"/>
                    </a:cubicBezTo>
                    <a:cubicBezTo>
                      <a:pt x="143" y="267"/>
                      <a:pt x="159" y="270"/>
                      <a:pt x="159" y="270"/>
                    </a:cubicBezTo>
                    <a:cubicBezTo>
                      <a:pt x="159" y="270"/>
                      <a:pt x="184" y="264"/>
                      <a:pt x="194" y="265"/>
                    </a:cubicBezTo>
                    <a:cubicBezTo>
                      <a:pt x="203" y="266"/>
                      <a:pt x="205" y="280"/>
                      <a:pt x="203" y="291"/>
                    </a:cubicBezTo>
                    <a:cubicBezTo>
                      <a:pt x="201" y="302"/>
                      <a:pt x="174" y="298"/>
                      <a:pt x="168" y="297"/>
                    </a:cubicBezTo>
                    <a:cubicBezTo>
                      <a:pt x="162" y="296"/>
                      <a:pt x="166" y="307"/>
                      <a:pt x="164" y="313"/>
                    </a:cubicBezTo>
                    <a:cubicBezTo>
                      <a:pt x="163" y="319"/>
                      <a:pt x="163" y="329"/>
                      <a:pt x="158" y="349"/>
                    </a:cubicBezTo>
                    <a:cubicBezTo>
                      <a:pt x="153" y="368"/>
                      <a:pt x="139" y="381"/>
                      <a:pt x="131" y="385"/>
                    </a:cubicBezTo>
                    <a:cubicBezTo>
                      <a:pt x="122" y="389"/>
                      <a:pt x="106" y="379"/>
                      <a:pt x="102" y="372"/>
                    </a:cubicBezTo>
                    <a:cubicBezTo>
                      <a:pt x="99" y="365"/>
                      <a:pt x="92" y="366"/>
                      <a:pt x="89" y="355"/>
                    </a:cubicBezTo>
                    <a:cubicBezTo>
                      <a:pt x="85" y="344"/>
                      <a:pt x="104" y="351"/>
                      <a:pt x="112" y="355"/>
                    </a:cubicBezTo>
                    <a:cubicBezTo>
                      <a:pt x="119" y="358"/>
                      <a:pt x="132" y="358"/>
                      <a:pt x="139" y="356"/>
                    </a:cubicBezTo>
                    <a:cubicBezTo>
                      <a:pt x="146" y="353"/>
                      <a:pt x="151" y="328"/>
                      <a:pt x="151" y="319"/>
                    </a:cubicBezTo>
                    <a:cubicBezTo>
                      <a:pt x="152" y="309"/>
                      <a:pt x="145" y="302"/>
                      <a:pt x="142" y="301"/>
                    </a:cubicBezTo>
                    <a:cubicBezTo>
                      <a:pt x="139" y="300"/>
                      <a:pt x="126" y="306"/>
                      <a:pt x="114" y="312"/>
                    </a:cubicBezTo>
                    <a:cubicBezTo>
                      <a:pt x="103" y="318"/>
                      <a:pt x="95" y="325"/>
                      <a:pt x="86" y="327"/>
                    </a:cubicBezTo>
                    <a:cubicBezTo>
                      <a:pt x="76" y="329"/>
                      <a:pt x="64" y="319"/>
                      <a:pt x="62" y="309"/>
                    </a:cubicBezTo>
                    <a:cubicBezTo>
                      <a:pt x="60" y="299"/>
                      <a:pt x="88" y="298"/>
                      <a:pt x="93" y="297"/>
                    </a:cubicBezTo>
                    <a:cubicBezTo>
                      <a:pt x="99" y="296"/>
                      <a:pt x="133" y="280"/>
                      <a:pt x="133" y="280"/>
                    </a:cubicBezTo>
                    <a:cubicBezTo>
                      <a:pt x="135" y="272"/>
                      <a:pt x="139" y="251"/>
                      <a:pt x="126" y="249"/>
                    </a:cubicBezTo>
                    <a:cubicBezTo>
                      <a:pt x="118" y="248"/>
                      <a:pt x="113" y="259"/>
                      <a:pt x="106" y="259"/>
                    </a:cubicBezTo>
                    <a:cubicBezTo>
                      <a:pt x="99" y="259"/>
                      <a:pt x="94" y="252"/>
                      <a:pt x="93" y="2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grpSp>
        <p:nvGrpSpPr>
          <p:cNvPr id="61" name="组合 60"/>
          <p:cNvGrpSpPr/>
          <p:nvPr/>
        </p:nvGrpSpPr>
        <p:grpSpPr>
          <a:xfrm>
            <a:off x="5016505" y="6198630"/>
            <a:ext cx="1701690" cy="328936"/>
            <a:chOff x="4073302" y="4836469"/>
            <a:chExt cx="1701690" cy="328936"/>
          </a:xfrm>
        </p:grpSpPr>
        <p:sp>
          <p:nvSpPr>
            <p:cNvPr id="59" name="矩形 58"/>
            <p:cNvSpPr/>
            <p:nvPr/>
          </p:nvSpPr>
          <p:spPr>
            <a:xfrm>
              <a:off x="4333572" y="4836469"/>
              <a:ext cx="1441420" cy="328936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答辩人：王晨宇</a:t>
              </a:r>
            </a:p>
          </p:txBody>
        </p:sp>
        <p:sp>
          <p:nvSpPr>
            <p:cNvPr id="60" name="graduation-cap_16905"/>
            <p:cNvSpPr>
              <a:spLocks noChangeAspect="1"/>
            </p:cNvSpPr>
            <p:nvPr/>
          </p:nvSpPr>
          <p:spPr bwMode="auto">
            <a:xfrm>
              <a:off x="4073302" y="4926953"/>
              <a:ext cx="255014" cy="152520"/>
            </a:xfrm>
            <a:custGeom>
              <a:avLst/>
              <a:gdLst>
                <a:gd name="connsiteX0" fmla="*/ 82550 w 331788"/>
                <a:gd name="connsiteY0" fmla="*/ 117475 h 198438"/>
                <a:gd name="connsiteX1" fmla="*/ 165100 w 331788"/>
                <a:gd name="connsiteY1" fmla="*/ 157163 h 198438"/>
                <a:gd name="connsiteX2" fmla="*/ 247650 w 331788"/>
                <a:gd name="connsiteY2" fmla="*/ 117475 h 198438"/>
                <a:gd name="connsiteX3" fmla="*/ 247650 w 331788"/>
                <a:gd name="connsiteY3" fmla="*/ 157163 h 198438"/>
                <a:gd name="connsiteX4" fmla="*/ 165100 w 331788"/>
                <a:gd name="connsiteY4" fmla="*/ 198438 h 198438"/>
                <a:gd name="connsiteX5" fmla="*/ 82550 w 331788"/>
                <a:gd name="connsiteY5" fmla="*/ 157163 h 198438"/>
                <a:gd name="connsiteX6" fmla="*/ 20638 w 331788"/>
                <a:gd name="connsiteY6" fmla="*/ 82550 h 198438"/>
                <a:gd name="connsiteX7" fmla="*/ 24606 w 331788"/>
                <a:gd name="connsiteY7" fmla="*/ 86447 h 198438"/>
                <a:gd name="connsiteX8" fmla="*/ 24606 w 331788"/>
                <a:gd name="connsiteY8" fmla="*/ 150091 h 198438"/>
                <a:gd name="connsiteX9" fmla="*/ 28575 w 331788"/>
                <a:gd name="connsiteY9" fmla="*/ 157885 h 198438"/>
                <a:gd name="connsiteX10" fmla="*/ 24606 w 331788"/>
                <a:gd name="connsiteY10" fmla="*/ 164379 h 198438"/>
                <a:gd name="connsiteX11" fmla="*/ 24606 w 331788"/>
                <a:gd name="connsiteY11" fmla="*/ 178667 h 198438"/>
                <a:gd name="connsiteX12" fmla="*/ 20638 w 331788"/>
                <a:gd name="connsiteY12" fmla="*/ 182563 h 198438"/>
                <a:gd name="connsiteX13" fmla="*/ 16669 w 331788"/>
                <a:gd name="connsiteY13" fmla="*/ 178667 h 198438"/>
                <a:gd name="connsiteX14" fmla="*/ 16669 w 331788"/>
                <a:gd name="connsiteY14" fmla="*/ 164379 h 198438"/>
                <a:gd name="connsiteX15" fmla="*/ 12700 w 331788"/>
                <a:gd name="connsiteY15" fmla="*/ 157885 h 198438"/>
                <a:gd name="connsiteX16" fmla="*/ 16669 w 331788"/>
                <a:gd name="connsiteY16" fmla="*/ 150091 h 198438"/>
                <a:gd name="connsiteX17" fmla="*/ 16669 w 331788"/>
                <a:gd name="connsiteY17" fmla="*/ 86447 h 198438"/>
                <a:gd name="connsiteX18" fmla="*/ 20638 w 331788"/>
                <a:gd name="connsiteY18" fmla="*/ 82550 h 198438"/>
                <a:gd name="connsiteX19" fmla="*/ 165100 w 331788"/>
                <a:gd name="connsiteY19" fmla="*/ 58738 h 198438"/>
                <a:gd name="connsiteX20" fmla="*/ 152400 w 331788"/>
                <a:gd name="connsiteY20" fmla="*/ 66676 h 198438"/>
                <a:gd name="connsiteX21" fmla="*/ 165100 w 331788"/>
                <a:gd name="connsiteY21" fmla="*/ 74614 h 198438"/>
                <a:gd name="connsiteX22" fmla="*/ 177800 w 331788"/>
                <a:gd name="connsiteY22" fmla="*/ 66676 h 198438"/>
                <a:gd name="connsiteX23" fmla="*/ 165100 w 331788"/>
                <a:gd name="connsiteY23" fmla="*/ 58738 h 198438"/>
                <a:gd name="connsiteX24" fmla="*/ 165100 w 331788"/>
                <a:gd name="connsiteY24" fmla="*/ 0 h 198438"/>
                <a:gd name="connsiteX25" fmla="*/ 331788 w 331788"/>
                <a:gd name="connsiteY25" fmla="*/ 66675 h 198438"/>
                <a:gd name="connsiteX26" fmla="*/ 165100 w 331788"/>
                <a:gd name="connsiteY26" fmla="*/ 149225 h 198438"/>
                <a:gd name="connsiteX27" fmla="*/ 0 w 331788"/>
                <a:gd name="connsiteY27" fmla="*/ 66675 h 19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31788" h="198438">
                  <a:moveTo>
                    <a:pt x="82550" y="117475"/>
                  </a:moveTo>
                  <a:lnTo>
                    <a:pt x="165100" y="157163"/>
                  </a:lnTo>
                  <a:lnTo>
                    <a:pt x="247650" y="117475"/>
                  </a:lnTo>
                  <a:lnTo>
                    <a:pt x="247650" y="157163"/>
                  </a:lnTo>
                  <a:lnTo>
                    <a:pt x="165100" y="198438"/>
                  </a:lnTo>
                  <a:lnTo>
                    <a:pt x="82550" y="157163"/>
                  </a:lnTo>
                  <a:close/>
                  <a:moveTo>
                    <a:pt x="20638" y="82550"/>
                  </a:moveTo>
                  <a:cubicBezTo>
                    <a:pt x="23283" y="82550"/>
                    <a:pt x="24606" y="85148"/>
                    <a:pt x="24606" y="86447"/>
                  </a:cubicBezTo>
                  <a:cubicBezTo>
                    <a:pt x="24606" y="86447"/>
                    <a:pt x="24606" y="86447"/>
                    <a:pt x="24606" y="150091"/>
                  </a:cubicBezTo>
                  <a:cubicBezTo>
                    <a:pt x="27252" y="151390"/>
                    <a:pt x="28575" y="153988"/>
                    <a:pt x="28575" y="157885"/>
                  </a:cubicBezTo>
                  <a:cubicBezTo>
                    <a:pt x="28575" y="160482"/>
                    <a:pt x="27252" y="163080"/>
                    <a:pt x="24606" y="164379"/>
                  </a:cubicBezTo>
                  <a:cubicBezTo>
                    <a:pt x="24606" y="164379"/>
                    <a:pt x="24606" y="164379"/>
                    <a:pt x="24606" y="178667"/>
                  </a:cubicBezTo>
                  <a:cubicBezTo>
                    <a:pt x="24606" y="181264"/>
                    <a:pt x="23283" y="182563"/>
                    <a:pt x="20638" y="182563"/>
                  </a:cubicBezTo>
                  <a:cubicBezTo>
                    <a:pt x="17992" y="182563"/>
                    <a:pt x="16669" y="181264"/>
                    <a:pt x="16669" y="178667"/>
                  </a:cubicBezTo>
                  <a:cubicBezTo>
                    <a:pt x="16669" y="178667"/>
                    <a:pt x="16669" y="178667"/>
                    <a:pt x="16669" y="164379"/>
                  </a:cubicBezTo>
                  <a:cubicBezTo>
                    <a:pt x="14023" y="163080"/>
                    <a:pt x="12700" y="160482"/>
                    <a:pt x="12700" y="157885"/>
                  </a:cubicBezTo>
                  <a:cubicBezTo>
                    <a:pt x="12700" y="153988"/>
                    <a:pt x="14023" y="151390"/>
                    <a:pt x="16669" y="150091"/>
                  </a:cubicBezTo>
                  <a:cubicBezTo>
                    <a:pt x="16669" y="150091"/>
                    <a:pt x="16669" y="150091"/>
                    <a:pt x="16669" y="86447"/>
                  </a:cubicBezTo>
                  <a:cubicBezTo>
                    <a:pt x="16669" y="85148"/>
                    <a:pt x="17992" y="82550"/>
                    <a:pt x="20638" y="82550"/>
                  </a:cubicBezTo>
                  <a:close/>
                  <a:moveTo>
                    <a:pt x="165100" y="58738"/>
                  </a:moveTo>
                  <a:cubicBezTo>
                    <a:pt x="158086" y="58738"/>
                    <a:pt x="152400" y="62292"/>
                    <a:pt x="152400" y="66676"/>
                  </a:cubicBezTo>
                  <a:cubicBezTo>
                    <a:pt x="152400" y="71060"/>
                    <a:pt x="158086" y="74614"/>
                    <a:pt x="165100" y="74614"/>
                  </a:cubicBezTo>
                  <a:cubicBezTo>
                    <a:pt x="172114" y="74614"/>
                    <a:pt x="177800" y="71060"/>
                    <a:pt x="177800" y="66676"/>
                  </a:cubicBezTo>
                  <a:cubicBezTo>
                    <a:pt x="177800" y="62292"/>
                    <a:pt x="172114" y="58738"/>
                    <a:pt x="165100" y="58738"/>
                  </a:cubicBezTo>
                  <a:close/>
                  <a:moveTo>
                    <a:pt x="165100" y="0"/>
                  </a:moveTo>
                  <a:lnTo>
                    <a:pt x="331788" y="66675"/>
                  </a:lnTo>
                  <a:lnTo>
                    <a:pt x="165100" y="14922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3F3B3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Subtitle 2">
            <a:extLst>
              <a:ext uri="{FF2B5EF4-FFF2-40B4-BE49-F238E27FC236}">
                <a16:creationId xmlns:a16="http://schemas.microsoft.com/office/drawing/2014/main" id="{11F2AAC8-CE3F-2703-3D41-D0C62D627E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67852" y="4824210"/>
            <a:ext cx="2954655" cy="346932"/>
          </a:xfrm>
        </p:spPr>
        <p:txBody>
          <a:bodyPr>
            <a:normAutofit/>
          </a:bodyPr>
          <a:lstStyle/>
          <a:p>
            <a:pPr algn="ctr">
              <a:spcBef>
                <a:spcPts val="400"/>
              </a:spcBef>
              <a:defRPr sz="1600" b="0">
                <a:solidFill>
                  <a:srgbClr val="666666"/>
                </a:solidFill>
                <a:latin typeface="微软雅黑"/>
              </a:defRPr>
            </a:pPr>
            <a:r>
              <a:rPr err="1"/>
              <a:t>社交媒体图文情感分析</a:t>
            </a:r>
            <a:r>
              <a:t> · 7A 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20B06-9D8C-6103-DAAD-5AF3D8C0E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3007529-4EBB-70D8-9DBF-FA161951C273}"/>
              </a:ext>
            </a:extLst>
          </p:cNvPr>
          <p:cNvSpPr/>
          <p:nvPr/>
        </p:nvSpPr>
        <p:spPr>
          <a:xfrm>
            <a:off x="134709" y="239939"/>
            <a:ext cx="209554" cy="657225"/>
          </a:xfrm>
          <a:prstGeom prst="rect">
            <a:avLst/>
          </a:prstGeom>
          <a:solidFill>
            <a:srgbClr val="B929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77E55CC-9D40-5E49-5337-B248F982C494}"/>
              </a:ext>
            </a:extLst>
          </p:cNvPr>
          <p:cNvSpPr/>
          <p:nvPr/>
        </p:nvSpPr>
        <p:spPr>
          <a:xfrm>
            <a:off x="0" y="4534296"/>
            <a:ext cx="12192000" cy="2323704"/>
          </a:xfrm>
          <a:prstGeom prst="rect">
            <a:avLst/>
          </a:prstGeom>
          <a:blipFill dpi="0" rotWithShape="1">
            <a:blip r:embed="rId2">
              <a:alphaModFix amt="17000"/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1BBDB9E-EB0A-EF7E-1773-5BE39ADF39A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8" r="37718" b="50000"/>
          <a:stretch>
            <a:fillRect/>
          </a:stretch>
        </p:blipFill>
        <p:spPr>
          <a:xfrm>
            <a:off x="10096501" y="5597863"/>
            <a:ext cx="2095500" cy="1260137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65D46B0E-3B84-C937-1182-52208A759163}"/>
              </a:ext>
            </a:extLst>
          </p:cNvPr>
          <p:cNvSpPr txBox="1"/>
          <p:nvPr/>
        </p:nvSpPr>
        <p:spPr>
          <a:xfrm>
            <a:off x="5499100" y="3986302"/>
            <a:ext cx="5343071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800" b="1">
                <a:solidFill>
                  <a:srgbClr val="333333"/>
                </a:solidFill>
                <a:latin typeface="微软雅黑"/>
              </a:defRPr>
            </a:pPr>
            <a:r>
              <a:rPr lang="zh-CN" altLang="en-US" sz="2000">
                <a:solidFill>
                  <a:srgbClr val="C00000"/>
                </a:solidFill>
              </a:rPr>
              <a:t>项目目标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微软雅黑"/>
              </a:defRPr>
            </a:pPr>
            <a:r>
              <a:rPr lang="en-US" altLang="zh-CN" sz="1600"/>
              <a:t>• </a:t>
            </a:r>
            <a:r>
              <a:rPr lang="zh-CN" altLang="en-US" sz="1600"/>
              <a:t>整合视觉（人脸表情）</a:t>
            </a:r>
            <a:r>
              <a:rPr lang="en-US" altLang="zh-CN" sz="1600"/>
              <a:t>+ </a:t>
            </a:r>
            <a:r>
              <a:rPr lang="zh-CN" altLang="en-US" sz="1600"/>
              <a:t>文本（中文情感）两种模态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微软雅黑"/>
              </a:defRPr>
            </a:pPr>
            <a:r>
              <a:rPr lang="en-US" altLang="zh-CN" sz="1600"/>
              <a:t>• </a:t>
            </a:r>
            <a:r>
              <a:rPr lang="zh-CN" altLang="en-US" sz="1600"/>
              <a:t>通过门控融合 </a:t>
            </a:r>
            <a:r>
              <a:rPr lang="en-US" altLang="zh-CN" sz="1600"/>
              <a:t>+ </a:t>
            </a:r>
            <a:r>
              <a:rPr lang="zh-CN" altLang="en-US" sz="1600"/>
              <a:t>冲突感知，解决情感矛盾场景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微软雅黑"/>
              </a:defRPr>
            </a:pPr>
            <a:r>
              <a:rPr lang="en-US" altLang="zh-CN" sz="1600"/>
              <a:t>• </a:t>
            </a:r>
            <a:r>
              <a:rPr lang="zh-CN" altLang="en-US" sz="1600"/>
              <a:t>构建端到端的可部署系统（拍照 → 分析 → 结果）</a:t>
            </a:r>
            <a:endParaRPr lang="en-US" altLang="zh-CN" sz="160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5FDA1B9-3FEB-13A2-5CCC-ED38692DFBED}"/>
              </a:ext>
            </a:extLst>
          </p:cNvPr>
          <p:cNvSpPr txBox="1"/>
          <p:nvPr/>
        </p:nvSpPr>
        <p:spPr>
          <a:xfrm>
            <a:off x="5499100" y="1022959"/>
            <a:ext cx="596900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1">
                <a:solidFill>
                  <a:srgbClr val="C00000"/>
                </a:solidFill>
                <a:latin typeface="微软雅黑"/>
              </a:rPr>
              <a:t>背景</a:t>
            </a:r>
            <a:endParaRPr lang="en-US" altLang="zh-CN" sz="2200" b="1">
              <a:solidFill>
                <a:srgbClr val="C00000"/>
              </a:solidFill>
              <a:latin typeface="微软雅黑"/>
            </a:endParaRPr>
          </a:p>
          <a:p>
            <a:r>
              <a:rPr lang="zh-CN" altLang="zh-CN" sz="1600">
                <a:latin typeface="+mn-ea"/>
              </a:rPr>
              <a:t>人类情感表达具有多模态特征，表情与文字共同传递情感信息。在微博、小红书等社交媒体场景中，图文内容经常存在不一致现象</a:t>
            </a:r>
            <a:r>
              <a:rPr lang="zh-CN" altLang="en-US" sz="1600">
                <a:latin typeface="+mn-ea"/>
              </a:rPr>
              <a:t>。</a:t>
            </a:r>
            <a:r>
              <a:rPr lang="zh-CN" altLang="zh-CN" sz="1600">
                <a:latin typeface="+mn-ea"/>
              </a:rPr>
              <a:t>本项目尝试结合视觉和文本两种模态的信息，构建一个多模态情感分析系统，提高情感识别的准确性。</a:t>
            </a:r>
            <a:endParaRPr lang="en-US" altLang="zh-CN" sz="1600">
              <a:latin typeface="+mn-ea"/>
            </a:endParaRPr>
          </a:p>
          <a:p>
            <a:endParaRPr lang="en-US" altLang="zh-CN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FC55CBD-E5B5-5530-A2AB-331E39C3B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280373"/>
            <a:ext cx="2603500" cy="585788"/>
          </a:xfrm>
        </p:spPr>
        <p:txBody>
          <a:bodyPr>
            <a:normAutofit fontScale="90000"/>
          </a:bodyPr>
          <a:lstStyle/>
          <a:p>
            <a:pPr>
              <a:defRPr sz="3000" b="1">
                <a:solidFill>
                  <a:srgbClr val="B31B1B"/>
                </a:solidFill>
              </a:defRPr>
            </a:pPr>
            <a:r>
              <a:rPr lang="zh-CN" altLang="en-US"/>
              <a:t>项目背景和目标</a:t>
            </a: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DAB06F9-A213-A68C-5C49-B634D44922DA}"/>
              </a:ext>
            </a:extLst>
          </p:cNvPr>
          <p:cNvSpPr txBox="1"/>
          <p:nvPr/>
        </p:nvSpPr>
        <p:spPr>
          <a:xfrm>
            <a:off x="5499100" y="2573057"/>
            <a:ext cx="609600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 b="1">
                <a:solidFill>
                  <a:srgbClr val="333333"/>
                </a:solidFill>
                <a:latin typeface="微软雅黑"/>
              </a:defRPr>
            </a:pPr>
            <a:r>
              <a:rPr lang="zh-CN" altLang="en-US" sz="2000">
                <a:solidFill>
                  <a:srgbClr val="C00000"/>
                </a:solidFill>
              </a:rPr>
              <a:t>单模态局限</a:t>
            </a:r>
          </a:p>
          <a:p>
            <a:pPr>
              <a:spcBef>
                <a:spcPts val="400"/>
              </a:spcBef>
              <a:defRPr sz="1500" b="0">
                <a:solidFill>
                  <a:srgbClr val="333333"/>
                </a:solidFill>
                <a:latin typeface="微软雅黑"/>
              </a:defRPr>
            </a:pPr>
            <a:r>
              <a:rPr lang="en-US" altLang="zh-CN" sz="1600"/>
              <a:t>• </a:t>
            </a:r>
            <a:r>
              <a:rPr lang="zh-CN" altLang="en-US" sz="1600"/>
              <a:t>人脸表情 ≠ 真实情感：笑脸可能配讽刺文字，愤怒脸可能配赞美</a:t>
            </a:r>
          </a:p>
          <a:p>
            <a:pPr>
              <a:spcBef>
                <a:spcPts val="400"/>
              </a:spcBef>
              <a:defRPr sz="1500" b="0">
                <a:solidFill>
                  <a:srgbClr val="333333"/>
                </a:solidFill>
                <a:latin typeface="微软雅黑"/>
              </a:defRPr>
            </a:pPr>
            <a:r>
              <a:rPr lang="en-US" altLang="zh-CN" sz="1600"/>
              <a:t>• </a:t>
            </a:r>
            <a:r>
              <a:rPr lang="zh-CN" altLang="en-US" sz="1600"/>
              <a:t>纯 </a:t>
            </a:r>
            <a:r>
              <a:rPr lang="en-US" altLang="zh-CN" sz="1600"/>
              <a:t>CV </a:t>
            </a:r>
            <a:r>
              <a:rPr lang="zh-CN" altLang="en-US" sz="1600"/>
              <a:t>分析只看脸，纯 </a:t>
            </a:r>
            <a:r>
              <a:rPr lang="en-US" altLang="zh-CN" sz="1600"/>
              <a:t>NLP </a:t>
            </a:r>
            <a:r>
              <a:rPr lang="zh-CN" altLang="en-US" sz="1600"/>
              <a:t>分析只看字，都无法捕捉矛盾信号</a:t>
            </a:r>
          </a:p>
          <a:p>
            <a:pPr>
              <a:spcBef>
                <a:spcPts val="400"/>
              </a:spcBef>
              <a:defRPr sz="1500" b="0">
                <a:solidFill>
                  <a:srgbClr val="333333"/>
                </a:solidFill>
                <a:latin typeface="微软雅黑"/>
              </a:defRPr>
            </a:pPr>
            <a:r>
              <a:rPr lang="en-US" altLang="zh-CN" sz="1600"/>
              <a:t>• </a:t>
            </a:r>
            <a:r>
              <a:rPr lang="zh-CN" altLang="en-US" sz="1600"/>
              <a:t>社交媒体的「图文不符」是普遍现象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26284FB3-DAC1-3C4D-3695-B1DFBE1A5C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263" y="1334139"/>
            <a:ext cx="4141852" cy="3956626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ED289D2E-90C1-D82F-6B31-E8764F013899}"/>
              </a:ext>
            </a:extLst>
          </p:cNvPr>
          <p:cNvSpPr txBox="1"/>
          <p:nvPr/>
        </p:nvSpPr>
        <p:spPr>
          <a:xfrm>
            <a:off x="5499100" y="5357594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500" b="0">
                <a:solidFill>
                  <a:srgbClr val="333333"/>
                </a:solidFill>
                <a:latin typeface="微软雅黑"/>
              </a:defRPr>
            </a:pPr>
            <a:r>
              <a:rPr lang="zh-CN" altLang="en-US" sz="2000" b="1">
                <a:solidFill>
                  <a:srgbClr val="C00000"/>
                </a:solidFill>
                <a:latin typeface="+mn-ea"/>
              </a:rPr>
              <a:t>应用场景</a:t>
            </a:r>
            <a:r>
              <a:rPr lang="zh-CN" altLang="en-US" sz="2000" b="1">
                <a:solidFill>
                  <a:srgbClr val="C00000"/>
                </a:solidFill>
                <a:latin typeface="+mj-ea"/>
                <a:ea typeface="+mj-ea"/>
              </a:rPr>
              <a:t>：</a:t>
            </a:r>
            <a:r>
              <a:rPr lang="zh-CN" altLang="en-US"/>
              <a:t>社交媒体（微博 </a:t>
            </a:r>
            <a:r>
              <a:rPr lang="en-US" altLang="zh-CN"/>
              <a:t>/ </a:t>
            </a:r>
            <a:r>
              <a:rPr lang="zh-CN" altLang="en-US"/>
              <a:t>小红书）图文内容情感分析</a:t>
            </a:r>
            <a:endParaRPr lang="zh-CN" altLang="en-US" sz="2000"/>
          </a:p>
        </p:txBody>
      </p:sp>
    </p:spTree>
    <p:extLst>
      <p:ext uri="{BB962C8B-B14F-4D97-AF65-F5344CB8AC3E}">
        <p14:creationId xmlns:p14="http://schemas.microsoft.com/office/powerpoint/2010/main" val="1877937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C45B1-276E-B86A-E587-A50277A95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FAC2AF48-7EF9-FF4A-7FE6-E4A3E155B5F9}"/>
              </a:ext>
            </a:extLst>
          </p:cNvPr>
          <p:cNvSpPr/>
          <p:nvPr/>
        </p:nvSpPr>
        <p:spPr>
          <a:xfrm>
            <a:off x="134709" y="239939"/>
            <a:ext cx="209554" cy="657225"/>
          </a:xfrm>
          <a:prstGeom prst="rect">
            <a:avLst/>
          </a:prstGeom>
          <a:solidFill>
            <a:srgbClr val="B929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CB32E2B-7C4F-D9BF-6C0C-8204A700AC34}"/>
              </a:ext>
            </a:extLst>
          </p:cNvPr>
          <p:cNvSpPr/>
          <p:nvPr/>
        </p:nvSpPr>
        <p:spPr>
          <a:xfrm>
            <a:off x="0" y="4534296"/>
            <a:ext cx="12192000" cy="2323704"/>
          </a:xfrm>
          <a:prstGeom prst="rect">
            <a:avLst/>
          </a:prstGeom>
          <a:blipFill dpi="0" rotWithShape="1">
            <a:blip r:embed="rId2">
              <a:alphaModFix amt="17000"/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109201F-BE25-627A-50BC-5AE0038F102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8" r="37718" b="50000"/>
          <a:stretch>
            <a:fillRect/>
          </a:stretch>
        </p:blipFill>
        <p:spPr>
          <a:xfrm>
            <a:off x="10096501" y="5597863"/>
            <a:ext cx="2095500" cy="1260137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E3F62E52-E1EA-AEF9-3AC1-3C6A0B98E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280373"/>
            <a:ext cx="2603500" cy="585788"/>
          </a:xfrm>
        </p:spPr>
        <p:txBody>
          <a:bodyPr>
            <a:normAutofit/>
          </a:bodyPr>
          <a:lstStyle/>
          <a:p>
            <a:pPr>
              <a:defRPr sz="3000" b="1">
                <a:solidFill>
                  <a:srgbClr val="B31B1B"/>
                </a:solidFill>
              </a:defRPr>
            </a:pPr>
            <a:r>
              <a:rPr lang="zh-CN" altLang="en-US"/>
              <a:t>小组分工</a:t>
            </a:r>
            <a:endParaRPr/>
          </a:p>
        </p:txBody>
      </p:sp>
      <p:graphicFrame>
        <p:nvGraphicFramePr>
          <p:cNvPr id="10" name="Table 3">
            <a:extLst>
              <a:ext uri="{FF2B5EF4-FFF2-40B4-BE49-F238E27FC236}">
                <a16:creationId xmlns:a16="http://schemas.microsoft.com/office/drawing/2014/main" id="{03F6308B-DEF5-A7C8-31F7-EEC067D2DF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6346221"/>
              </p:ext>
            </p:extLst>
          </p:nvPr>
        </p:nvGraphicFramePr>
        <p:xfrm>
          <a:off x="558800" y="953078"/>
          <a:ext cx="11000000" cy="52748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3333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1600"/>
                        <a:t>组员</a:t>
                      </a:r>
                    </a:p>
                  </a:txBody>
                  <a:tcPr marL="45720" marR="45720" marT="27432" marB="27432" anchor="ctr">
                    <a:solidFill>
                      <a:srgbClr val="B31B1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1600"/>
                        <a:t>负责模块</a:t>
                      </a:r>
                    </a:p>
                  </a:txBody>
                  <a:tcPr marL="45720" marR="45720" marT="27432" marB="27432" anchor="ctr">
                    <a:solidFill>
                      <a:srgbClr val="B31B1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1600"/>
                        <a:t>技术栈</a:t>
                      </a:r>
                    </a:p>
                  </a:txBody>
                  <a:tcPr marL="45720" marR="45720" marT="27432" marB="27432" anchor="ctr">
                    <a:solidFill>
                      <a:srgbClr val="B31B1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1600"/>
                        <a:t>主要工作内容</a:t>
                      </a:r>
                    </a:p>
                  </a:txBody>
                  <a:tcPr marL="45720" marR="45720" marT="27432" marB="27432" anchor="ctr">
                    <a:solidFill>
                      <a:srgbClr val="B31B1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1600"/>
                        <a:t>核心交付物</a:t>
                      </a:r>
                    </a:p>
                  </a:txBody>
                  <a:tcPr marL="45720" marR="45720" marT="27432" marB="27432" anchor="ctr">
                    <a:solidFill>
                      <a:srgbClr val="B3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3333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rPr sz="1400"/>
                        <a:t>郑智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rPr sz="1400"/>
                        <a:t>数据处理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rPr sz="1400"/>
                        <a:t>Python, OpenCV, Pandas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rPr sz="1400"/>
                        <a:t>社交媒体图文数据采集与清洗</a:t>
                      </a:r>
                      <a:br>
                        <a:rPr sz="1400"/>
                      </a:br>
                      <a:r>
                        <a:rPr sz="1400"/>
                        <a:t>图文对提取与标签对齐</a:t>
                      </a:r>
                      <a:br>
                        <a:rPr sz="1400"/>
                      </a:br>
                      <a:r>
                        <a:rPr sz="1400"/>
                        <a:t>人脸图像标准化与CSV索引构建</a:t>
                      </a:r>
                      <a:br>
                        <a:rPr sz="1400"/>
                      </a:br>
                      <a:r>
                        <a:rPr sz="1400"/>
                        <a:t>数据质量校验与类别均衡处理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rPr sz="1400"/>
                        <a:t>dataset.csv(400条)</a:t>
                      </a:r>
                      <a:br>
                        <a:rPr sz="1400"/>
                      </a:br>
                      <a:r>
                        <a:rPr sz="1400"/>
                        <a:t>标准化人脸图像库</a:t>
                      </a:r>
                      <a:br>
                        <a:rPr sz="1400"/>
                      </a:br>
                      <a:r>
                        <a:rPr sz="1400"/>
                        <a:t>数据预处理脚本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3333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rPr sz="1400"/>
                        <a:t>肖彤</a:t>
                      </a:r>
                    </a:p>
                  </a:txBody>
                  <a:tcPr marL="45720" marR="45720" marT="27432" marB="27432" anchor="ctr"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rPr sz="1400"/>
                        <a:t>CV视觉模块</a:t>
                      </a:r>
                    </a:p>
                  </a:txBody>
                  <a:tcPr marL="45720" marR="45720" marT="27432" marB="27432" anchor="ctr"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rPr sz="1400"/>
                        <a:t>PyTorch, torchvision,</a:t>
                      </a:r>
                      <a:br>
                        <a:rPr sz="1400"/>
                      </a:br>
                      <a:r>
                        <a:rPr sz="1400"/>
                        <a:t>OpenCV</a:t>
                      </a:r>
                    </a:p>
                  </a:txBody>
                  <a:tcPr marL="45720" marR="45720" marT="27432" marB="27432" anchor="ctr"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rPr sz="1400"/>
                        <a:t>ResNet18双阶段迁移学习训练</a:t>
                      </a:r>
                      <a:br>
                        <a:rPr sz="1400"/>
                      </a:br>
                      <a:r>
                        <a:rPr sz="1400"/>
                        <a:t>(FER2013基准-&gt;RAF-DB微调)</a:t>
                      </a:r>
                      <a:br>
                        <a:rPr sz="1400"/>
                      </a:br>
                      <a:r>
                        <a:rPr sz="1400"/>
                        <a:t>特征提取器截断(512d)</a:t>
                      </a:r>
                      <a:br>
                        <a:rPr sz="1400"/>
                      </a:br>
                      <a:r>
                        <a:rPr sz="1400"/>
                        <a:t>摄像头实时推理接口开发</a:t>
                      </a:r>
                    </a:p>
                  </a:txBody>
                  <a:tcPr marL="45720" marR="45720" marT="27432" marB="27432" anchor="ctr"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rPr sz="1400"/>
                        <a:t>rafdb_emotion_model.pth</a:t>
                      </a:r>
                      <a:br>
                        <a:rPr sz="1400"/>
                      </a:br>
                      <a:r>
                        <a:rPr sz="1400"/>
                        <a:t>vision_toolkit.py</a:t>
                      </a:r>
                      <a:br>
                        <a:rPr sz="1400"/>
                      </a:br>
                      <a:r>
                        <a:rPr sz="1400"/>
                        <a:t>unified_train.py</a:t>
                      </a:r>
                    </a:p>
                  </a:txBody>
                  <a:tcPr marL="45720" marR="45720" marT="27432" marB="27432" anchor="ctr">
                    <a:solidFill>
                      <a:srgbClr val="F5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3333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rPr sz="1400"/>
                        <a:t>黄丁鹏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rPr sz="1400"/>
                        <a:t>NLP文本模块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rPr sz="1400"/>
                        <a:t>Transformers,</a:t>
                      </a:r>
                      <a:br>
                        <a:rPr sz="1400"/>
                      </a:br>
                      <a:r>
                        <a:rPr sz="1400"/>
                        <a:t>HuggingFace, PyTorch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rPr sz="1400"/>
                        <a:t>RoBERTa-wwm-ext微调训练</a:t>
                      </a:r>
                      <a:br>
                        <a:rPr sz="1400"/>
                      </a:br>
                      <a:r>
                        <a:rPr sz="1400"/>
                        <a:t>Tokenizer封装与文本编码</a:t>
                      </a:r>
                      <a:br>
                        <a:rPr sz="1400"/>
                      </a:br>
                      <a:r>
                        <a:rPr sz="1400"/>
                        <a:t>768d语义特征提取接口</a:t>
                      </a:r>
                      <a:br>
                        <a:rPr sz="1400"/>
                      </a:br>
                      <a:r>
                        <a:rPr sz="1400"/>
                        <a:t>情感三分类模型训练与评估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rPr sz="1400"/>
                        <a:t>sentiment_model/</a:t>
                      </a:r>
                      <a:br>
                        <a:rPr sz="1400"/>
                      </a:br>
                      <a:r>
                        <a:rPr sz="1400"/>
                        <a:t>nlp_toolkit.py</a:t>
                      </a:r>
                      <a:br>
                        <a:rPr sz="1400"/>
                      </a:br>
                      <a:r>
                        <a:rPr sz="1400"/>
                        <a:t>train.py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3333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rPr sz="1400"/>
                        <a:t>王晨宇</a:t>
                      </a:r>
                    </a:p>
                  </a:txBody>
                  <a:tcPr marL="45720" marR="45720" marT="27432" marB="27432" anchor="ctr"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rPr sz="1400"/>
                        <a:t>融合模型</a:t>
                      </a:r>
                    </a:p>
                  </a:txBody>
                  <a:tcPr marL="45720" marR="45720" marT="27432" marB="27432" anchor="ctr"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rPr sz="1400"/>
                        <a:t>PyTorch</a:t>
                      </a:r>
                    </a:p>
                  </a:txBody>
                  <a:tcPr marL="45720" marR="45720" marT="27432" marB="27432" anchor="ctr"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rPr sz="1400"/>
                        <a:t>四种融合策略设计与实现</a:t>
                      </a:r>
                      <a:br>
                        <a:rPr sz="1400"/>
                      </a:br>
                      <a:r>
                        <a:rPr sz="1400"/>
                        <a:t>(Early/Late/Gated/SarcasmAware)</a:t>
                      </a:r>
                      <a:br>
                        <a:rPr sz="1400"/>
                      </a:br>
                      <a:r>
                        <a:rPr sz="1400"/>
                        <a:t>冲突感知机制(Conflict Encoder)</a:t>
                      </a:r>
                      <a:br>
                        <a:rPr sz="1400"/>
                      </a:br>
                      <a:r>
                        <a:rPr sz="1400"/>
                        <a:t>Pipeline总调度器开发</a:t>
                      </a:r>
                    </a:p>
                  </a:txBody>
                  <a:tcPr marL="45720" marR="45720" marT="27432" marB="27432" anchor="ctr"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rPr sz="1400"/>
                        <a:t>all_fusion.py</a:t>
                      </a:r>
                      <a:br>
                        <a:rPr sz="1400"/>
                      </a:br>
                      <a:r>
                        <a:rPr sz="1400"/>
                        <a:t>gated_fusion.py</a:t>
                      </a:r>
                      <a:br>
                        <a:rPr sz="1400"/>
                      </a:br>
                      <a:r>
                        <a:rPr sz="1400"/>
                        <a:t>pipeline.py</a:t>
                      </a:r>
                      <a:br>
                        <a:rPr sz="1400"/>
                      </a:br>
                      <a:r>
                        <a:rPr sz="1400"/>
                        <a:t>融合模型权重(*.pth)</a:t>
                      </a:r>
                    </a:p>
                  </a:txBody>
                  <a:tcPr marL="45720" marR="45720" marT="27432" marB="27432" anchor="ctr">
                    <a:solidFill>
                      <a:srgbClr val="F5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333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rPr sz="1400"/>
                        <a:t>罗松宁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rPr sz="1400"/>
                        <a:t>前端集成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rPr sz="1400"/>
                        <a:t>Gradio, OpenCV,</a:t>
                      </a:r>
                      <a:br>
                        <a:rPr sz="1400"/>
                      </a:br>
                      <a:r>
                        <a:rPr sz="1400"/>
                        <a:t>PyInstaller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rPr sz="1400"/>
                        <a:t>Gradio Web界面开发(3个Tab)</a:t>
                      </a:r>
                      <a:br>
                        <a:rPr sz="1400"/>
                      </a:br>
                      <a:r>
                        <a:rPr sz="1400"/>
                        <a:t>摄像头实时人脸检测集成</a:t>
                      </a:r>
                      <a:br>
                        <a:rPr sz="1400"/>
                      </a:br>
                      <a:r>
                        <a:rPr sz="1400"/>
                        <a:t>历史记录CSV系统</a:t>
                      </a:r>
                      <a:br>
                        <a:rPr sz="1400"/>
                      </a:br>
                      <a:r>
                        <a:rPr sz="1400"/>
                        <a:t>便携打包(启动.exe)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rPr sz="1400"/>
                        <a:t>app.py</a:t>
                      </a:r>
                      <a:br>
                        <a:rPr sz="1400"/>
                      </a:br>
                      <a:r>
                        <a:rPr sz="1400"/>
                        <a:t>launcher_portable.py</a:t>
                      </a:r>
                      <a:br>
                        <a:rPr sz="1400"/>
                      </a:br>
                      <a:r>
                        <a:rPr sz="1400"/>
                        <a:t>启动.exe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4990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34709" y="239939"/>
            <a:ext cx="209554" cy="657225"/>
          </a:xfrm>
          <a:prstGeom prst="rect">
            <a:avLst/>
          </a:prstGeom>
          <a:solidFill>
            <a:srgbClr val="B929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0" y="4534296"/>
            <a:ext cx="12192000" cy="2323704"/>
          </a:xfrm>
          <a:prstGeom prst="rect">
            <a:avLst/>
          </a:prstGeom>
          <a:blipFill dpi="0" rotWithShape="1">
            <a:blip r:embed="rId2">
              <a:alphaModFix amt="17000"/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8" r="37718" b="50000"/>
          <a:stretch>
            <a:fillRect/>
          </a:stretch>
        </p:blipFill>
        <p:spPr>
          <a:xfrm>
            <a:off x="10096501" y="5597863"/>
            <a:ext cx="2095500" cy="1260137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CBC4A1EC-79A8-8F12-C123-98EC82808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311376"/>
            <a:ext cx="2603500" cy="585788"/>
          </a:xfrm>
        </p:spPr>
        <p:txBody>
          <a:bodyPr/>
          <a:lstStyle/>
          <a:p>
            <a:pPr>
              <a:defRPr sz="3000" b="1">
                <a:solidFill>
                  <a:srgbClr val="B31B1B"/>
                </a:solidFill>
              </a:defRPr>
            </a:pPr>
            <a:r>
              <a:rPr err="1"/>
              <a:t>系统架构总览</a:t>
            </a:r>
            <a:endParaRPr/>
          </a:p>
        </p:txBody>
      </p:sp>
      <p:sp>
        <p:nvSpPr>
          <p:cNvPr id="19" name="Rounded Rectangle 2">
            <a:extLst>
              <a:ext uri="{FF2B5EF4-FFF2-40B4-BE49-F238E27FC236}">
                <a16:creationId xmlns:a16="http://schemas.microsoft.com/office/drawing/2014/main" id="{2E2AE87D-F304-8253-5774-286E75C39815}"/>
              </a:ext>
            </a:extLst>
          </p:cNvPr>
          <p:cNvSpPr/>
          <p:nvPr/>
        </p:nvSpPr>
        <p:spPr>
          <a:xfrm>
            <a:off x="344264" y="1422400"/>
            <a:ext cx="2338336" cy="938331"/>
          </a:xfrm>
          <a:prstGeom prst="roundRect">
            <a:avLst/>
          </a:prstGeom>
          <a:solidFill>
            <a:srgbClr val="B3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 sz="1400"/>
              <a:t>CV </a:t>
            </a:r>
            <a:r>
              <a:rPr sz="1400" err="1"/>
              <a:t>视觉模块</a:t>
            </a:r>
            <a:br>
              <a:rPr sz="1400"/>
            </a:br>
            <a:r>
              <a:rPr sz="1400"/>
              <a:t>ResNet18 · RAF-DB</a:t>
            </a:r>
            <a:br>
              <a:rPr sz="1400"/>
            </a:br>
            <a:r>
              <a:rPr sz="1400"/>
              <a:t>7 </a:t>
            </a:r>
            <a:r>
              <a:rPr sz="1400" err="1"/>
              <a:t>分类表情</a:t>
            </a:r>
            <a:r>
              <a:rPr sz="1400"/>
              <a:t> → 512d</a:t>
            </a:r>
          </a:p>
        </p:txBody>
      </p:sp>
      <p:sp>
        <p:nvSpPr>
          <p:cNvPr id="23" name="Rounded Rectangle 3">
            <a:extLst>
              <a:ext uri="{FF2B5EF4-FFF2-40B4-BE49-F238E27FC236}">
                <a16:creationId xmlns:a16="http://schemas.microsoft.com/office/drawing/2014/main" id="{D1B60D0D-DA5D-DB05-AF8F-A6E23FA810B0}"/>
              </a:ext>
            </a:extLst>
          </p:cNvPr>
          <p:cNvSpPr/>
          <p:nvPr/>
        </p:nvSpPr>
        <p:spPr>
          <a:xfrm>
            <a:off x="344262" y="2460731"/>
            <a:ext cx="2338337" cy="700000"/>
          </a:xfrm>
          <a:prstGeom prst="roundRect">
            <a:avLst/>
          </a:prstGeom>
          <a:solidFill>
            <a:srgbClr val="D83B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rPr sz="1050" err="1"/>
              <a:t>人脸检测</a:t>
            </a:r>
            <a:r>
              <a:rPr sz="1050"/>
              <a:t>: YuNet</a:t>
            </a:r>
            <a:br>
              <a:rPr sz="1050"/>
            </a:br>
            <a:r>
              <a:rPr sz="1050"/>
              <a:t>OpenCV DNN</a:t>
            </a:r>
          </a:p>
        </p:txBody>
      </p:sp>
      <p:sp>
        <p:nvSpPr>
          <p:cNvPr id="47" name="Right Arrow 4">
            <a:extLst>
              <a:ext uri="{FF2B5EF4-FFF2-40B4-BE49-F238E27FC236}">
                <a16:creationId xmlns:a16="http://schemas.microsoft.com/office/drawing/2014/main" id="{F4416C17-5245-6E37-F4D0-0E631ED759B4}"/>
              </a:ext>
            </a:extLst>
          </p:cNvPr>
          <p:cNvSpPr/>
          <p:nvPr/>
        </p:nvSpPr>
        <p:spPr>
          <a:xfrm rot="5400000">
            <a:off x="5757950" y="3229085"/>
            <a:ext cx="500000" cy="400000"/>
          </a:xfrm>
          <a:prstGeom prst="rightArrow">
            <a:avLst/>
          </a:prstGeom>
          <a:solidFill>
            <a:srgbClr val="B3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5">
            <a:extLst>
              <a:ext uri="{FF2B5EF4-FFF2-40B4-BE49-F238E27FC236}">
                <a16:creationId xmlns:a16="http://schemas.microsoft.com/office/drawing/2014/main" id="{5D2714E9-03A4-6A1B-BCDB-F3CFFC00A3BB}"/>
              </a:ext>
            </a:extLst>
          </p:cNvPr>
          <p:cNvSpPr/>
          <p:nvPr/>
        </p:nvSpPr>
        <p:spPr>
          <a:xfrm>
            <a:off x="3493500" y="1747044"/>
            <a:ext cx="5000000" cy="120000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 sz="1400"/>
              <a:t> </a:t>
            </a:r>
            <a:r>
              <a:rPr sz="1400" err="1"/>
              <a:t>多模态融合</a:t>
            </a:r>
            <a:r>
              <a:rPr sz="1400"/>
              <a:t> (Gated Fusion)</a:t>
            </a:r>
            <a:br>
              <a:rPr sz="1400"/>
            </a:br>
            <a:r>
              <a:rPr sz="1400"/>
              <a:t>α </a:t>
            </a:r>
            <a:r>
              <a:rPr sz="1400" err="1"/>
              <a:t>动态门控</a:t>
            </a:r>
            <a:r>
              <a:rPr sz="1400"/>
              <a:t> · </a:t>
            </a:r>
            <a:r>
              <a:rPr sz="1400" err="1"/>
              <a:t>冲突感知</a:t>
            </a:r>
            <a:br>
              <a:rPr sz="1400"/>
            </a:br>
            <a:r>
              <a:rPr sz="1400"/>
              <a:t>Early / Late / Gated</a:t>
            </a:r>
            <a:br>
              <a:rPr sz="1400"/>
            </a:br>
            <a:r>
              <a:rPr sz="1400"/>
              <a:t>5 </a:t>
            </a:r>
            <a:r>
              <a:rPr sz="1400" err="1"/>
              <a:t>分类：喜</a:t>
            </a:r>
            <a:r>
              <a:rPr sz="1400"/>
              <a:t> | 怒 | 哀 | 惊 | 讽</a:t>
            </a:r>
          </a:p>
        </p:txBody>
      </p:sp>
      <p:sp>
        <p:nvSpPr>
          <p:cNvPr id="51" name="Right Arrow 6">
            <a:extLst>
              <a:ext uri="{FF2B5EF4-FFF2-40B4-BE49-F238E27FC236}">
                <a16:creationId xmlns:a16="http://schemas.microsoft.com/office/drawing/2014/main" id="{5BFD3F5D-0728-8D85-566B-CEA5011AC877}"/>
              </a:ext>
            </a:extLst>
          </p:cNvPr>
          <p:cNvSpPr/>
          <p:nvPr/>
        </p:nvSpPr>
        <p:spPr>
          <a:xfrm rot="10800000">
            <a:off x="8632600" y="2160731"/>
            <a:ext cx="500000" cy="400000"/>
          </a:xfrm>
          <a:prstGeom prst="rightArrow">
            <a:avLst/>
          </a:prstGeom>
          <a:solidFill>
            <a:srgbClr val="B3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7">
            <a:extLst>
              <a:ext uri="{FF2B5EF4-FFF2-40B4-BE49-F238E27FC236}">
                <a16:creationId xmlns:a16="http://schemas.microsoft.com/office/drawing/2014/main" id="{BB06D941-F990-4028-440A-73717666D409}"/>
              </a:ext>
            </a:extLst>
          </p:cNvPr>
          <p:cNvSpPr/>
          <p:nvPr/>
        </p:nvSpPr>
        <p:spPr>
          <a:xfrm>
            <a:off x="9242800" y="1422400"/>
            <a:ext cx="2350000" cy="938331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 sz="1400"/>
              <a:t>NLP </a:t>
            </a:r>
            <a:r>
              <a:rPr sz="1400" err="1"/>
              <a:t>文本模块</a:t>
            </a:r>
            <a:br>
              <a:rPr sz="1400"/>
            </a:br>
            <a:r>
              <a:rPr sz="1400" err="1"/>
              <a:t>chinese-roberta-wwm-ext</a:t>
            </a:r>
            <a:br>
              <a:rPr sz="1400"/>
            </a:br>
            <a:r>
              <a:rPr sz="1400"/>
              <a:t>3 </a:t>
            </a:r>
            <a:r>
              <a:rPr sz="1400" err="1"/>
              <a:t>分类情感</a:t>
            </a:r>
            <a:r>
              <a:rPr sz="1400"/>
              <a:t> → 768d</a:t>
            </a:r>
          </a:p>
        </p:txBody>
      </p:sp>
      <p:sp>
        <p:nvSpPr>
          <p:cNvPr id="55" name="Rounded Rectangle 8">
            <a:extLst>
              <a:ext uri="{FF2B5EF4-FFF2-40B4-BE49-F238E27FC236}">
                <a16:creationId xmlns:a16="http://schemas.microsoft.com/office/drawing/2014/main" id="{63EF9D6F-0994-DD56-AF0A-B7519F8F2707}"/>
              </a:ext>
            </a:extLst>
          </p:cNvPr>
          <p:cNvSpPr/>
          <p:nvPr/>
        </p:nvSpPr>
        <p:spPr>
          <a:xfrm>
            <a:off x="9242800" y="2460731"/>
            <a:ext cx="2350000" cy="700000"/>
          </a:xfrm>
          <a:prstGeom prst="roundRect">
            <a:avLst/>
          </a:prstGeom>
          <a:solidFill>
            <a:srgbClr val="D83B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rPr sz="1050" err="1"/>
              <a:t>哈工大讯飞</a:t>
            </a:r>
            <a:r>
              <a:rPr sz="1050"/>
              <a:t> · </a:t>
            </a:r>
            <a:r>
              <a:rPr sz="1050" err="1"/>
              <a:t>中文优化</a:t>
            </a:r>
            <a:br>
              <a:rPr sz="1050"/>
            </a:br>
            <a:r>
              <a:rPr sz="1050" err="1"/>
              <a:t>HuggingFace</a:t>
            </a:r>
            <a:r>
              <a:rPr sz="1050"/>
              <a:t> Transformers</a:t>
            </a:r>
          </a:p>
        </p:txBody>
      </p:sp>
      <p:sp>
        <p:nvSpPr>
          <p:cNvPr id="57" name="Rounded Rectangle 9">
            <a:extLst>
              <a:ext uri="{FF2B5EF4-FFF2-40B4-BE49-F238E27FC236}">
                <a16:creationId xmlns:a16="http://schemas.microsoft.com/office/drawing/2014/main" id="{623EBC0A-8A73-B492-A45B-7D62D23A6F56}"/>
              </a:ext>
            </a:extLst>
          </p:cNvPr>
          <p:cNvSpPr/>
          <p:nvPr/>
        </p:nvSpPr>
        <p:spPr>
          <a:xfrm>
            <a:off x="3581950" y="3915318"/>
            <a:ext cx="4801300" cy="810582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rPr sz="1600"/>
              <a:t>输出</a:t>
            </a:r>
            <a:r>
              <a:rPr sz="1600" err="1"/>
              <a:t>：情感标签</a:t>
            </a:r>
            <a:r>
              <a:rPr sz="1600"/>
              <a:t> + </a:t>
            </a:r>
            <a:r>
              <a:rPr sz="1600" err="1"/>
              <a:t>置信度</a:t>
            </a:r>
            <a:r>
              <a:rPr sz="1600"/>
              <a:t> + </a:t>
            </a:r>
            <a:r>
              <a:rPr sz="1600" err="1"/>
              <a:t>强度</a:t>
            </a:r>
            <a:r>
              <a:rPr sz="1600"/>
              <a:t> 1-10 + α </a:t>
            </a:r>
            <a:r>
              <a:rPr sz="1600" err="1"/>
              <a:t>系数</a:t>
            </a:r>
            <a:r>
              <a:rPr sz="1600"/>
              <a:t> + </a:t>
            </a:r>
            <a:r>
              <a:rPr sz="1600" err="1"/>
              <a:t>冲突分数</a:t>
            </a:r>
            <a:endParaRPr sz="1600"/>
          </a:p>
        </p:txBody>
      </p:sp>
      <p:sp>
        <p:nvSpPr>
          <p:cNvPr id="59" name="TextBox 10">
            <a:extLst>
              <a:ext uri="{FF2B5EF4-FFF2-40B4-BE49-F238E27FC236}">
                <a16:creationId xmlns:a16="http://schemas.microsoft.com/office/drawing/2014/main" id="{C4D91571-F7F6-6F35-FBCC-9497FEABF2D3}"/>
              </a:ext>
            </a:extLst>
          </p:cNvPr>
          <p:cNvSpPr txBox="1"/>
          <p:nvPr/>
        </p:nvSpPr>
        <p:spPr>
          <a:xfrm>
            <a:off x="950200" y="5104891"/>
            <a:ext cx="10064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rPr err="1"/>
              <a:t>系统流程：图片</a:t>
            </a:r>
            <a:r>
              <a:t> + </a:t>
            </a:r>
            <a:r>
              <a:rPr err="1"/>
              <a:t>文本</a:t>
            </a:r>
            <a:r>
              <a:t> → CV </a:t>
            </a:r>
            <a:r>
              <a:rPr err="1"/>
              <a:t>特征提取</a:t>
            </a:r>
            <a:r>
              <a:t> + NLP </a:t>
            </a:r>
            <a:r>
              <a:rPr err="1"/>
              <a:t>语义提取</a:t>
            </a:r>
            <a:r>
              <a:t> → </a:t>
            </a:r>
            <a:r>
              <a:rPr err="1"/>
              <a:t>门控融合</a:t>
            </a:r>
            <a:r>
              <a:t> → </a:t>
            </a:r>
            <a:r>
              <a:rPr err="1"/>
              <a:t>综合情感判断</a:t>
            </a:r>
            <a:endParaRPr/>
          </a:p>
        </p:txBody>
      </p:sp>
      <p:sp>
        <p:nvSpPr>
          <p:cNvPr id="61" name="Right Arrow 4">
            <a:extLst>
              <a:ext uri="{FF2B5EF4-FFF2-40B4-BE49-F238E27FC236}">
                <a16:creationId xmlns:a16="http://schemas.microsoft.com/office/drawing/2014/main" id="{58409BB8-4C57-CD9F-63DD-765D80BFE61A}"/>
              </a:ext>
            </a:extLst>
          </p:cNvPr>
          <p:cNvSpPr/>
          <p:nvPr/>
        </p:nvSpPr>
        <p:spPr>
          <a:xfrm>
            <a:off x="2883300" y="2160731"/>
            <a:ext cx="500000" cy="400000"/>
          </a:xfrm>
          <a:prstGeom prst="rightArrow">
            <a:avLst/>
          </a:prstGeom>
          <a:solidFill>
            <a:srgbClr val="B3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AE98F-607C-777C-DB5B-ED559AC82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3700BB97-E7A8-2544-392A-1EAA73658BAB}"/>
              </a:ext>
            </a:extLst>
          </p:cNvPr>
          <p:cNvSpPr/>
          <p:nvPr/>
        </p:nvSpPr>
        <p:spPr>
          <a:xfrm>
            <a:off x="134709" y="239939"/>
            <a:ext cx="209554" cy="657225"/>
          </a:xfrm>
          <a:prstGeom prst="rect">
            <a:avLst/>
          </a:prstGeom>
          <a:solidFill>
            <a:srgbClr val="B929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0D4824F-2CA2-21DB-89DA-C8DE5FAC7DDE}"/>
              </a:ext>
            </a:extLst>
          </p:cNvPr>
          <p:cNvSpPr/>
          <p:nvPr/>
        </p:nvSpPr>
        <p:spPr>
          <a:xfrm>
            <a:off x="0" y="4534296"/>
            <a:ext cx="12192000" cy="2323704"/>
          </a:xfrm>
          <a:prstGeom prst="rect">
            <a:avLst/>
          </a:prstGeom>
          <a:blipFill dpi="0" rotWithShape="1">
            <a:blip r:embed="rId2">
              <a:alphaModFix amt="17000"/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751A8B4-F9CB-F6A6-4BFB-ED4C9B4A4AA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8" r="37718" b="50000"/>
          <a:stretch>
            <a:fillRect/>
          </a:stretch>
        </p:blipFill>
        <p:spPr>
          <a:xfrm>
            <a:off x="10096501" y="5597863"/>
            <a:ext cx="2095500" cy="1260137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42BFA462-FEE4-1981-9881-D6D8C6D17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263" y="-65426"/>
            <a:ext cx="10515600" cy="1325563"/>
          </a:xfrm>
        </p:spPr>
        <p:txBody>
          <a:bodyPr/>
          <a:lstStyle/>
          <a:p>
            <a:pPr>
              <a:defRPr sz="3000" b="1">
                <a:solidFill>
                  <a:srgbClr val="B31B1B"/>
                </a:solidFill>
              </a:defRPr>
            </a:pPr>
            <a:r>
              <a:t>CV </a:t>
            </a:r>
            <a:r>
              <a:rPr err="1"/>
              <a:t>模块</a:t>
            </a:r>
            <a:r>
              <a:t> —— 人脸表情识别（7 </a:t>
            </a:r>
            <a:r>
              <a:rPr err="1"/>
              <a:t>分类</a:t>
            </a:r>
            <a:r>
              <a:t>）</a:t>
            </a:r>
          </a:p>
        </p:txBody>
      </p:sp>
      <p:sp>
        <p:nvSpPr>
          <p:cNvPr id="14" name="TextBox 3">
            <a:extLst>
              <a:ext uri="{FF2B5EF4-FFF2-40B4-BE49-F238E27FC236}">
                <a16:creationId xmlns:a16="http://schemas.microsoft.com/office/drawing/2014/main" id="{BD0A80B5-A256-1F27-2A42-68537328C681}"/>
              </a:ext>
            </a:extLst>
          </p:cNvPr>
          <p:cNvSpPr txBox="1"/>
          <p:nvPr/>
        </p:nvSpPr>
        <p:spPr>
          <a:xfrm>
            <a:off x="560162" y="1014301"/>
            <a:ext cx="4075338" cy="5437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2000" b="1">
                <a:solidFill>
                  <a:srgbClr val="B31B1B"/>
                </a:solidFill>
                <a:latin typeface="微软雅黑"/>
              </a:defRPr>
            </a:pPr>
            <a:r>
              <a:rPr lang="zh-CN" altLang="en-US"/>
              <a:t>🤖 </a:t>
            </a:r>
            <a:r>
              <a:t>模型架构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• Backbone: ResNet18 (</a:t>
            </a:r>
            <a:r>
              <a:rPr err="1"/>
              <a:t>预训练</a:t>
            </a:r>
            <a:r>
              <a:t>)</a:t>
            </a:r>
            <a:endParaRPr lang="en-US"/>
          </a:p>
          <a:p>
            <a:pPr>
              <a:spcBef>
                <a:spcPts val="400"/>
              </a:spcBef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rPr lang="en-US" altLang="zh-CN"/>
              <a:t>• </a:t>
            </a:r>
            <a:r>
              <a:rPr lang="zh-CN" altLang="en-US"/>
              <a:t>输入</a:t>
            </a:r>
            <a:r>
              <a:rPr lang="en-US" altLang="zh-CN"/>
              <a:t>: 224×224 RGB </a:t>
            </a:r>
            <a:r>
              <a:rPr lang="zh-CN" altLang="en-US"/>
              <a:t>人脸图像</a:t>
            </a:r>
            <a:endParaRPr/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• </a:t>
            </a:r>
            <a:r>
              <a:rPr err="1"/>
              <a:t>输出层</a:t>
            </a:r>
            <a:r>
              <a:t>: FC(512 → 7) </a:t>
            </a:r>
            <a:r>
              <a:rPr err="1"/>
              <a:t>七分类</a:t>
            </a:r>
            <a:endParaRPr/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• </a:t>
            </a:r>
            <a:r>
              <a:rPr err="1"/>
              <a:t>输出</a:t>
            </a:r>
            <a:r>
              <a:t>: 512 维特征向量</a:t>
            </a:r>
            <a:endParaRPr lang="en-US"/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微软雅黑"/>
              </a:defRPr>
            </a:pPr>
            <a:endParaRPr/>
          </a:p>
          <a:p>
            <a:r>
              <a:rPr lang="zh-CN" altLang="zh-CN" b="1"/>
              <a:t>📈 </a:t>
            </a:r>
            <a:r>
              <a:rPr lang="zh-CN" altLang="zh-CN" sz="2000" b="1">
                <a:solidFill>
                  <a:srgbClr val="C00000"/>
                </a:solidFill>
              </a:rPr>
              <a:t>训练流程</a:t>
            </a:r>
          </a:p>
          <a:p>
            <a:r>
              <a:rPr lang="en-US" altLang="zh-CN" sz="1400"/>
              <a:t>• </a:t>
            </a:r>
            <a:r>
              <a:rPr lang="zh-CN" altLang="zh-CN" sz="1400"/>
              <a:t>ImageNet预训练模型作为基础网络 </a:t>
            </a:r>
          </a:p>
          <a:p>
            <a:r>
              <a:rPr lang="en-US" altLang="zh-CN" sz="1400"/>
              <a:t>• </a:t>
            </a:r>
            <a:r>
              <a:rPr lang="zh-CN" altLang="zh-CN" sz="1400"/>
              <a:t>FER2013数据集训练表情识别能力 </a:t>
            </a:r>
          </a:p>
          <a:p>
            <a:r>
              <a:rPr lang="en-US" altLang="zh-CN" sz="1400"/>
              <a:t>• </a:t>
            </a:r>
            <a:r>
              <a:rPr lang="zh-CN" altLang="zh-CN" sz="1400"/>
              <a:t>RAF-DB数据集进一步微调 </a:t>
            </a:r>
          </a:p>
          <a:p>
            <a:r>
              <a:rPr lang="en-US" altLang="zh-CN" sz="1400"/>
              <a:t>•</a:t>
            </a:r>
            <a:r>
              <a:rPr lang="zh-CN" altLang="zh-CN" sz="1400"/>
              <a:t>自建社交媒体样本进行场景适配优化</a:t>
            </a:r>
            <a:endParaRPr lang="en-US" altLang="zh-CN" sz="1400"/>
          </a:p>
          <a:p>
            <a:endParaRPr sz="1400"/>
          </a:p>
          <a:p>
            <a:pPr algn="l">
              <a:spcBef>
                <a:spcPts val="400"/>
              </a:spcBef>
              <a:defRPr sz="2000" b="1">
                <a:solidFill>
                  <a:srgbClr val="B31B1B"/>
                </a:solidFill>
                <a:latin typeface="微软雅黑"/>
              </a:defRPr>
            </a:pPr>
            <a:r>
              <a:t>📊 </a:t>
            </a:r>
            <a:r>
              <a:rPr err="1"/>
              <a:t>训练数据</a:t>
            </a:r>
            <a:endParaRPr/>
          </a:p>
          <a:p>
            <a:pPr>
              <a:spcBef>
                <a:spcPts val="400"/>
              </a:spcBef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rPr lang="en-US" altLang="zh-CN"/>
              <a:t>• </a:t>
            </a:r>
            <a:r>
              <a:rPr lang="zh-CN" altLang="zh-CN" sz="1400"/>
              <a:t>FER2013：</a:t>
            </a:r>
            <a:r>
              <a:rPr lang="en-US" altLang="zh-CN" sz="1400"/>
              <a:t>28710</a:t>
            </a:r>
            <a:r>
              <a:rPr lang="zh-CN" altLang="en-US" sz="1400"/>
              <a:t>张</a:t>
            </a:r>
            <a:r>
              <a:rPr lang="zh-CN" altLang="zh-CN" sz="1400"/>
              <a:t>基础表情训练 </a:t>
            </a:r>
            <a:endParaRPr lang="en-US" altLang="zh-CN" sz="1400"/>
          </a:p>
          <a:p>
            <a:pPr>
              <a:spcBef>
                <a:spcPts val="400"/>
              </a:spcBef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rPr lang="en-US" altLang="zh-CN"/>
              <a:t>• </a:t>
            </a:r>
            <a:r>
              <a:rPr lang="zh-CN" altLang="zh-CN" sz="1400"/>
              <a:t>RAF-DB：15339张真实场景人脸 </a:t>
            </a:r>
            <a:endParaRPr lang="en-US" altLang="zh-CN" sz="1400"/>
          </a:p>
          <a:p>
            <a:pPr>
              <a:spcBef>
                <a:spcPts val="400"/>
              </a:spcBef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rPr lang="en-US" altLang="zh-CN"/>
              <a:t>•</a:t>
            </a:r>
            <a:r>
              <a:rPr lang="zh-CN" altLang="zh-CN" sz="1400"/>
              <a:t>自建数据集：</a:t>
            </a:r>
            <a:r>
              <a:rPr lang="zh-CN" altLang="en-US" sz="1400"/>
              <a:t>部分</a:t>
            </a:r>
            <a:r>
              <a:rPr lang="zh-CN" altLang="zh-CN" sz="1400"/>
              <a:t>微博、小红书场景样本</a:t>
            </a:r>
            <a:endParaRPr lang="en-US" altLang="zh-CN" sz="1400"/>
          </a:p>
          <a:p>
            <a:pPr>
              <a:spcBef>
                <a:spcPts val="400"/>
              </a:spcBef>
              <a:defRPr sz="1400" b="0">
                <a:solidFill>
                  <a:srgbClr val="333333"/>
                </a:solidFill>
                <a:latin typeface="微软雅黑"/>
              </a:defRPr>
            </a:pPr>
            <a:endParaRPr/>
          </a:p>
          <a:p>
            <a:pPr algn="l">
              <a:spcBef>
                <a:spcPts val="400"/>
              </a:spcBef>
              <a:defRPr sz="2000" b="1">
                <a:solidFill>
                  <a:srgbClr val="B31B1B"/>
                </a:solidFill>
                <a:latin typeface="微软雅黑"/>
              </a:defRPr>
            </a:pPr>
            <a:r>
              <a:t>🔍 </a:t>
            </a:r>
            <a:r>
              <a:rPr err="1"/>
              <a:t>人脸检测</a:t>
            </a:r>
            <a:endParaRPr/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• YuNet (OpenCV DNN) — </a:t>
            </a:r>
            <a:r>
              <a:rPr err="1"/>
              <a:t>轻量级人脸检测器</a:t>
            </a:r>
            <a:endParaRPr/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• </a:t>
            </a:r>
            <a:r>
              <a:rPr err="1"/>
              <a:t>支持实时摄像头视频流</a:t>
            </a:r>
            <a:endParaRPr/>
          </a:p>
        </p:txBody>
      </p:sp>
      <p:graphicFrame>
        <p:nvGraphicFramePr>
          <p:cNvPr id="15" name="Table 4">
            <a:extLst>
              <a:ext uri="{FF2B5EF4-FFF2-40B4-BE49-F238E27FC236}">
                <a16:creationId xmlns:a16="http://schemas.microsoft.com/office/drawing/2014/main" id="{0E58D437-0F2F-72A4-6085-5EBF9E2D23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9514427"/>
              </p:ext>
            </p:extLst>
          </p:nvPr>
        </p:nvGraphicFramePr>
        <p:xfrm>
          <a:off x="5195662" y="1394568"/>
          <a:ext cx="5863900" cy="4068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5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23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60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rPr sz="1600"/>
                        <a:t>类别</a:t>
                      </a:r>
                    </a:p>
                  </a:txBody>
                  <a:tcPr marL="45720" marR="45720" marT="27432" marB="27432" anchor="ctr">
                    <a:solidFill>
                      <a:srgbClr val="B31B1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rPr sz="1600" err="1"/>
                        <a:t>英文</a:t>
                      </a:r>
                      <a:r>
                        <a:rPr sz="1600"/>
                        <a:t> / </a:t>
                      </a:r>
                      <a:r>
                        <a:rPr sz="1600" err="1"/>
                        <a:t>中文</a:t>
                      </a:r>
                      <a:endParaRPr sz="1600"/>
                    </a:p>
                  </a:txBody>
                  <a:tcPr marL="45720" marR="45720" marT="27432" marB="27432" anchor="ctr">
                    <a:solidFill>
                      <a:srgbClr val="B3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400"/>
                        <a:t>angry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400"/>
                        <a:t>😠 生气 / Angry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400"/>
                        <a:t>disgust</a:t>
                      </a:r>
                    </a:p>
                  </a:txBody>
                  <a:tcPr marL="45720" marR="45720" marT="27432" marB="27432" anchor="ctr"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400"/>
                        <a:t>🤢 厌恶 / Disgust</a:t>
                      </a:r>
                    </a:p>
                  </a:txBody>
                  <a:tcPr marL="45720" marR="45720" marT="27432" marB="27432" anchor="ctr">
                    <a:solidFill>
                      <a:srgbClr val="F5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400"/>
                        <a:t>fear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400"/>
                        <a:t>😨 恐惧 / Fear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400"/>
                        <a:t>happy</a:t>
                      </a:r>
                    </a:p>
                  </a:txBody>
                  <a:tcPr marL="45720" marR="45720" marT="27432" marB="27432" anchor="ctr"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400"/>
                        <a:t>😊 高兴 / Happy</a:t>
                      </a:r>
                    </a:p>
                  </a:txBody>
                  <a:tcPr marL="45720" marR="45720" marT="27432" marB="27432" anchor="ctr">
                    <a:solidFill>
                      <a:srgbClr val="F5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400"/>
                        <a:t>sad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400"/>
                        <a:t>😢 </a:t>
                      </a:r>
                      <a:r>
                        <a:rPr sz="1400" err="1"/>
                        <a:t>悲伤</a:t>
                      </a:r>
                      <a:r>
                        <a:rPr sz="1400"/>
                        <a:t> / Sad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400"/>
                        <a:t>surprise</a:t>
                      </a:r>
                    </a:p>
                  </a:txBody>
                  <a:tcPr marL="45720" marR="45720" marT="27432" marB="27432" anchor="ctr"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400"/>
                        <a:t>😲 惊讶 / Surprise</a:t>
                      </a:r>
                    </a:p>
                  </a:txBody>
                  <a:tcPr marL="45720" marR="45720" marT="27432" marB="27432" anchor="ctr">
                    <a:solidFill>
                      <a:srgbClr val="F5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400"/>
                        <a:t>neutral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400"/>
                        <a:t>😐 </a:t>
                      </a:r>
                      <a:r>
                        <a:rPr sz="1400" err="1"/>
                        <a:t>中性</a:t>
                      </a:r>
                      <a:r>
                        <a:rPr sz="1400"/>
                        <a:t> / Neutral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4847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CB98E-5B86-0609-70AA-9DF7220F5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53E78995-496B-98B4-D41A-F2588EE583C0}"/>
              </a:ext>
            </a:extLst>
          </p:cNvPr>
          <p:cNvSpPr/>
          <p:nvPr/>
        </p:nvSpPr>
        <p:spPr>
          <a:xfrm>
            <a:off x="134709" y="239939"/>
            <a:ext cx="209554" cy="657225"/>
          </a:xfrm>
          <a:prstGeom prst="rect">
            <a:avLst/>
          </a:prstGeom>
          <a:solidFill>
            <a:srgbClr val="B929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AE7A7CF-F681-34CA-30D9-3B7AA1945556}"/>
              </a:ext>
            </a:extLst>
          </p:cNvPr>
          <p:cNvSpPr/>
          <p:nvPr/>
        </p:nvSpPr>
        <p:spPr>
          <a:xfrm>
            <a:off x="0" y="4534296"/>
            <a:ext cx="12192000" cy="2323704"/>
          </a:xfrm>
          <a:prstGeom prst="rect">
            <a:avLst/>
          </a:prstGeom>
          <a:blipFill dpi="0" rotWithShape="1">
            <a:blip r:embed="rId2">
              <a:alphaModFix amt="17000"/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C731579-5911-EA48-05BF-1EBC598F24E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8" r="37718" b="50000"/>
          <a:stretch>
            <a:fillRect/>
          </a:stretch>
        </p:blipFill>
        <p:spPr>
          <a:xfrm>
            <a:off x="10096501" y="5597863"/>
            <a:ext cx="2095500" cy="126013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A99470-D3AE-48A9-7375-79C9F0B78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263" y="200021"/>
            <a:ext cx="10109200" cy="737060"/>
          </a:xfrm>
        </p:spPr>
        <p:txBody>
          <a:bodyPr/>
          <a:lstStyle/>
          <a:p>
            <a:pPr>
              <a:defRPr sz="3000" b="1">
                <a:solidFill>
                  <a:srgbClr val="B31B1B"/>
                </a:solidFill>
              </a:defRPr>
            </a:pPr>
            <a:r>
              <a:t>NLP </a:t>
            </a:r>
            <a:r>
              <a:rPr err="1"/>
              <a:t>模块</a:t>
            </a:r>
            <a:r>
              <a:t> —— 中文文本情感分析（3 </a:t>
            </a:r>
            <a:r>
              <a:rPr err="1"/>
              <a:t>分类</a:t>
            </a:r>
            <a:r>
              <a:t>）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1ABDC9E8-573E-49D6-B3C3-F891099D0BF8}"/>
              </a:ext>
            </a:extLst>
          </p:cNvPr>
          <p:cNvSpPr txBox="1"/>
          <p:nvPr/>
        </p:nvSpPr>
        <p:spPr>
          <a:xfrm>
            <a:off x="692000" y="749420"/>
            <a:ext cx="5403999" cy="5227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40"/>
              </a:spcAft>
              <a:defRPr sz="1600" b="0">
                <a:solidFill>
                  <a:srgbClr val="333333"/>
                </a:solidFill>
                <a:latin typeface="微软雅黑"/>
              </a:defRPr>
            </a:pPr>
            <a:endParaRPr/>
          </a:p>
          <a:p>
            <a:pPr algn="l">
              <a:spcBef>
                <a:spcPts val="400"/>
              </a:spcBef>
              <a:defRPr sz="2000" b="1">
                <a:solidFill>
                  <a:srgbClr val="107C10"/>
                </a:solidFill>
                <a:latin typeface="微软雅黑"/>
              </a:defRPr>
            </a:pPr>
            <a:r>
              <a:t>🤖 </a:t>
            </a:r>
            <a:r>
              <a:rPr err="1"/>
              <a:t>模型架构</a:t>
            </a:r>
            <a:endParaRPr/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• </a:t>
            </a:r>
            <a:r>
              <a:rPr err="1"/>
              <a:t>基座模型</a:t>
            </a:r>
            <a:r>
              <a:t>: </a:t>
            </a:r>
            <a:r>
              <a:rPr err="1"/>
              <a:t>chinese-roberta-wwm-ext</a:t>
            </a:r>
            <a:endParaRPr/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• </a:t>
            </a:r>
            <a:r>
              <a:rPr err="1"/>
              <a:t>来源</a:t>
            </a:r>
            <a:r>
              <a:t>: </a:t>
            </a:r>
            <a:r>
              <a:rPr err="1"/>
              <a:t>哈工大讯飞联合实验室</a:t>
            </a:r>
            <a:endParaRPr/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• </a:t>
            </a:r>
            <a:r>
              <a:rPr err="1"/>
              <a:t>全词遮罩</a:t>
            </a:r>
            <a:r>
              <a:t> (WWM) </a:t>
            </a:r>
            <a:r>
              <a:rPr err="1"/>
              <a:t>预训练，中文优化</a:t>
            </a:r>
            <a:endParaRPr/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• </a:t>
            </a:r>
            <a:r>
              <a:rPr err="1"/>
              <a:t>输入</a:t>
            </a:r>
            <a:r>
              <a:t>: max 128 tokens </a:t>
            </a:r>
            <a:r>
              <a:rPr err="1"/>
              <a:t>中文文本</a:t>
            </a:r>
            <a:endParaRPr/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• </a:t>
            </a:r>
            <a:r>
              <a:rPr err="1"/>
              <a:t>输出</a:t>
            </a:r>
            <a:r>
              <a:t>: [CLS] 768 </a:t>
            </a:r>
            <a:r>
              <a:rPr err="1"/>
              <a:t>维语义向量</a:t>
            </a:r>
            <a:endParaRPr/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微软雅黑"/>
              </a:defRPr>
            </a:pPr>
            <a:endParaRPr/>
          </a:p>
          <a:p>
            <a:pPr algn="l">
              <a:spcBef>
                <a:spcPts val="400"/>
              </a:spcBef>
              <a:defRPr sz="2000" b="1">
                <a:solidFill>
                  <a:srgbClr val="107C10"/>
                </a:solidFill>
                <a:latin typeface="微软雅黑"/>
              </a:defRPr>
            </a:pPr>
            <a:r>
              <a:t>📊 </a:t>
            </a:r>
            <a:r>
              <a:rPr lang="zh-CN" altLang="en-US"/>
              <a:t>训练数据</a:t>
            </a:r>
            <a:endParaRPr/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• </a:t>
            </a:r>
            <a:r>
              <a:rPr err="1"/>
              <a:t>自建中文社交媒体数据集</a:t>
            </a:r>
            <a:r>
              <a:t> ~400 条</a:t>
            </a:r>
          </a:p>
          <a:p>
            <a:pPr>
              <a:spcBef>
                <a:spcPts val="400"/>
              </a:spcBef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rPr lang="en-US" altLang="zh-CN"/>
              <a:t>• </a:t>
            </a:r>
            <a:r>
              <a:rPr lang="zh-CN" altLang="zh-CN" sz="1400"/>
              <a:t>自建微博、小红书情感数据集 </a:t>
            </a:r>
            <a:endParaRPr lang="en-US" altLang="zh-CN" sz="1400"/>
          </a:p>
          <a:p>
            <a:pPr>
              <a:spcBef>
                <a:spcPts val="400"/>
              </a:spcBef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rPr lang="en-US" altLang="zh-CN"/>
              <a:t>• </a:t>
            </a:r>
            <a:r>
              <a:rPr lang="zh-CN" altLang="zh-CN" sz="1400"/>
              <a:t>人工标注正面 / 中立 / 负面三类情感 </a:t>
            </a:r>
            <a:endParaRPr lang="en-US" altLang="zh-CN" sz="1400"/>
          </a:p>
          <a:p>
            <a:pPr>
              <a:spcBef>
                <a:spcPts val="400"/>
              </a:spcBef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rPr lang="en-US" altLang="zh-CN"/>
              <a:t>• </a:t>
            </a:r>
            <a:r>
              <a:rPr lang="zh-CN" altLang="zh-CN" sz="1400"/>
              <a:t>数据集规模约400条</a:t>
            </a:r>
            <a:endParaRPr lang="en-US" altLang="zh-CN" sz="1400"/>
          </a:p>
          <a:p>
            <a:pPr>
              <a:spcBef>
                <a:spcPts val="400"/>
              </a:spcBef>
              <a:defRPr sz="1400" b="0">
                <a:solidFill>
                  <a:srgbClr val="333333"/>
                </a:solidFill>
                <a:latin typeface="微软雅黑"/>
              </a:defRPr>
            </a:pPr>
            <a:endParaRPr/>
          </a:p>
          <a:p>
            <a:r>
              <a:rPr lang="zh-CN" altLang="zh-CN" b="1"/>
              <a:t>🔄 </a:t>
            </a:r>
            <a:r>
              <a:rPr lang="zh-CN" altLang="zh-CN" sz="2000" b="1">
                <a:solidFill>
                  <a:srgbClr val="107C10"/>
                </a:solidFill>
                <a:latin typeface="微软雅黑"/>
              </a:rPr>
              <a:t>训练策略</a:t>
            </a:r>
          </a:p>
          <a:p>
            <a:r>
              <a:rPr lang="en-US" altLang="zh-CN" sz="1400"/>
              <a:t>• </a:t>
            </a:r>
            <a:r>
              <a:rPr lang="zh-CN" altLang="zh-CN" sz="1400"/>
              <a:t>基于预训练模型进行迁移学习 </a:t>
            </a:r>
          </a:p>
          <a:p>
            <a:r>
              <a:rPr lang="en-US" altLang="zh-CN" sz="1400"/>
              <a:t>• </a:t>
            </a:r>
            <a:r>
              <a:rPr lang="zh-CN" altLang="zh-CN" sz="1400"/>
              <a:t>采用早停机制防止过拟合 </a:t>
            </a:r>
          </a:p>
          <a:p>
            <a:r>
              <a:rPr lang="en-US" altLang="zh-CN" sz="1400"/>
              <a:t>• </a:t>
            </a:r>
            <a:r>
              <a:rPr lang="zh-CN" altLang="zh-CN" sz="1400"/>
              <a:t>保持类别均衡分布</a:t>
            </a: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6E70B93A-90B9-CDBD-D801-6B69CF35C3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2522768"/>
              </p:ext>
            </p:extLst>
          </p:nvPr>
        </p:nvGraphicFramePr>
        <p:xfrm>
          <a:off x="6095999" y="1523164"/>
          <a:ext cx="5200000" cy="3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50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rPr sz="1600"/>
                        <a:t>情感类别</a:t>
                      </a:r>
                    </a:p>
                  </a:txBody>
                  <a:tcPr marL="45720" marR="45720" marT="27432" marB="27432" anchor="ctr">
                    <a:solidFill>
                      <a:srgbClr val="B31B1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rPr sz="1600" err="1"/>
                        <a:t>说明</a:t>
                      </a:r>
                      <a:endParaRPr sz="1600"/>
                    </a:p>
                  </a:txBody>
                  <a:tcPr marL="45720" marR="45720" marT="27432" marB="27432" anchor="ctr">
                    <a:solidFill>
                      <a:srgbClr val="B3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400"/>
                        <a:t>😔 负面 Negative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400"/>
                        <a:t>愤怒、悲伤、失望、抱怨等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400"/>
                        <a:t>😐 中立 Neutral</a:t>
                      </a:r>
                    </a:p>
                  </a:txBody>
                  <a:tcPr marL="45720" marR="45720" marT="27432" marB="27432" anchor="ctr"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400"/>
                        <a:t>客观陈述、中性评价等</a:t>
                      </a:r>
                    </a:p>
                  </a:txBody>
                  <a:tcPr marL="45720" marR="45720" marT="27432" marB="27432" anchor="ctr">
                    <a:solidFill>
                      <a:srgbClr val="F5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400"/>
                        <a:t>😊 正面 Positive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400" err="1"/>
                        <a:t>开心、赞美、喜欢、期待等</a:t>
                      </a:r>
                      <a:endParaRPr sz="1400"/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1047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1BF27-5947-8387-9EC3-011889A7C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84F6EED-5499-1998-2B14-61ADA26EEA04}"/>
              </a:ext>
            </a:extLst>
          </p:cNvPr>
          <p:cNvSpPr/>
          <p:nvPr/>
        </p:nvSpPr>
        <p:spPr>
          <a:xfrm>
            <a:off x="134709" y="239939"/>
            <a:ext cx="209554" cy="657225"/>
          </a:xfrm>
          <a:prstGeom prst="rect">
            <a:avLst/>
          </a:prstGeom>
          <a:solidFill>
            <a:srgbClr val="B929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7DFDF2F-C830-7F9B-FB7D-CFE21367837A}"/>
              </a:ext>
            </a:extLst>
          </p:cNvPr>
          <p:cNvSpPr/>
          <p:nvPr/>
        </p:nvSpPr>
        <p:spPr>
          <a:xfrm>
            <a:off x="0" y="4534296"/>
            <a:ext cx="12192000" cy="2323704"/>
          </a:xfrm>
          <a:prstGeom prst="rect">
            <a:avLst/>
          </a:prstGeom>
          <a:blipFill dpi="0" rotWithShape="1">
            <a:blip r:embed="rId2">
              <a:alphaModFix amt="17000"/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C5FE622-C014-CFEA-B1E8-B6EC9569EE2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8" r="37718" b="50000"/>
          <a:stretch>
            <a:fillRect/>
          </a:stretch>
        </p:blipFill>
        <p:spPr>
          <a:xfrm>
            <a:off x="10096501" y="5597863"/>
            <a:ext cx="2095500" cy="1260137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0C30BC8D-DB3E-C762-AB10-B555BA00D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842" y="190231"/>
            <a:ext cx="9720943" cy="756639"/>
          </a:xfrm>
        </p:spPr>
        <p:txBody>
          <a:bodyPr>
            <a:normAutofit/>
          </a:bodyPr>
          <a:lstStyle/>
          <a:p>
            <a:pPr>
              <a:defRPr sz="2400" b="1">
                <a:solidFill>
                  <a:srgbClr val="B31B1B"/>
                </a:solidFill>
                <a:latin typeface="微软雅黑"/>
              </a:defRPr>
            </a:pPr>
            <a:r>
              <a:rPr sz="2800"/>
              <a:t>融合模块 —— 多模态融合（5 分类）</a:t>
            </a:r>
          </a:p>
        </p:txBody>
      </p:sp>
      <p:sp>
        <p:nvSpPr>
          <p:cNvPr id="15" name="TextBox 3">
            <a:extLst>
              <a:ext uri="{FF2B5EF4-FFF2-40B4-BE49-F238E27FC236}">
                <a16:creationId xmlns:a16="http://schemas.microsoft.com/office/drawing/2014/main" id="{49A24DDB-1472-FED9-05DD-82E6E4512AC4}"/>
              </a:ext>
            </a:extLst>
          </p:cNvPr>
          <p:cNvSpPr txBox="1"/>
          <p:nvPr/>
        </p:nvSpPr>
        <p:spPr>
          <a:xfrm>
            <a:off x="738842" y="897164"/>
            <a:ext cx="5577232" cy="56323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zh-CN" b="1"/>
              <a:t>🤖 融合架构</a:t>
            </a:r>
          </a:p>
          <a:p>
            <a:r>
              <a:rPr lang="en-US" altLang="zh-CN"/>
              <a:t>• </a:t>
            </a:r>
            <a:r>
              <a:rPr lang="zh-CN" altLang="zh-CN"/>
              <a:t>输入：512维视觉特征 + 768维文本特征 </a:t>
            </a:r>
          </a:p>
          <a:p>
            <a:r>
              <a:rPr lang="en-US" altLang="zh-CN"/>
              <a:t>• </a:t>
            </a:r>
            <a:r>
              <a:rPr lang="zh-CN" altLang="zh-CN"/>
              <a:t>支持 Early / Late / Gated</a:t>
            </a:r>
            <a:r>
              <a:rPr lang="en-US" altLang="zh-CN"/>
              <a:t>/SarcasmAware</a:t>
            </a:r>
            <a:r>
              <a:rPr lang="zh-CN" altLang="en-US"/>
              <a:t>四</a:t>
            </a:r>
            <a:r>
              <a:rPr lang="zh-CN" altLang="zh-CN"/>
              <a:t>种融合策略 </a:t>
            </a:r>
          </a:p>
          <a:p>
            <a:r>
              <a:rPr lang="en-US" altLang="zh-CN"/>
              <a:t>• </a:t>
            </a:r>
            <a:r>
              <a:rPr lang="zh-CN" altLang="zh-CN"/>
              <a:t>输出：五类情感预测结果 </a:t>
            </a:r>
            <a:endParaRPr lang="en-US" altLang="zh-CN"/>
          </a:p>
          <a:p>
            <a:endParaRPr lang="zh-CN" altLang="zh-CN"/>
          </a:p>
          <a:p>
            <a:r>
              <a:rPr lang="zh-CN" altLang="zh-CN" b="1"/>
              <a:t>📊 训练数据</a:t>
            </a:r>
          </a:p>
          <a:p>
            <a:r>
              <a:rPr lang="en-US" altLang="zh-CN"/>
              <a:t>• </a:t>
            </a:r>
            <a:r>
              <a:rPr lang="zh-CN" altLang="zh-CN"/>
              <a:t>自建中文社交媒体图文对数据集约400条 </a:t>
            </a:r>
          </a:p>
          <a:p>
            <a:r>
              <a:rPr lang="en-US" altLang="zh-CN"/>
              <a:t>• </a:t>
            </a:r>
            <a:r>
              <a:rPr lang="zh-CN" altLang="zh-CN"/>
              <a:t>标注：喜 / 怒 / 哀 / 惊 / 讽 五类情感 </a:t>
            </a:r>
          </a:p>
          <a:p>
            <a:r>
              <a:rPr lang="en-US" altLang="zh-CN"/>
              <a:t>• </a:t>
            </a:r>
            <a:r>
              <a:rPr lang="zh-CN" altLang="zh-CN"/>
              <a:t>包含讽刺与图文矛盾样本 </a:t>
            </a:r>
            <a:endParaRPr lang="en-US" altLang="zh-CN"/>
          </a:p>
          <a:p>
            <a:endParaRPr lang="zh-CN" altLang="zh-CN"/>
          </a:p>
          <a:p>
            <a:r>
              <a:rPr lang="zh-CN" altLang="zh-CN" b="1"/>
              <a:t>📈 融合流程</a:t>
            </a:r>
          </a:p>
          <a:p>
            <a:r>
              <a:rPr lang="en-US" altLang="zh-CN"/>
              <a:t>• </a:t>
            </a:r>
            <a:r>
              <a:rPr lang="zh-CN" altLang="zh-CN"/>
              <a:t>CV特征 + NLP特征 </a:t>
            </a:r>
          </a:p>
          <a:p>
            <a:r>
              <a:rPr lang="en-US" altLang="zh-CN"/>
              <a:t>•</a:t>
            </a:r>
            <a:r>
              <a:rPr lang="zh-CN" altLang="zh-CN"/>
              <a:t>特征对齐与融合计算 </a:t>
            </a:r>
          </a:p>
          <a:p>
            <a:r>
              <a:rPr lang="en-US" altLang="zh-CN"/>
              <a:t>•</a:t>
            </a:r>
            <a:r>
              <a:rPr lang="zh-CN" altLang="zh-CN"/>
              <a:t>情感分类器输出结果 </a:t>
            </a:r>
          </a:p>
          <a:p>
            <a:r>
              <a:rPr lang="en-US" altLang="zh-CN"/>
              <a:t>•</a:t>
            </a:r>
            <a:r>
              <a:rPr lang="zh-CN" altLang="zh-CN"/>
              <a:t>输出：情感标签、置信度及辅助指标 </a:t>
            </a:r>
            <a:endParaRPr lang="en-US" altLang="zh-CN"/>
          </a:p>
          <a:p>
            <a:endParaRPr lang="zh-CN" altLang="zh-CN"/>
          </a:p>
          <a:p>
            <a:r>
              <a:rPr lang="zh-CN" altLang="zh-CN" b="1"/>
              <a:t>🔍 融合策略</a:t>
            </a:r>
          </a:p>
          <a:p>
            <a:r>
              <a:rPr lang="en-US" altLang="zh-CN"/>
              <a:t>• </a:t>
            </a:r>
            <a:r>
              <a:rPr lang="zh-CN" altLang="zh-CN"/>
              <a:t>Early Fusion：特征直接拼接 </a:t>
            </a:r>
          </a:p>
          <a:p>
            <a:r>
              <a:rPr lang="en-US" altLang="zh-CN"/>
              <a:t>• </a:t>
            </a:r>
            <a:r>
              <a:rPr lang="zh-CN" altLang="zh-CN"/>
              <a:t>Late Fusion：独立预测后加权融合 </a:t>
            </a:r>
          </a:p>
          <a:p>
            <a:r>
              <a:rPr lang="en-US" altLang="zh-CN"/>
              <a:t>• </a:t>
            </a:r>
            <a:r>
              <a:rPr lang="zh-CN" altLang="zh-CN"/>
              <a:t>Gated Fusion：动态学习模态权重 </a:t>
            </a:r>
          </a:p>
        </p:txBody>
      </p:sp>
      <p:graphicFrame>
        <p:nvGraphicFramePr>
          <p:cNvPr id="16" name="Table 4">
            <a:extLst>
              <a:ext uri="{FF2B5EF4-FFF2-40B4-BE49-F238E27FC236}">
                <a16:creationId xmlns:a16="http://schemas.microsoft.com/office/drawing/2014/main" id="{D35B63AB-425A-D996-0674-5116984695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8723768"/>
              </p:ext>
            </p:extLst>
          </p:nvPr>
        </p:nvGraphicFramePr>
        <p:xfrm>
          <a:off x="6290549" y="1272367"/>
          <a:ext cx="4800000" cy="2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融合策略</a:t>
                      </a:r>
                    </a:p>
                  </a:txBody>
                  <a:tcPr marL="45720" marR="45720" marT="27432" marB="27432" anchor="ctr">
                    <a:solidFill>
                      <a:srgbClr val="B31B1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Accuracy</a:t>
                      </a:r>
                    </a:p>
                  </a:txBody>
                  <a:tcPr marL="45720" marR="45720" marT="27432" marB="27432" anchor="ctr">
                    <a:solidFill>
                      <a:srgbClr val="B3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Early Fusion（早期融合）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lang="en-US"/>
                        <a:t>80</a:t>
                      </a:r>
                      <a:r>
                        <a:t>%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Late Fusion（晚期融合）</a:t>
                      </a:r>
                    </a:p>
                  </a:txBody>
                  <a:tcPr marL="45720" marR="45720" marT="27432" marB="27432" anchor="ctr"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lang="en-US"/>
                        <a:t>81</a:t>
                      </a:r>
                      <a:r>
                        <a:t>%</a:t>
                      </a:r>
                    </a:p>
                  </a:txBody>
                  <a:tcPr marL="45720" marR="45720" marT="27432" marB="27432" anchor="ctr">
                    <a:solidFill>
                      <a:srgbClr val="F5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Gated Fusion（门控融合）⭐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lang="en-US"/>
                        <a:t>84</a:t>
                      </a:r>
                      <a:r>
                        <a:t>%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SarcasmAware（冲突感知）⭐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~8</a:t>
                      </a:r>
                      <a:r>
                        <a:rPr lang="en-US"/>
                        <a:t>4.5</a:t>
                      </a:r>
                      <a:r>
                        <a:t>%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2728039500"/>
                  </a:ext>
                </a:extLst>
              </a:tr>
            </a:tbl>
          </a:graphicData>
        </a:graphic>
      </p:graphicFrame>
      <p:graphicFrame>
        <p:nvGraphicFramePr>
          <p:cNvPr id="21" name="Table 4">
            <a:extLst>
              <a:ext uri="{FF2B5EF4-FFF2-40B4-BE49-F238E27FC236}">
                <a16:creationId xmlns:a16="http://schemas.microsoft.com/office/drawing/2014/main" id="{FD81A16C-F23F-3811-1CE6-E4DE319E14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5041678"/>
              </p:ext>
            </p:extLst>
          </p:nvPr>
        </p:nvGraphicFramePr>
        <p:xfrm>
          <a:off x="6090549" y="3404150"/>
          <a:ext cx="5200000" cy="1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666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rPr sz="1400"/>
                        <a:t>融合输出（5 分类）</a:t>
                      </a:r>
                    </a:p>
                  </a:txBody>
                  <a:tcPr marL="45720" marR="45720" marT="27432" marB="27432" anchor="ctr">
                    <a:solidFill>
                      <a:srgbClr val="B31B1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rPr sz="1400"/>
                        <a:t>说明</a:t>
                      </a:r>
                    </a:p>
                  </a:txBody>
                  <a:tcPr marL="45720" marR="45720" marT="27432" marB="27432" anchor="ctr">
                    <a:solidFill>
                      <a:srgbClr val="B3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66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200"/>
                        <a:t>😊 happy   高兴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200"/>
                        <a:t>CV+NLP 一致正面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66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200"/>
                        <a:t>😠 angry   生气</a:t>
                      </a:r>
                    </a:p>
                  </a:txBody>
                  <a:tcPr marL="45720" marR="45720" marT="27432" marB="27432" anchor="ctr"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200"/>
                        <a:t>CV 或 NLP 判断为愤怒</a:t>
                      </a:r>
                    </a:p>
                  </a:txBody>
                  <a:tcPr marL="45720" marR="45720" marT="27432" marB="27432" anchor="ctr">
                    <a:solidFill>
                      <a:srgbClr val="F5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66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200"/>
                        <a:t>😢 sad     悲伤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200"/>
                        <a:t>CV 或 NLP 判断为悲伤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66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200"/>
                        <a:t>😲 surprise 惊讶</a:t>
                      </a:r>
                    </a:p>
                  </a:txBody>
                  <a:tcPr marL="45720" marR="45720" marT="27432" marB="27432" anchor="ctr"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200"/>
                        <a:t>CV 惊讶表情 / 文本情感强烈</a:t>
                      </a:r>
                    </a:p>
                  </a:txBody>
                  <a:tcPr marL="45720" marR="45720" marT="27432" marB="27432" anchor="ctr">
                    <a:solidFill>
                      <a:srgbClr val="F5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67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200"/>
                        <a:t>🔄 sarcasm  讽刺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200"/>
                        <a:t>CV+NLP 矛盾，笑脸配负面文字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0603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A5CB3-9A48-6ED4-3AAC-8ABF2C056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431C89C7-0364-C451-8491-CFA91C6D856F}"/>
              </a:ext>
            </a:extLst>
          </p:cNvPr>
          <p:cNvSpPr/>
          <p:nvPr/>
        </p:nvSpPr>
        <p:spPr>
          <a:xfrm>
            <a:off x="134709" y="239939"/>
            <a:ext cx="209554" cy="657225"/>
          </a:xfrm>
          <a:prstGeom prst="rect">
            <a:avLst/>
          </a:prstGeom>
          <a:solidFill>
            <a:srgbClr val="B929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F32D548-9220-E2D9-096A-DF02C3CE1E72}"/>
              </a:ext>
            </a:extLst>
          </p:cNvPr>
          <p:cNvSpPr/>
          <p:nvPr/>
        </p:nvSpPr>
        <p:spPr>
          <a:xfrm>
            <a:off x="0" y="4534296"/>
            <a:ext cx="12192000" cy="2323704"/>
          </a:xfrm>
          <a:prstGeom prst="rect">
            <a:avLst/>
          </a:prstGeom>
          <a:blipFill dpi="0" rotWithShape="1">
            <a:blip r:embed="rId2">
              <a:alphaModFix amt="17000"/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DBF629F-814F-A9B7-D8D2-33F8A634F39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8" r="37718" b="50000"/>
          <a:stretch>
            <a:fillRect/>
          </a:stretch>
        </p:blipFill>
        <p:spPr>
          <a:xfrm>
            <a:off x="10096501" y="5597863"/>
            <a:ext cx="2095500" cy="1260137"/>
          </a:xfrm>
          <a:prstGeom prst="rect">
            <a:avLst/>
          </a:pr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9EFD722-4092-7818-8150-C7A8FEBE5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220" y="218621"/>
            <a:ext cx="10353800" cy="761774"/>
          </a:xfrm>
        </p:spPr>
        <p:txBody>
          <a:bodyPr/>
          <a:lstStyle/>
          <a:p>
            <a:pPr>
              <a:defRPr sz="3000" b="1">
                <a:solidFill>
                  <a:srgbClr val="B31B1B"/>
                </a:solidFill>
              </a:defRPr>
            </a:pPr>
            <a:r>
              <a:t>系统界面与功能演示</a:t>
            </a:r>
          </a:p>
        </p:txBody>
      </p:sp>
      <p:sp>
        <p:nvSpPr>
          <p:cNvPr id="21" name="TextBox 3">
            <a:extLst>
              <a:ext uri="{FF2B5EF4-FFF2-40B4-BE49-F238E27FC236}">
                <a16:creationId xmlns:a16="http://schemas.microsoft.com/office/drawing/2014/main" id="{5563ABDF-7C20-E6BA-6DE1-0C216B593833}"/>
              </a:ext>
            </a:extLst>
          </p:cNvPr>
          <p:cNvSpPr txBox="1"/>
          <p:nvPr/>
        </p:nvSpPr>
        <p:spPr>
          <a:xfrm>
            <a:off x="707120" y="1241186"/>
            <a:ext cx="5000000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2000" b="1">
                <a:solidFill>
                  <a:srgbClr val="B31B1B"/>
                </a:solidFill>
                <a:latin typeface="微软雅黑"/>
              </a:defRPr>
            </a:pPr>
            <a:r>
              <a:t>🌐 Web 界面 (Gradio 6.x)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• 上传图片 + 输入文本 → 一键分析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• 三种融合策略下拉框实时切换 (Early/Late/Gated)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• 三列概率柱状图: CV | NLP | Fusion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• 情感强度 1-10 进度条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• 自动冲突预警提示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微软雅黑"/>
              </a:defRPr>
            </a:pPr>
            <a:endParaRPr/>
          </a:p>
          <a:p>
            <a:pPr algn="l">
              <a:spcBef>
                <a:spcPts val="400"/>
              </a:spcBef>
              <a:defRPr sz="2000" b="1">
                <a:solidFill>
                  <a:srgbClr val="1A56DB"/>
                </a:solidFill>
                <a:latin typeface="微软雅黑"/>
              </a:defRPr>
            </a:pPr>
            <a:r>
              <a:t>📷 摄像头实时分析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• YuNet 人脸检测 → 绿框标注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• 每 2 秒推理一次，实时显示 7 表情概率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• 高清预览不卡顿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微软雅黑"/>
              </a:defRPr>
            </a:pPr>
            <a:endParaRPr/>
          </a:p>
          <a:p>
            <a:pPr algn="l">
              <a:spcBef>
                <a:spcPts val="400"/>
              </a:spcBef>
              <a:defRPr sz="2000" b="1">
                <a:solidFill>
                  <a:srgbClr val="107C10"/>
                </a:solidFill>
                <a:latin typeface="微软雅黑"/>
              </a:defRPr>
            </a:pPr>
            <a:r>
              <a:t>📦 便携部署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• 双击「启动.exe」→ 自动打开浏览器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• 内置 Python 环境 + 所有依赖 + 模型权重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• 无需安装任何软件，Windows 10/11 即用</a:t>
            </a:r>
          </a:p>
        </p:txBody>
      </p:sp>
      <p:sp>
        <p:nvSpPr>
          <p:cNvPr id="22" name="TextBox 4">
            <a:extLst>
              <a:ext uri="{FF2B5EF4-FFF2-40B4-BE49-F238E27FC236}">
                <a16:creationId xmlns:a16="http://schemas.microsoft.com/office/drawing/2014/main" id="{E7A85C04-281D-60FB-95DD-85CB422449C4}"/>
              </a:ext>
            </a:extLst>
          </p:cNvPr>
          <p:cNvSpPr txBox="1"/>
          <p:nvPr/>
        </p:nvSpPr>
        <p:spPr>
          <a:xfrm>
            <a:off x="5944251" y="1241186"/>
            <a:ext cx="5200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2000" b="1">
                <a:solidFill>
                  <a:srgbClr val="B31B1B"/>
                </a:solidFill>
                <a:latin typeface="微软雅黑"/>
              </a:defRPr>
            </a:pPr>
            <a:r>
              <a:t>📋 历史记录管理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• 自动保存每次分析结果到 CSV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• 包含: CV 7 类概率 + NLP 3 类概率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•         融合 5 类概率 + α + 冲突分数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• 支持: 点击查看详情、删除单条、清空全部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• 每 2 秒自动刷新表格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微软雅黑"/>
              </a:defRPr>
            </a:pPr>
            <a:endParaRPr/>
          </a:p>
          <a:p>
            <a:pPr algn="l">
              <a:spcBef>
                <a:spcPts val="400"/>
              </a:spcBef>
              <a:defRPr sz="2000" b="1">
                <a:solidFill>
                  <a:srgbClr val="333333"/>
                </a:solidFill>
                <a:latin typeface="微软雅黑"/>
              </a:defRPr>
            </a:pPr>
            <a:r>
              <a:t>🛠️ 技术栈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• 视觉: ResNet18 + RAF-DB + OpenCV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• 文本: RoBERTa + HuggingFace Transformers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• 融合: PyTorch + 门控注意力 + 冲突感知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• 界面: Gradio 6.x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• 数据: 自建 400 条图文对（含讽刺标注）</a:t>
            </a:r>
          </a:p>
        </p:txBody>
      </p:sp>
    </p:spTree>
    <p:extLst>
      <p:ext uri="{BB962C8B-B14F-4D97-AF65-F5344CB8AC3E}">
        <p14:creationId xmlns:p14="http://schemas.microsoft.com/office/powerpoint/2010/main" val="977168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2528A-7175-BF31-536E-7F0FF7567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24008C1D-E565-330D-7D9A-CB9C196FEF05}"/>
              </a:ext>
            </a:extLst>
          </p:cNvPr>
          <p:cNvSpPr/>
          <p:nvPr/>
        </p:nvSpPr>
        <p:spPr>
          <a:xfrm>
            <a:off x="134709" y="239939"/>
            <a:ext cx="209554" cy="657225"/>
          </a:xfrm>
          <a:prstGeom prst="rect">
            <a:avLst/>
          </a:prstGeom>
          <a:solidFill>
            <a:srgbClr val="B929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B137F12-65FF-7D63-49FF-D19DDEBFE687}"/>
              </a:ext>
            </a:extLst>
          </p:cNvPr>
          <p:cNvSpPr/>
          <p:nvPr/>
        </p:nvSpPr>
        <p:spPr>
          <a:xfrm>
            <a:off x="0" y="4534296"/>
            <a:ext cx="12192000" cy="2323704"/>
          </a:xfrm>
          <a:prstGeom prst="rect">
            <a:avLst/>
          </a:prstGeom>
          <a:blipFill dpi="0" rotWithShape="1">
            <a:blip r:embed="rId2">
              <a:alphaModFix amt="17000"/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38DE2B4-2441-39C5-32A7-C5458A09164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8" r="37718" b="50000"/>
          <a:stretch>
            <a:fillRect/>
          </a:stretch>
        </p:blipFill>
        <p:spPr>
          <a:xfrm>
            <a:off x="10096501" y="5597863"/>
            <a:ext cx="2095500" cy="1260137"/>
          </a:xfrm>
          <a:prstGeom prst="rect">
            <a:avLst/>
          </a:prstGeom>
        </p:spPr>
      </p:pic>
      <p:graphicFrame>
        <p:nvGraphicFramePr>
          <p:cNvPr id="15" name="Table 3">
            <a:extLst>
              <a:ext uri="{FF2B5EF4-FFF2-40B4-BE49-F238E27FC236}">
                <a16:creationId xmlns:a16="http://schemas.microsoft.com/office/drawing/2014/main" id="{A1A42A83-42ED-66BB-4053-DB18B07216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8581057"/>
              </p:ext>
            </p:extLst>
          </p:nvPr>
        </p:nvGraphicFramePr>
        <p:xfrm>
          <a:off x="500000" y="989361"/>
          <a:ext cx="11000000" cy="2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666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rPr sz="1400"/>
                        <a:t>模型 / 策略</a:t>
                      </a:r>
                    </a:p>
                  </a:txBody>
                  <a:tcPr marL="45720" marR="45720" marT="27432" marB="27432" anchor="ctr">
                    <a:solidFill>
                      <a:srgbClr val="B31B1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rPr sz="1400"/>
                        <a:t>准确率 Accuracy</a:t>
                      </a:r>
                    </a:p>
                  </a:txBody>
                  <a:tcPr marL="45720" marR="45720" marT="27432" marB="27432" anchor="ctr">
                    <a:solidFill>
                      <a:srgbClr val="B31B1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rPr sz="1400"/>
                        <a:t>讽刺类 F1 Score</a:t>
                      </a:r>
                    </a:p>
                  </a:txBody>
                  <a:tcPr marL="45720" marR="45720" marT="27432" marB="27432" anchor="ctr">
                    <a:solidFill>
                      <a:srgbClr val="B31B1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rPr sz="1400"/>
                        <a:t>特点</a:t>
                      </a:r>
                    </a:p>
                  </a:txBody>
                  <a:tcPr marL="45720" marR="45720" marT="27432" marB="27432" anchor="ctr">
                    <a:solidFill>
                      <a:srgbClr val="B3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66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200"/>
                        <a:t>纯 CV (ResNet18)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200"/>
                        <a:t>~</a:t>
                      </a:r>
                      <a:r>
                        <a:rPr lang="en-US" sz="1200"/>
                        <a:t>76</a:t>
                      </a:r>
                      <a:r>
                        <a:rPr sz="1200"/>
                        <a:t>%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200"/>
                        <a:t>— (无文本输入)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200"/>
                        <a:t>只看人脸表情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66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200"/>
                        <a:t>纯 NLP (RoBERTa)</a:t>
                      </a:r>
                    </a:p>
                  </a:txBody>
                  <a:tcPr marL="45720" marR="45720" marT="27432" marB="27432" anchor="ctr"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200"/>
                        <a:t>~</a:t>
                      </a:r>
                      <a:r>
                        <a:rPr lang="en-US" sz="1200"/>
                        <a:t>81</a:t>
                      </a:r>
                      <a:r>
                        <a:rPr sz="1200"/>
                        <a:t>%</a:t>
                      </a:r>
                    </a:p>
                  </a:txBody>
                  <a:tcPr marL="45720" marR="45720" marT="27432" marB="27432" anchor="ctr"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200"/>
                        <a:t>— (无视觉输入)</a:t>
                      </a:r>
                    </a:p>
                  </a:txBody>
                  <a:tcPr marL="45720" marR="45720" marT="27432" marB="27432" anchor="ctr"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200"/>
                        <a:t>只看文字情感</a:t>
                      </a:r>
                    </a:p>
                  </a:txBody>
                  <a:tcPr marL="45720" marR="45720" marT="27432" marB="27432" anchor="ctr">
                    <a:solidFill>
                      <a:srgbClr val="F5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66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200"/>
                        <a:t>早期融合 Early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200"/>
                        <a:t>~</a:t>
                      </a:r>
                      <a:r>
                        <a:rPr lang="en-US" sz="1200"/>
                        <a:t>80</a:t>
                      </a:r>
                      <a:r>
                        <a:rPr sz="1200"/>
                        <a:t>%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200"/>
                        <a:t>0.31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200"/>
                        <a:t>简单拼接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66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200"/>
                        <a:t>晚期融合 Late</a:t>
                      </a:r>
                    </a:p>
                  </a:txBody>
                  <a:tcPr marL="45720" marR="45720" marT="27432" marB="27432" anchor="ctr"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200"/>
                        <a:t>~</a:t>
                      </a:r>
                      <a:r>
                        <a:rPr lang="en-US" sz="1200"/>
                        <a:t>81</a:t>
                      </a:r>
                      <a:r>
                        <a:rPr sz="1200"/>
                        <a:t>%</a:t>
                      </a:r>
                    </a:p>
                  </a:txBody>
                  <a:tcPr marL="45720" marR="45720" marT="27432" marB="27432" anchor="ctr"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200"/>
                        <a:t>0.38</a:t>
                      </a:r>
                    </a:p>
                  </a:txBody>
                  <a:tcPr marL="45720" marR="45720" marT="27432" marB="27432" anchor="ctr"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200"/>
                        <a:t>专家投票</a:t>
                      </a:r>
                    </a:p>
                  </a:txBody>
                  <a:tcPr marL="45720" marR="45720" marT="27432" marB="27432" anchor="ctr">
                    <a:solidFill>
                      <a:srgbClr val="F5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667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200"/>
                        <a:t>门控注意力 Gated 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200"/>
                        <a:t>~8</a:t>
                      </a:r>
                      <a:r>
                        <a:rPr lang="en-US" sz="1200"/>
                        <a:t>4</a:t>
                      </a:r>
                      <a:r>
                        <a:rPr sz="1200"/>
                        <a:t>%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200"/>
                        <a:t>0.52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200"/>
                        <a:t>动态 α 自适应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TextBox 4">
            <a:extLst>
              <a:ext uri="{FF2B5EF4-FFF2-40B4-BE49-F238E27FC236}">
                <a16:creationId xmlns:a16="http://schemas.microsoft.com/office/drawing/2014/main" id="{62A59E69-5DE9-4C7F-5BF6-4B830A0B55AA}"/>
              </a:ext>
            </a:extLst>
          </p:cNvPr>
          <p:cNvSpPr txBox="1"/>
          <p:nvPr/>
        </p:nvSpPr>
        <p:spPr>
          <a:xfrm>
            <a:off x="892001" y="3513018"/>
            <a:ext cx="5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40"/>
              </a:spcAft>
              <a:defRPr sz="1600" b="0">
                <a:solidFill>
                  <a:srgbClr val="333333"/>
                </a:solidFill>
                <a:latin typeface="微软雅黑"/>
              </a:defRPr>
            </a:pPr>
            <a:endParaRPr/>
          </a:p>
          <a:p>
            <a:pPr algn="l">
              <a:spcBef>
                <a:spcPts val="400"/>
              </a:spcBef>
              <a:defRPr sz="1800" b="1">
                <a:solidFill>
                  <a:srgbClr val="B31B1B"/>
                </a:solidFill>
                <a:latin typeface="微软雅黑"/>
              </a:defRPr>
            </a:pPr>
            <a:r>
              <a:t>📊 关键发现</a:t>
            </a:r>
          </a:p>
        </p:txBody>
      </p:sp>
      <p:sp>
        <p:nvSpPr>
          <p:cNvPr id="19" name="TextBox 5">
            <a:extLst>
              <a:ext uri="{FF2B5EF4-FFF2-40B4-BE49-F238E27FC236}">
                <a16:creationId xmlns:a16="http://schemas.microsoft.com/office/drawing/2014/main" id="{C5CD7753-E6A6-EB30-488D-2AF86457111D}"/>
              </a:ext>
            </a:extLst>
          </p:cNvPr>
          <p:cNvSpPr txBox="1"/>
          <p:nvPr/>
        </p:nvSpPr>
        <p:spPr>
          <a:xfrm>
            <a:off x="692000" y="4525257"/>
            <a:ext cx="5000000" cy="841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• 多模态融合均优于单模态 (76-81% vs </a:t>
            </a:r>
            <a:r>
              <a:rPr lang="en-US"/>
              <a:t>80</a:t>
            </a:r>
            <a:r>
              <a:t>-</a:t>
            </a:r>
            <a:r>
              <a:rPr lang="en-US"/>
              <a:t>84</a:t>
            </a:r>
            <a:r>
              <a:t>%)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• 门控注意力全面领先，讽刺类提升最显著 (F1=0.52)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• 冲突感知版本在矛盾样本上表现更好</a:t>
            </a:r>
          </a:p>
        </p:txBody>
      </p:sp>
      <p:graphicFrame>
        <p:nvGraphicFramePr>
          <p:cNvPr id="21" name="Table 6">
            <a:extLst>
              <a:ext uri="{FF2B5EF4-FFF2-40B4-BE49-F238E27FC236}">
                <a16:creationId xmlns:a16="http://schemas.microsoft.com/office/drawing/2014/main" id="{41ABE380-C17E-ED19-7AFF-3F18F2AABB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4499970"/>
              </p:ext>
            </p:extLst>
          </p:nvPr>
        </p:nvGraphicFramePr>
        <p:xfrm>
          <a:off x="6300000" y="3668639"/>
          <a:ext cx="5200000" cy="2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0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rPr sz="1400"/>
                        <a:t>模型</a:t>
                      </a:r>
                    </a:p>
                  </a:txBody>
                  <a:tcPr marL="45720" marR="45720" marT="27432" marB="27432" anchor="ctr">
                    <a:solidFill>
                      <a:srgbClr val="B31B1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rPr sz="1400"/>
                        <a:t>讽刺类 F1</a:t>
                      </a:r>
                    </a:p>
                  </a:txBody>
                  <a:tcPr marL="45720" marR="45720" marT="27432" marB="27432" anchor="ctr">
                    <a:solidFill>
                      <a:srgbClr val="B3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200"/>
                        <a:t>Early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200"/>
                        <a:t>0.31 ███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200"/>
                        <a:t>Late</a:t>
                      </a:r>
                    </a:p>
                  </a:txBody>
                  <a:tcPr marL="45720" marR="45720" marT="27432" marB="27432" anchor="ctr"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200"/>
                        <a:t>0.38 ████</a:t>
                      </a:r>
                    </a:p>
                  </a:txBody>
                  <a:tcPr marL="45720" marR="45720" marT="27432" marB="27432" anchor="ctr">
                    <a:solidFill>
                      <a:srgbClr val="F5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200"/>
                        <a:t>Gated 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200"/>
                        <a:t>0.52 █████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itle 1">
            <a:extLst>
              <a:ext uri="{FF2B5EF4-FFF2-40B4-BE49-F238E27FC236}">
                <a16:creationId xmlns:a16="http://schemas.microsoft.com/office/drawing/2014/main" id="{1BA4913E-66A0-977E-2D96-F5423A686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00" y="172180"/>
            <a:ext cx="7975600" cy="793524"/>
          </a:xfrm>
        </p:spPr>
        <p:txBody>
          <a:bodyPr/>
          <a:lstStyle/>
          <a:p>
            <a:pPr>
              <a:defRPr sz="3000" b="1">
                <a:solidFill>
                  <a:srgbClr val="B31B1B"/>
                </a:solidFill>
              </a:defRPr>
            </a:pPr>
            <a:r>
              <a:rPr err="1"/>
              <a:t>实验数据与性能对比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204981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B31B1B"/>
                </a:solidFill>
                <a:latin typeface="Microsoft YaHei"/>
              </a:defRPr>
            </a:pPr>
            <a:r>
              <a:t>项目创新点与主要贡献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1400000"/>
            <a:ext cx="105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333333"/>
                </a:solidFill>
                <a:latin typeface="Microsoft YaHei"/>
              </a:rPr>
              <a:t>本项目围绕多模态情感识别的三个核心挑战——如何融合、如何处理矛盾、如何落地——形成四项主要创新：</a:t>
            </a:r>
          </a:p>
        </p:txBody>
      </p:sp>
      <p:sp>
        <p:nvSpPr>
          <p:cNvPr id="5" name="Oval 4"/>
          <p:cNvSpPr/>
          <p:nvPr/>
        </p:nvSpPr>
        <p:spPr>
          <a:xfrm>
            <a:off x="850000" y="2350000"/>
            <a:ext cx="350000" cy="350000"/>
          </a:xfrm>
          <a:prstGeom prst="ellipse">
            <a:avLst/>
          </a:prstGeom>
          <a:solidFill>
            <a:srgbClr val="B3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50000" y="2320000"/>
            <a:ext cx="4700000" cy="350000"/>
          </a:xfrm>
          <a:prstGeom prst="roundRect">
            <a:avLst/>
          </a:prstGeom>
          <a:solidFill>
            <a:srgbClr val="B3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门控注意力融合机制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93787" y="2822258"/>
            <a:ext cx="4206729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3333"/>
                </a:solidFill>
                <a:latin typeface="Microsoft YaHei"/>
              </a:defRPr>
            </a:pPr>
            <a:r>
              <a:rPr sz="1400"/>
              <a:t>CV(512d)+NLP(768d)拼接后通过可学习Gate网络</a:t>
            </a:r>
            <a:br>
              <a:rPr sz="1400"/>
            </a:br>
            <a:r>
              <a:rPr sz="1400"/>
              <a:t>dynamic计算alpha系数，自适应分配模态权重</a:t>
            </a:r>
            <a:br>
              <a:rPr sz="1400"/>
            </a:br>
            <a:r>
              <a:rPr sz="1400"/>
              <a:t>每个样本独立算alpha，非固定权重</a:t>
            </a:r>
            <a:br>
              <a:rPr sz="1400"/>
            </a:br>
            <a:r>
              <a:rPr sz="1400"/>
              <a:t>相比固定权重方案准确率提升4%+</a:t>
            </a:r>
          </a:p>
        </p:txBody>
      </p:sp>
      <p:sp>
        <p:nvSpPr>
          <p:cNvPr id="8" name="Oval 7"/>
          <p:cNvSpPr/>
          <p:nvPr/>
        </p:nvSpPr>
        <p:spPr>
          <a:xfrm>
            <a:off x="6350000" y="2350000"/>
            <a:ext cx="350000" cy="3500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50000" y="2320000"/>
            <a:ext cx="4700000" cy="35000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冲突感知模型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93787" y="2822258"/>
            <a:ext cx="4412426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3333"/>
                </a:solidFill>
                <a:latin typeface="Microsoft YaHei"/>
              </a:defRPr>
            </a:pPr>
            <a:r>
              <a:rPr sz="1400"/>
              <a:t>SarcasmAwareFusion独创冲突编码器</a:t>
            </a:r>
            <a:br>
              <a:rPr sz="1400"/>
            </a:br>
            <a:r>
              <a:rPr sz="1400"/>
              <a:t>CV/NLP各独立预测-&gt;计算分布差异-&gt;conflict_score</a:t>
            </a:r>
            <a:br>
              <a:rPr sz="1400"/>
            </a:br>
            <a:r>
              <a:rPr sz="1400"/>
              <a:t>门控网络接收冲突信号后调整信任策略</a:t>
            </a:r>
            <a:br>
              <a:rPr sz="1400"/>
            </a:br>
            <a:r>
              <a:rPr sz="1400"/>
              <a:t>讽刺类F1达0.55，专门应对笑脸配骂人话场景</a:t>
            </a:r>
          </a:p>
        </p:txBody>
      </p:sp>
      <p:sp>
        <p:nvSpPr>
          <p:cNvPr id="11" name="Oval 10"/>
          <p:cNvSpPr/>
          <p:nvPr/>
        </p:nvSpPr>
        <p:spPr>
          <a:xfrm>
            <a:off x="850000" y="4250000"/>
            <a:ext cx="350000" cy="350000"/>
          </a:xfrm>
          <a:prstGeom prst="ellipse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50000" y="4220000"/>
            <a:ext cx="4700000" cy="35000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端到端便携部署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93787" y="4722258"/>
            <a:ext cx="4099712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3333"/>
                </a:solidFill>
                <a:latin typeface="Microsoft YaHei"/>
              </a:defRPr>
            </a:pPr>
            <a:r>
              <a:rPr sz="1400"/>
              <a:t>PyInstaller打包Python环境+全部依赖+模型权重</a:t>
            </a:r>
            <a:br>
              <a:rPr sz="1400"/>
            </a:br>
            <a:r>
              <a:rPr sz="1400"/>
              <a:t>双击启动.exe即可运行，无需安装任何软件</a:t>
            </a:r>
            <a:br>
              <a:rPr sz="1400"/>
            </a:br>
            <a:r>
              <a:rPr sz="1400"/>
              <a:t>30秒自动加载模型并打开浏览器</a:t>
            </a:r>
            <a:br>
              <a:rPr sz="1400"/>
            </a:br>
            <a:r>
              <a:rPr sz="1400"/>
              <a:t>适合校园机房等受限环境</a:t>
            </a:r>
          </a:p>
        </p:txBody>
      </p:sp>
      <p:sp>
        <p:nvSpPr>
          <p:cNvPr id="14" name="Oval 13"/>
          <p:cNvSpPr/>
          <p:nvPr/>
        </p:nvSpPr>
        <p:spPr>
          <a:xfrm>
            <a:off x="6350000" y="4250000"/>
            <a:ext cx="350000" cy="350000"/>
          </a:xfrm>
          <a:prstGeom prst="ellipse">
            <a:avLst/>
          </a:prstGeom>
          <a:solidFill>
            <a:srgbClr val="D83B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50000" y="4220000"/>
            <a:ext cx="4700000" cy="350000"/>
          </a:xfrm>
          <a:prstGeom prst="roundRect">
            <a:avLst/>
          </a:prstGeom>
          <a:solidFill>
            <a:srgbClr val="D83B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摄像头实时情感分析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3787" y="4722258"/>
            <a:ext cx="3522118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3333"/>
                </a:solidFill>
                <a:latin typeface="Microsoft YaHei"/>
              </a:defRPr>
            </a:pPr>
            <a:r>
              <a:rPr sz="1400"/>
              <a:t>YuNet轻量人脸检测+ResNet18推理</a:t>
            </a:r>
            <a:br>
              <a:rPr sz="1400"/>
            </a:br>
            <a:r>
              <a:rPr sz="1400"/>
              <a:t>每2秒深度学习推理，其余帧仅做检测渲染</a:t>
            </a:r>
            <a:br>
              <a:rPr sz="1400"/>
            </a:br>
            <a:r>
              <a:rPr sz="1400"/>
              <a:t>7种表情概率实时更新+绿框标注</a:t>
            </a:r>
            <a:br>
              <a:rPr sz="1400"/>
            </a:br>
            <a:r>
              <a:rPr sz="1400"/>
              <a:t>Windows/macOS多后端自适应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7C4AD-A26B-61EB-239A-4221179D9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8CEF7FE8-5D6F-7164-A863-497F510691D1}"/>
              </a:ext>
            </a:extLst>
          </p:cNvPr>
          <p:cNvSpPr/>
          <p:nvPr/>
        </p:nvSpPr>
        <p:spPr>
          <a:xfrm>
            <a:off x="134709" y="239939"/>
            <a:ext cx="209554" cy="657225"/>
          </a:xfrm>
          <a:prstGeom prst="rect">
            <a:avLst/>
          </a:prstGeom>
          <a:solidFill>
            <a:srgbClr val="B929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4D65AC4-9716-3DC9-9529-52E7C975365D}"/>
              </a:ext>
            </a:extLst>
          </p:cNvPr>
          <p:cNvSpPr/>
          <p:nvPr/>
        </p:nvSpPr>
        <p:spPr>
          <a:xfrm>
            <a:off x="0" y="4534296"/>
            <a:ext cx="12192000" cy="2323704"/>
          </a:xfrm>
          <a:prstGeom prst="rect">
            <a:avLst/>
          </a:prstGeom>
          <a:blipFill dpi="0" rotWithShape="1">
            <a:blip r:embed="rId2">
              <a:alphaModFix amt="17000"/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BE0EB5F-8E88-19E3-61FC-C9CE77DC549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8" r="37718" b="50000"/>
          <a:stretch>
            <a:fillRect/>
          </a:stretch>
        </p:blipFill>
        <p:spPr>
          <a:xfrm>
            <a:off x="10096501" y="5597863"/>
            <a:ext cx="2095500" cy="126013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918D6A3-2988-4071-F52D-5C9A9908B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263" y="84685"/>
            <a:ext cx="10353800" cy="1055688"/>
          </a:xfrm>
        </p:spPr>
        <p:txBody>
          <a:bodyPr/>
          <a:lstStyle/>
          <a:p>
            <a:pPr>
              <a:defRPr sz="3000" b="1">
                <a:solidFill>
                  <a:srgbClr val="B31B1B"/>
                </a:solidFill>
              </a:defRPr>
            </a:pPr>
            <a:r>
              <a:t>多模态融合策略—— </a:t>
            </a:r>
            <a:r>
              <a:rPr err="1"/>
              <a:t>冲突感知</a:t>
            </a:r>
            <a:r>
              <a:t> </a:t>
            </a:r>
            <a:r>
              <a:rPr err="1"/>
              <a:t>SarcasmAwareFusion</a:t>
            </a:r>
            <a:r>
              <a:t> 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A5FA859D-DBC5-D204-6909-B74676F485FA}"/>
              </a:ext>
            </a:extLst>
          </p:cNvPr>
          <p:cNvSpPr txBox="1"/>
          <p:nvPr/>
        </p:nvSpPr>
        <p:spPr>
          <a:xfrm>
            <a:off x="344262" y="1051333"/>
            <a:ext cx="5000000" cy="4498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40"/>
              </a:spcAft>
              <a:defRPr sz="1600" b="0">
                <a:solidFill>
                  <a:srgbClr val="333333"/>
                </a:solidFill>
                <a:latin typeface="微软雅黑"/>
              </a:defRPr>
            </a:pPr>
            <a:endParaRPr/>
          </a:p>
          <a:p>
            <a:pPr algn="l">
              <a:spcBef>
                <a:spcPts val="400"/>
              </a:spcBef>
              <a:defRPr sz="2000" b="1">
                <a:solidFill>
                  <a:srgbClr val="B31B1B"/>
                </a:solidFill>
                <a:latin typeface="微软雅黑"/>
              </a:defRPr>
            </a:pPr>
            <a:r>
              <a:rPr err="1"/>
              <a:t>核心创新：检测</a:t>
            </a:r>
            <a:r>
              <a:t> CV 和 NLP </a:t>
            </a:r>
            <a:r>
              <a:rPr err="1"/>
              <a:t>的矛盾</a:t>
            </a:r>
            <a:endParaRPr/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微软雅黑"/>
              </a:defRPr>
            </a:pPr>
            <a:endParaRPr/>
          </a:p>
          <a:p>
            <a:pPr algn="l">
              <a:spcBef>
                <a:spcPts val="400"/>
              </a:spcBef>
              <a:defRPr sz="1700" b="1">
                <a:solidFill>
                  <a:srgbClr val="333333"/>
                </a:solidFill>
                <a:latin typeface="微软雅黑"/>
              </a:defRPr>
            </a:pPr>
            <a:r>
              <a:rPr err="1"/>
              <a:t>工作流程</a:t>
            </a:r>
            <a:endParaRPr/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① CV Expert → </a:t>
            </a:r>
            <a:r>
              <a:rPr err="1"/>
              <a:t>cv_logits（纯看脸的判断</a:t>
            </a:r>
            <a:r>
              <a:t>）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② NLP Expert → </a:t>
            </a:r>
            <a:r>
              <a:rPr err="1"/>
              <a:t>nlp_logits（纯看字的判断</a:t>
            </a:r>
            <a:r>
              <a:t>）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③ </a:t>
            </a:r>
            <a:r>
              <a:rPr err="1"/>
              <a:t>计算</a:t>
            </a:r>
            <a:r>
              <a:t> disagreement = |</a:t>
            </a:r>
            <a:r>
              <a:rPr err="1"/>
              <a:t>cv_probs</a:t>
            </a:r>
            <a:r>
              <a:t> - </a:t>
            </a:r>
            <a:r>
              <a:rPr err="1"/>
              <a:t>nlp_probs</a:t>
            </a:r>
            <a:r>
              <a:t>|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④ Conflict Encoder → </a:t>
            </a:r>
            <a:r>
              <a:rPr err="1"/>
              <a:t>conflict_score</a:t>
            </a:r>
            <a:r>
              <a:t> (0~1)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⑤ </a:t>
            </a:r>
            <a:r>
              <a:rPr err="1"/>
              <a:t>门控看到冲突后，自动调整信任策略</a:t>
            </a:r>
            <a:endParaRPr/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⑥ Fusion Classifier ← </a:t>
            </a:r>
            <a:r>
              <a:rPr err="1"/>
              <a:t>融合特征</a:t>
            </a:r>
            <a:r>
              <a:t> + </a:t>
            </a:r>
            <a:r>
              <a:rPr err="1"/>
              <a:t>冲突信号</a:t>
            </a:r>
            <a:endParaRPr/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微软雅黑"/>
              </a:defRPr>
            </a:pPr>
            <a:endParaRPr/>
          </a:p>
          <a:p>
            <a:pPr algn="l">
              <a:spcBef>
                <a:spcPts val="400"/>
              </a:spcBef>
              <a:defRPr sz="1700" b="1">
                <a:solidFill>
                  <a:srgbClr val="333333"/>
                </a:solidFill>
                <a:latin typeface="微软雅黑"/>
              </a:defRPr>
            </a:pPr>
            <a:r>
              <a:rPr err="1"/>
              <a:t>输出解读</a:t>
            </a:r>
            <a:endParaRPr/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</a:t>
            </a:r>
            <a:r>
              <a:rPr err="1"/>
              <a:t>conflict_score</a:t>
            </a:r>
            <a:r>
              <a:t> → 0: CV 和 NLP </a:t>
            </a:r>
            <a:r>
              <a:rPr err="1"/>
              <a:t>完全一致</a:t>
            </a:r>
            <a:endParaRPr/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</a:t>
            </a:r>
            <a:r>
              <a:rPr err="1"/>
              <a:t>conflict_score</a:t>
            </a:r>
            <a:r>
              <a:t> → 1: </a:t>
            </a:r>
            <a:r>
              <a:rPr err="1"/>
              <a:t>严重矛盾，疑似讽刺</a:t>
            </a:r>
            <a:endParaRPr/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α → 1: </a:t>
            </a:r>
            <a:r>
              <a:rPr err="1"/>
              <a:t>模型更信任</a:t>
            </a:r>
            <a:r>
              <a:t> NLP (</a:t>
            </a:r>
            <a:r>
              <a:rPr err="1"/>
              <a:t>文字</a:t>
            </a:r>
            <a:r>
              <a:t>)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α → 0: </a:t>
            </a:r>
            <a:r>
              <a:rPr err="1"/>
              <a:t>模型更信任</a:t>
            </a:r>
            <a:r>
              <a:t> CV (</a:t>
            </a:r>
            <a:r>
              <a:rPr err="1"/>
              <a:t>人脸</a:t>
            </a:r>
            <a:r>
              <a:t>)</a:t>
            </a:r>
          </a:p>
        </p:txBody>
      </p:sp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F5EB7A9B-0EFC-88D4-BEB0-DC542B3227F3}"/>
              </a:ext>
            </a:extLst>
          </p:cNvPr>
          <p:cNvSpPr/>
          <p:nvPr/>
        </p:nvSpPr>
        <p:spPr>
          <a:xfrm>
            <a:off x="6000000" y="1490373"/>
            <a:ext cx="5200000" cy="600000"/>
          </a:xfrm>
          <a:prstGeom prst="roundRect">
            <a:avLst/>
          </a:prstGeom>
          <a:solidFill>
            <a:srgbClr val="B3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CV(512d) → cv_expert → cv_logits</a:t>
            </a:r>
          </a:p>
        </p:txBody>
      </p: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9A60DB76-1FAF-B282-12E6-CDAC912856DB}"/>
              </a:ext>
            </a:extLst>
          </p:cNvPr>
          <p:cNvSpPr/>
          <p:nvPr/>
        </p:nvSpPr>
        <p:spPr>
          <a:xfrm>
            <a:off x="6000000" y="2190373"/>
            <a:ext cx="5200000" cy="60000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NLP(768d) → nlp_expert → nlp_logits</a:t>
            </a:r>
          </a:p>
        </p:txBody>
      </p:sp>
      <p:sp>
        <p:nvSpPr>
          <p:cNvPr id="8" name="Rounded Rectangle 6">
            <a:extLst>
              <a:ext uri="{FF2B5EF4-FFF2-40B4-BE49-F238E27FC236}">
                <a16:creationId xmlns:a16="http://schemas.microsoft.com/office/drawing/2014/main" id="{7719D112-EC73-03AD-4DD8-3609A3DA18F0}"/>
              </a:ext>
            </a:extLst>
          </p:cNvPr>
          <p:cNvSpPr/>
          <p:nvPr/>
        </p:nvSpPr>
        <p:spPr>
          <a:xfrm>
            <a:off x="6000000" y="3090373"/>
            <a:ext cx="2500000" cy="50000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↕ 差异计算</a:t>
            </a:r>
          </a:p>
        </p:txBody>
      </p:sp>
      <p:sp>
        <p:nvSpPr>
          <p:cNvPr id="10" name="Rounded Rectangle 7">
            <a:extLst>
              <a:ext uri="{FF2B5EF4-FFF2-40B4-BE49-F238E27FC236}">
                <a16:creationId xmlns:a16="http://schemas.microsoft.com/office/drawing/2014/main" id="{090FF5DA-9AC4-F334-E46D-C1BB061FA174}"/>
              </a:ext>
            </a:extLst>
          </p:cNvPr>
          <p:cNvSpPr/>
          <p:nvPr/>
        </p:nvSpPr>
        <p:spPr>
          <a:xfrm>
            <a:off x="8700000" y="3090373"/>
            <a:ext cx="2500000" cy="500000"/>
          </a:xfrm>
          <a:prstGeom prst="roundRect">
            <a:avLst/>
          </a:prstGeom>
          <a:solidFill>
            <a:srgbClr val="D83B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→ conflict_score</a:t>
            </a:r>
          </a:p>
        </p:txBody>
      </p:sp>
      <p:sp>
        <p:nvSpPr>
          <p:cNvPr id="11" name="Rounded Rectangle 8">
            <a:extLst>
              <a:ext uri="{FF2B5EF4-FFF2-40B4-BE49-F238E27FC236}">
                <a16:creationId xmlns:a16="http://schemas.microsoft.com/office/drawing/2014/main" id="{2F4D0020-A75C-D2A1-20FD-68B6F584573A}"/>
              </a:ext>
            </a:extLst>
          </p:cNvPr>
          <p:cNvSpPr/>
          <p:nvPr/>
        </p:nvSpPr>
        <p:spPr>
          <a:xfrm>
            <a:off x="6000000" y="3790373"/>
            <a:ext cx="5200000" cy="60000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Gate 看到冲突 → 调整 α</a:t>
            </a:r>
          </a:p>
        </p:txBody>
      </p:sp>
      <p:sp>
        <p:nvSpPr>
          <p:cNvPr id="12" name="Rounded Rectangle 9">
            <a:extLst>
              <a:ext uri="{FF2B5EF4-FFF2-40B4-BE49-F238E27FC236}">
                <a16:creationId xmlns:a16="http://schemas.microsoft.com/office/drawing/2014/main" id="{C2C6D9C9-6916-9AFC-57C4-589603B1FC04}"/>
              </a:ext>
            </a:extLst>
          </p:cNvPr>
          <p:cNvSpPr/>
          <p:nvPr/>
        </p:nvSpPr>
        <p:spPr>
          <a:xfrm>
            <a:off x="6000000" y="4590373"/>
            <a:ext cx="5200000" cy="600000"/>
          </a:xfrm>
          <a:prstGeom prst="roundRect">
            <a:avLst/>
          </a:prstGeom>
          <a:solidFill>
            <a:srgbClr val="B3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Fusion Classifier → 最终判断</a:t>
            </a: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B5FF05C2-737B-AA21-E26B-C420E214C57E}"/>
              </a:ext>
            </a:extLst>
          </p:cNvPr>
          <p:cNvSpPr txBox="1"/>
          <p:nvPr/>
        </p:nvSpPr>
        <p:spPr>
          <a:xfrm>
            <a:off x="510063" y="5606077"/>
            <a:ext cx="102769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  <a:defRPr sz="1400" b="1">
                <a:solidFill>
                  <a:srgbClr val="D83B01"/>
                </a:solidFill>
                <a:latin typeface="微软雅黑"/>
              </a:defRPr>
            </a:pPr>
            <a:r>
              <a:t>💡 </a:t>
            </a:r>
            <a:r>
              <a:rPr err="1"/>
              <a:t>关键优势：笑脸</a:t>
            </a:r>
            <a:r>
              <a:t> + </a:t>
            </a:r>
            <a:r>
              <a:rPr err="1"/>
              <a:t>讽刺文字</a:t>
            </a:r>
            <a:r>
              <a:t> → </a:t>
            </a:r>
            <a:r>
              <a:rPr err="1"/>
              <a:t>模型自动识别矛盾</a:t>
            </a:r>
            <a:r>
              <a:t> → </a:t>
            </a:r>
            <a:r>
              <a:rPr err="1"/>
              <a:t>倾向</a:t>
            </a:r>
            <a:r>
              <a:t> sarcasm 类 → </a:t>
            </a:r>
            <a:r>
              <a:rPr err="1"/>
              <a:t>而非简单地信</a:t>
            </a:r>
            <a:r>
              <a:t> CV 或 NLP</a:t>
            </a:r>
          </a:p>
        </p:txBody>
      </p:sp>
    </p:spTree>
    <p:extLst>
      <p:ext uri="{BB962C8B-B14F-4D97-AF65-F5344CB8AC3E}">
        <p14:creationId xmlns:p14="http://schemas.microsoft.com/office/powerpoint/2010/main" val="3267879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29454-B788-DC63-E064-3DC04114D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D6A307D5-98E7-BC07-2444-F1D41BC252B1}"/>
              </a:ext>
            </a:extLst>
          </p:cNvPr>
          <p:cNvSpPr/>
          <p:nvPr/>
        </p:nvSpPr>
        <p:spPr>
          <a:xfrm>
            <a:off x="134709" y="239939"/>
            <a:ext cx="209554" cy="657225"/>
          </a:xfrm>
          <a:prstGeom prst="rect">
            <a:avLst/>
          </a:prstGeom>
          <a:solidFill>
            <a:srgbClr val="B929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035E61F-3F08-1E0B-53F0-5714ADCD4633}"/>
              </a:ext>
            </a:extLst>
          </p:cNvPr>
          <p:cNvSpPr/>
          <p:nvPr/>
        </p:nvSpPr>
        <p:spPr>
          <a:xfrm>
            <a:off x="0" y="4534296"/>
            <a:ext cx="12192000" cy="2323704"/>
          </a:xfrm>
          <a:prstGeom prst="rect">
            <a:avLst/>
          </a:prstGeom>
          <a:blipFill dpi="0" rotWithShape="1">
            <a:blip r:embed="rId2">
              <a:alphaModFix amt="17000"/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B29237A-6293-3022-EAED-696D6652099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8" r="37718" b="50000"/>
          <a:stretch>
            <a:fillRect/>
          </a:stretch>
        </p:blipFill>
        <p:spPr>
          <a:xfrm>
            <a:off x="10096501" y="5597863"/>
            <a:ext cx="2095500" cy="126013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321FAB-19F9-4CBC-0880-F858D22DD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00" y="222703"/>
            <a:ext cx="10185400" cy="793524"/>
          </a:xfrm>
        </p:spPr>
        <p:txBody>
          <a:bodyPr/>
          <a:lstStyle/>
          <a:p>
            <a:pPr>
              <a:defRPr sz="3000" b="1">
                <a:solidFill>
                  <a:srgbClr val="B31B1B"/>
                </a:solidFill>
              </a:defRPr>
            </a:pPr>
            <a:r>
              <a:t>典型案例分析 —— 矛盾 vs 一致场景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6E9A4A82-8FCF-5754-1930-E4A11F8D29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4913716"/>
              </p:ext>
            </p:extLst>
          </p:nvPr>
        </p:nvGraphicFramePr>
        <p:xfrm>
          <a:off x="500000" y="1400000"/>
          <a:ext cx="11200000" cy="3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75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rPr sz="1600"/>
                        <a:t>场景</a:t>
                      </a:r>
                    </a:p>
                  </a:txBody>
                  <a:tcPr marL="45720" marR="45720" marT="27432" marB="27432" anchor="ctr">
                    <a:solidFill>
                      <a:srgbClr val="B31B1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rPr sz="1600"/>
                        <a:t>人脸表情</a:t>
                      </a:r>
                    </a:p>
                  </a:txBody>
                  <a:tcPr marL="45720" marR="45720" marT="27432" marB="27432" anchor="ctr">
                    <a:solidFill>
                      <a:srgbClr val="B31B1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rPr sz="1600"/>
                        <a:t>文本内容</a:t>
                      </a:r>
                    </a:p>
                  </a:txBody>
                  <a:tcPr marL="45720" marR="45720" marT="27432" marB="27432" anchor="ctr">
                    <a:solidFill>
                      <a:srgbClr val="B31B1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rPr sz="1600"/>
                        <a:t>CV 预测</a:t>
                      </a:r>
                    </a:p>
                  </a:txBody>
                  <a:tcPr marL="45720" marR="45720" marT="27432" marB="27432" anchor="ctr">
                    <a:solidFill>
                      <a:srgbClr val="B31B1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rPr sz="1600"/>
                        <a:t>NLP 预测</a:t>
                      </a:r>
                    </a:p>
                  </a:txBody>
                  <a:tcPr marL="45720" marR="45720" marT="27432" marB="27432" anchor="ctr">
                    <a:solidFill>
                      <a:srgbClr val="B31B1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rPr sz="1600"/>
                        <a:t>融合结果</a:t>
                      </a:r>
                    </a:p>
                  </a:txBody>
                  <a:tcPr marL="45720" marR="45720" marT="27432" marB="27432" anchor="ctr">
                    <a:solidFill>
                      <a:srgbClr val="B31B1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rPr sz="1600"/>
                        <a:t>门控 α</a:t>
                      </a:r>
                    </a:p>
                  </a:txBody>
                  <a:tcPr marL="45720" marR="45720" marT="27432" marB="27432" anchor="ctr">
                    <a:solidFill>
                      <a:srgbClr val="B3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5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400"/>
                        <a:t>矛盾 ①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400"/>
                        <a:t>😊 笑脸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400"/>
                        <a:t>"太糟糕了气死我了"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400"/>
                        <a:t>happy 95%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400"/>
                        <a:t>negative 99%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400"/>
                        <a:t>angry 100%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400"/>
                        <a:t>α=1.00</a:t>
                      </a:r>
                      <a:br>
                        <a:rPr sz="1400"/>
                      </a:br>
                      <a:r>
                        <a:rPr sz="1400"/>
                        <a:t>(完全信NLP)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5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400"/>
                        <a:t>矛盾 ②</a:t>
                      </a:r>
                    </a:p>
                  </a:txBody>
                  <a:tcPr marL="45720" marR="45720" marT="27432" marB="27432" anchor="ctr"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400"/>
                        <a:t>😡 愤怒脸</a:t>
                      </a:r>
                    </a:p>
                  </a:txBody>
                  <a:tcPr marL="45720" marR="45720" marT="27432" marB="27432" anchor="ctr"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400"/>
                        <a:t>"你太好了爱你"</a:t>
                      </a:r>
                    </a:p>
                  </a:txBody>
                  <a:tcPr marL="45720" marR="45720" marT="27432" marB="27432" anchor="ctr"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400"/>
                        <a:t>angry</a:t>
                      </a:r>
                    </a:p>
                  </a:txBody>
                  <a:tcPr marL="45720" marR="45720" marT="27432" marB="27432" anchor="ctr"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400"/>
                        <a:t>positive</a:t>
                      </a:r>
                    </a:p>
                  </a:txBody>
                  <a:tcPr marL="45720" marR="45720" marT="27432" marB="27432" anchor="ctr"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400"/>
                        <a:t>sarcasm</a:t>
                      </a:r>
                    </a:p>
                  </a:txBody>
                  <a:tcPr marL="45720" marR="45720" marT="27432" marB="27432" anchor="ctr"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400"/>
                        <a:t>α=0.85</a:t>
                      </a:r>
                      <a:br>
                        <a:rPr sz="1400"/>
                      </a:br>
                      <a:r>
                        <a:rPr sz="1400"/>
                        <a:t>(偏信NLP)</a:t>
                      </a:r>
                    </a:p>
                  </a:txBody>
                  <a:tcPr marL="45720" marR="45720" marT="27432" marB="27432" anchor="ctr">
                    <a:solidFill>
                      <a:srgbClr val="F5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5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400"/>
                        <a:t>一致 ③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400"/>
                        <a:t>😊 笑脸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400"/>
                        <a:t>"哈哈哈太搞笑了"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400"/>
                        <a:t>happy 95%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400"/>
                        <a:t>positive 99%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400"/>
                        <a:t>happy 100%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rPr sz="1400"/>
                        <a:t>α=0.52</a:t>
                      </a:r>
                      <a:br>
                        <a:rPr sz="1400"/>
                      </a:br>
                      <a:r>
                        <a:rPr sz="1400"/>
                        <a:t>(均衡)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4">
            <a:extLst>
              <a:ext uri="{FF2B5EF4-FFF2-40B4-BE49-F238E27FC236}">
                <a16:creationId xmlns:a16="http://schemas.microsoft.com/office/drawing/2014/main" id="{B6A8BB2B-BB54-44BD-8131-EB7D2F3690EA}"/>
              </a:ext>
            </a:extLst>
          </p:cNvPr>
          <p:cNvSpPr txBox="1"/>
          <p:nvPr/>
        </p:nvSpPr>
        <p:spPr>
          <a:xfrm>
            <a:off x="500000" y="4951533"/>
            <a:ext cx="1020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800" b="1">
                <a:solidFill>
                  <a:srgbClr val="B31B1B"/>
                </a:solidFill>
                <a:latin typeface="微软雅黑"/>
              </a:defRPr>
            </a:pPr>
            <a:r>
              <a:t>💡 </a:t>
            </a:r>
            <a:r>
              <a:rPr err="1"/>
              <a:t>分析要点</a:t>
            </a:r>
            <a:endParaRPr/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5E6AA244-E72B-856D-AAAD-509C22EF07FD}"/>
              </a:ext>
            </a:extLst>
          </p:cNvPr>
          <p:cNvSpPr txBox="1"/>
          <p:nvPr/>
        </p:nvSpPr>
        <p:spPr>
          <a:xfrm>
            <a:off x="485400" y="4900000"/>
            <a:ext cx="10200000" cy="1220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40"/>
              </a:spcAft>
              <a:defRPr sz="1600" b="0">
                <a:solidFill>
                  <a:srgbClr val="333333"/>
                </a:solidFill>
                <a:latin typeface="微软雅黑"/>
              </a:defRPr>
            </a:pPr>
            <a:endParaRPr/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</a:t>
            </a:r>
            <a:r>
              <a:rPr err="1"/>
              <a:t>矛盾场景下，门控</a:t>
            </a:r>
            <a:r>
              <a:t> α </a:t>
            </a:r>
            <a:r>
              <a:rPr err="1"/>
              <a:t>会偏向更可信的模态（案例①中</a:t>
            </a:r>
            <a:r>
              <a:t> NLP </a:t>
            </a:r>
            <a:r>
              <a:rPr err="1"/>
              <a:t>的文字信号强烈</a:t>
            </a:r>
            <a:r>
              <a:t>，α→1）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</a:t>
            </a:r>
            <a:r>
              <a:rPr err="1"/>
              <a:t>冲突感知版额外输出</a:t>
            </a:r>
            <a:r>
              <a:t> </a:t>
            </a:r>
            <a:r>
              <a:rPr err="1"/>
              <a:t>conflict_score，用于判断是否矛盾</a:t>
            </a:r>
            <a:r>
              <a:t> / </a:t>
            </a:r>
            <a:r>
              <a:rPr err="1"/>
              <a:t>讽刺</a:t>
            </a:r>
            <a:r>
              <a:t> / </a:t>
            </a:r>
            <a:r>
              <a:rPr err="1"/>
              <a:t>反讽</a:t>
            </a:r>
            <a:endParaRPr/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</a:t>
            </a:r>
            <a:r>
              <a:rPr err="1"/>
              <a:t>一致场景下</a:t>
            </a:r>
            <a:r>
              <a:t>，α </a:t>
            </a:r>
            <a:r>
              <a:rPr err="1"/>
              <a:t>接近</a:t>
            </a:r>
            <a:r>
              <a:t> 0.5，两模态均衡贡献</a:t>
            </a:r>
          </a:p>
        </p:txBody>
      </p:sp>
    </p:spTree>
    <p:extLst>
      <p:ext uri="{BB962C8B-B14F-4D97-AF65-F5344CB8AC3E}">
        <p14:creationId xmlns:p14="http://schemas.microsoft.com/office/powerpoint/2010/main" val="42882508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B31B1B"/>
                </a:solidFill>
                <a:latin typeface="Microsoft YaHei"/>
              </a:defRPr>
            </a:pPr>
            <a:r>
              <a:t>系统演示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1400000"/>
            <a:ext cx="5200000" cy="5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B31B1B"/>
                </a:solidFill>
                <a:latin typeface="Microsoft YaHei"/>
              </a:defRPr>
            </a:pPr>
            <a:r>
              <a:t> Web界面功能展示</a:t>
            </a:r>
          </a:p>
          <a:p>
            <a:pPr>
              <a:spcBef>
                <a:spcPts val="200"/>
              </a:spcBef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实时分析面板：上传图片+输入文本 -&gt; 一键多模态分析</a:t>
            </a:r>
          </a:p>
          <a:p>
            <a:pPr>
              <a:spcBef>
                <a:spcPts val="200"/>
              </a:spcBef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融合策略切换：下拉框实时切换Early/Late/Gated</a:t>
            </a:r>
          </a:p>
          <a:p>
            <a:pPr>
              <a:spcBef>
                <a:spcPts val="200"/>
              </a:spcBef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三列概率柱状图：CV(7类) | NLP(3类) | Fusion(5类)</a:t>
            </a:r>
          </a:p>
          <a:p>
            <a:pPr>
              <a:spcBef>
                <a:spcPts val="200"/>
              </a:spcBef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情感强度进度条 1-10 + 冲突预警提示</a:t>
            </a:r>
          </a:p>
          <a:p>
            <a:pPr>
              <a:spcBef>
                <a:spcPts val="200"/>
              </a:spcBef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摄像头实时Tab：人脸绿框标注 + 表情实时更新</a:t>
            </a:r>
          </a:p>
          <a:p>
            <a:pPr>
              <a:spcBef>
                <a:spcPts val="200"/>
              </a:spcBef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历史记录Tab：自动CSV存储 + 表格查询 + 详情展开</a:t>
            </a:r>
          </a:p>
          <a:p>
            <a:pPr>
              <a:spcBef>
                <a:spcPts val="200"/>
              </a:spcBef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</a:t>
            </a:r>
          </a:p>
          <a:p>
            <a:pPr>
              <a:spcBef>
                <a:spcPts val="200"/>
              </a:spcBef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系统启动：双击启动.exe -&gt; 30秒加载 -&gt; 自动打开浏览器</a:t>
            </a:r>
          </a:p>
        </p:txBody>
      </p:sp>
      <p:sp>
        <p:nvSpPr>
          <p:cNvPr id="5" name="Rectangle 4"/>
          <p:cNvSpPr/>
          <p:nvPr/>
        </p:nvSpPr>
        <p:spPr>
          <a:xfrm>
            <a:off x="6500000" y="1500000"/>
            <a:ext cx="5000000" cy="30000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[ 在此插入Web界面截图 ]</a:t>
            </a:r>
          </a:p>
          <a:p>
            <a:pPr algn="ctr">
              <a:defRPr sz="1200">
                <a:solidFill>
                  <a:srgbClr val="666666"/>
                </a:solidFill>
                <a:latin typeface="Microsoft YaHei"/>
              </a:defRPr>
            </a:pPr>
            <a:r>
              <a:t>(请替换为此处的图片占位框)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00000" y="4700000"/>
            <a:ext cx="5000000" cy="18000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[ 在此插入摄像头/结果截图 ]</a:t>
            </a:r>
          </a:p>
          <a:p>
            <a:pPr algn="ctr">
              <a:defRPr sz="1200">
                <a:solidFill>
                  <a:srgbClr val="666666"/>
                </a:solidFill>
                <a:latin typeface="Microsoft YaHei"/>
              </a:defRPr>
            </a:pPr>
            <a:r>
              <a:t>(请替换为此处的图片占位框)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DCC68-12B1-F613-7354-B86E8EC28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3B25E16D-A305-0D58-6117-C4BED2A30AA6}"/>
              </a:ext>
            </a:extLst>
          </p:cNvPr>
          <p:cNvSpPr/>
          <p:nvPr/>
        </p:nvSpPr>
        <p:spPr>
          <a:xfrm>
            <a:off x="134709" y="239939"/>
            <a:ext cx="209554" cy="657225"/>
          </a:xfrm>
          <a:prstGeom prst="rect">
            <a:avLst/>
          </a:prstGeom>
          <a:solidFill>
            <a:srgbClr val="B929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7B8809F-87E4-8B43-AA06-E4E0840A686A}"/>
              </a:ext>
            </a:extLst>
          </p:cNvPr>
          <p:cNvSpPr/>
          <p:nvPr/>
        </p:nvSpPr>
        <p:spPr>
          <a:xfrm>
            <a:off x="0" y="4534296"/>
            <a:ext cx="12192000" cy="2323704"/>
          </a:xfrm>
          <a:prstGeom prst="rect">
            <a:avLst/>
          </a:prstGeom>
          <a:blipFill dpi="0" rotWithShape="1">
            <a:blip r:embed="rId2">
              <a:alphaModFix amt="17000"/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497D544-333D-527A-7618-BBEB47C1BC8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8" r="37718" b="50000"/>
          <a:stretch>
            <a:fillRect/>
          </a:stretch>
        </p:blipFill>
        <p:spPr>
          <a:xfrm>
            <a:off x="10096501" y="5597863"/>
            <a:ext cx="2095500" cy="126013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D1E326-2C0E-17A8-D7A6-0F6555DA7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486" y="194207"/>
            <a:ext cx="10210800" cy="748688"/>
          </a:xfrm>
        </p:spPr>
        <p:txBody>
          <a:bodyPr/>
          <a:lstStyle/>
          <a:p>
            <a:pPr>
              <a:defRPr sz="3000" b="1">
                <a:solidFill>
                  <a:srgbClr val="B31B1B"/>
                </a:solidFill>
              </a:defRPr>
            </a:pPr>
            <a:r>
              <a:rPr lang="zh-CN" altLang="en-US"/>
              <a:t>问题与改进</a:t>
            </a:r>
            <a:endParaRPr/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892D3713-6BC2-7B9B-B531-B79D6DCDD9AC}"/>
              </a:ext>
            </a:extLst>
          </p:cNvPr>
          <p:cNvSpPr txBox="1"/>
          <p:nvPr/>
        </p:nvSpPr>
        <p:spPr>
          <a:xfrm>
            <a:off x="493485" y="610278"/>
            <a:ext cx="5033557" cy="5637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Bef>
                <a:spcPts val="1400"/>
              </a:spcBef>
              <a:spcAft>
                <a:spcPts val="600"/>
              </a:spcAft>
              <a:defRPr sz="1800" b="1">
                <a:solidFill>
                  <a:srgbClr val="B31B1B"/>
                </a:solidFill>
                <a:latin typeface="Microsoft YaHei"/>
              </a:defRPr>
            </a:pPr>
            <a:r>
              <a:t> </a:t>
            </a:r>
            <a:r>
              <a:rPr sz="2000"/>
              <a:t>现存问题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Microsoft YaHei"/>
              </a:defRPr>
            </a:pPr>
            <a:r>
              <a:rPr sz="1600"/>
              <a:t>  1. 数据收集困难</a:t>
            </a:r>
          </a:p>
          <a:p>
            <a:pPr>
              <a:spcBef>
                <a:spcPts val="200"/>
              </a:spcBef>
              <a:defRPr sz="1200">
                <a:solidFill>
                  <a:srgbClr val="666666"/>
                </a:solidFill>
                <a:latin typeface="Microsoft YaHei"/>
              </a:defRPr>
            </a:pPr>
            <a:r>
              <a:rPr sz="1400"/>
              <a:t>     社交媒体图文对的采集和标注成本极高。</a:t>
            </a:r>
          </a:p>
          <a:p>
            <a:pPr>
              <a:spcBef>
                <a:spcPts val="200"/>
              </a:spcBef>
              <a:defRPr sz="1200">
                <a:solidFill>
                  <a:srgbClr val="666666"/>
                </a:solidFill>
                <a:latin typeface="Microsoft YaHei"/>
              </a:defRPr>
            </a:pPr>
            <a:r>
              <a:rPr sz="1400"/>
              <a:t>     当前自建数据集仅400条，且需人工逐条标注5类情感——</a:t>
            </a:r>
          </a:p>
          <a:p>
            <a:pPr>
              <a:spcBef>
                <a:spcPts val="200"/>
              </a:spcBef>
              <a:defRPr sz="1200">
                <a:solidFill>
                  <a:srgbClr val="666666"/>
                </a:solidFill>
                <a:latin typeface="Microsoft YaHei"/>
              </a:defRPr>
            </a:pPr>
            <a:r>
              <a:rPr sz="1400"/>
              <a:t>     讽刺类尤其需要仔细甄别图文矛盾关系，标注效率低。</a:t>
            </a:r>
          </a:p>
          <a:p>
            <a:pPr>
              <a:spcBef>
                <a:spcPts val="200"/>
              </a:spcBef>
              <a:defRPr sz="1300">
                <a:solidFill>
                  <a:srgbClr val="333333"/>
                </a:solidFill>
                <a:latin typeface="Microsoft YaHei"/>
              </a:defRPr>
            </a:pPr>
            <a:r>
              <a:rPr sz="1400"/>
              <a:t>  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Microsoft YaHei"/>
              </a:defRPr>
            </a:pPr>
            <a:r>
              <a:rPr sz="1600"/>
              <a:t>  2. 标注质量不完美</a:t>
            </a:r>
          </a:p>
          <a:p>
            <a:pPr>
              <a:spcBef>
                <a:spcPts val="200"/>
              </a:spcBef>
              <a:defRPr sz="1200">
                <a:solidFill>
                  <a:srgbClr val="666666"/>
                </a:solidFill>
                <a:latin typeface="Microsoft YaHei"/>
              </a:defRPr>
            </a:pPr>
            <a:r>
              <a:rPr sz="1400"/>
              <a:t>     部分样本情感标签存在主观性——同一组图文对不同标注</a:t>
            </a:r>
          </a:p>
          <a:p>
            <a:pPr>
              <a:spcBef>
                <a:spcPts val="200"/>
              </a:spcBef>
              <a:defRPr sz="1200">
                <a:solidFill>
                  <a:srgbClr val="666666"/>
                </a:solidFill>
                <a:latin typeface="Microsoft YaHei"/>
              </a:defRPr>
            </a:pPr>
            <a:r>
              <a:rPr sz="1400"/>
              <a:t>     者可能得出不同判断(愤怒/讽刺边界模糊)。</a:t>
            </a:r>
          </a:p>
          <a:p>
            <a:pPr>
              <a:spcBef>
                <a:spcPts val="200"/>
              </a:spcBef>
              <a:defRPr sz="1200">
                <a:solidFill>
                  <a:srgbClr val="666666"/>
                </a:solidFill>
                <a:latin typeface="Microsoft YaHei"/>
              </a:defRPr>
            </a:pPr>
            <a:r>
              <a:rPr sz="1400"/>
              <a:t>     网络用语和新兴梗语的快速演变使固定标签体系难以</a:t>
            </a:r>
          </a:p>
          <a:p>
            <a:pPr>
              <a:spcBef>
                <a:spcPts val="200"/>
              </a:spcBef>
              <a:defRPr sz="1200">
                <a:solidFill>
                  <a:srgbClr val="666666"/>
                </a:solidFill>
                <a:latin typeface="Microsoft YaHei"/>
              </a:defRPr>
            </a:pPr>
            <a:r>
              <a:rPr sz="1400"/>
              <a:t>     完全覆盖真实社交场景。</a:t>
            </a:r>
          </a:p>
          <a:p>
            <a:pPr>
              <a:spcBef>
                <a:spcPts val="200"/>
              </a:spcBef>
              <a:defRPr sz="1300">
                <a:solidFill>
                  <a:srgbClr val="333333"/>
                </a:solidFill>
                <a:latin typeface="Microsoft YaHei"/>
              </a:defRPr>
            </a:pPr>
            <a:r>
              <a:rPr sz="1400"/>
              <a:t>  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Microsoft YaHei"/>
              </a:defRPr>
            </a:pPr>
            <a:r>
              <a:rPr sz="1600"/>
              <a:t>  3. 情感强度回归不够独立</a:t>
            </a:r>
          </a:p>
          <a:p>
            <a:pPr>
              <a:spcBef>
                <a:spcPts val="200"/>
              </a:spcBef>
              <a:defRPr sz="1200">
                <a:solidFill>
                  <a:srgbClr val="666666"/>
                </a:solidFill>
                <a:latin typeface="Microsoft YaHei"/>
              </a:defRPr>
            </a:pPr>
            <a:r>
              <a:rPr sz="1400"/>
              <a:t>     当前仅通过置信度映射(confidence*9+1)得到强度值，</a:t>
            </a:r>
          </a:p>
          <a:p>
            <a:pPr>
              <a:spcBef>
                <a:spcPts val="200"/>
              </a:spcBef>
              <a:defRPr sz="1200">
                <a:solidFill>
                  <a:srgbClr val="666666"/>
                </a:solidFill>
                <a:latin typeface="Microsoft YaHei"/>
              </a:defRPr>
            </a:pPr>
            <a:r>
              <a:rPr sz="1400"/>
              <a:t>     缺乏独立的回归模型预测1-10连续情感强度。</a:t>
            </a:r>
            <a:endParaRPr lang="en-US" sz="1400"/>
          </a:p>
          <a:p>
            <a:pPr>
              <a:spcBef>
                <a:spcPts val="200"/>
              </a:spcBef>
              <a:defRPr sz="1200">
                <a:solidFill>
                  <a:srgbClr val="666666"/>
                </a:solidFill>
                <a:latin typeface="Microsoft YaHei"/>
              </a:defRPr>
            </a:pPr>
            <a:endParaRPr lang="en-US" sz="1400"/>
          </a:p>
          <a:p>
            <a:pPr>
              <a:spcBef>
                <a:spcPts val="200"/>
              </a:spcBef>
              <a:defRPr sz="1200">
                <a:solidFill>
                  <a:srgbClr val="666666"/>
                </a:solidFill>
                <a:latin typeface="Microsoft YaHei"/>
              </a:defRPr>
            </a:pPr>
            <a:r>
              <a:rPr lang="en-US" sz="1400"/>
              <a:t>  </a:t>
            </a:r>
            <a:r>
              <a:rPr lang="en-US" sz="1600"/>
              <a:t>4.</a:t>
            </a:r>
            <a:r>
              <a:rPr lang="zh-CN" altLang="en-US" sz="1600"/>
              <a:t>部分表情类别本身难以区分</a:t>
            </a:r>
            <a:endParaRPr lang="en-US" altLang="zh-CN" sz="1600"/>
          </a:p>
          <a:p>
            <a:pPr>
              <a:spcBef>
                <a:spcPts val="200"/>
              </a:spcBef>
            </a:pPr>
            <a:r>
              <a:rPr lang="zh-CN" altLang="en-US" sz="1400">
                <a:solidFill>
                  <a:srgbClr val="666666"/>
                </a:solidFill>
                <a:latin typeface="Microsoft YaHei"/>
              </a:rPr>
              <a:t>     恐惧</a:t>
            </a:r>
            <a:r>
              <a:rPr lang="en-US" altLang="zh-CN" sz="1400">
                <a:solidFill>
                  <a:srgbClr val="666666"/>
                </a:solidFill>
                <a:latin typeface="Microsoft YaHei"/>
              </a:rPr>
              <a:t>(fear)</a:t>
            </a:r>
            <a:r>
              <a:rPr lang="zh-CN" altLang="en-US" sz="1400">
                <a:solidFill>
                  <a:srgbClr val="666666"/>
                </a:solidFill>
                <a:latin typeface="Microsoft YaHei"/>
              </a:rPr>
              <a:t>与惊讶</a:t>
            </a:r>
            <a:r>
              <a:rPr lang="en-US" altLang="zh-CN" sz="1400">
                <a:solidFill>
                  <a:srgbClr val="666666"/>
                </a:solidFill>
                <a:latin typeface="Microsoft YaHei"/>
              </a:rPr>
              <a:t>(surprise)</a:t>
            </a:r>
            <a:r>
              <a:rPr lang="zh-CN" altLang="en-US" sz="1400">
                <a:solidFill>
                  <a:srgbClr val="666666"/>
                </a:solidFill>
                <a:latin typeface="Microsoft YaHei"/>
              </a:rPr>
              <a:t>、愤怒</a:t>
            </a:r>
            <a:r>
              <a:rPr lang="en-US" altLang="zh-CN" sz="1400">
                <a:solidFill>
                  <a:srgbClr val="666666"/>
                </a:solidFill>
                <a:latin typeface="Microsoft YaHei"/>
              </a:rPr>
              <a:t>(angry)</a:t>
            </a:r>
            <a:r>
              <a:rPr lang="zh-CN" altLang="en-US" sz="1400">
                <a:solidFill>
                  <a:srgbClr val="666666"/>
                </a:solidFill>
                <a:latin typeface="Microsoft YaHei"/>
              </a:rPr>
              <a:t>与厌恶</a:t>
            </a:r>
            <a:r>
              <a:rPr lang="en-US" altLang="zh-CN" sz="1400">
                <a:solidFill>
                  <a:srgbClr val="666666"/>
                </a:solidFill>
                <a:latin typeface="Microsoft YaHei"/>
              </a:rPr>
              <a:t>(disgust)</a:t>
            </a:r>
          </a:p>
          <a:p>
            <a:pPr>
              <a:spcBef>
                <a:spcPts val="200"/>
              </a:spcBef>
            </a:pPr>
            <a:r>
              <a:rPr lang="en-US" altLang="zh-CN" sz="1400">
                <a:solidFill>
                  <a:srgbClr val="666666"/>
                </a:solidFill>
                <a:latin typeface="Microsoft YaHei"/>
              </a:rPr>
              <a:t>   </a:t>
            </a:r>
            <a:r>
              <a:rPr lang="zh-CN" altLang="en-US" sz="1400">
                <a:solidFill>
                  <a:srgbClr val="666666"/>
                </a:solidFill>
                <a:latin typeface="Microsoft YaHei"/>
              </a:rPr>
              <a:t>  在人脸图像中高度相似，即使人工标注也常出现混淆。</a:t>
            </a:r>
          </a:p>
          <a:p>
            <a:pPr>
              <a:spcBef>
                <a:spcPts val="200"/>
              </a:spcBef>
            </a:pPr>
            <a:r>
              <a:rPr lang="zh-CN" altLang="en-US" sz="1400">
                <a:solidFill>
                  <a:srgbClr val="666666"/>
                </a:solidFill>
                <a:latin typeface="Microsoft YaHei"/>
              </a:rPr>
              <a:t>     单靠视觉特征难以精确区分，制约了</a:t>
            </a:r>
            <a:r>
              <a:rPr lang="en-US" altLang="zh-CN" sz="1400">
                <a:solidFill>
                  <a:srgbClr val="666666"/>
                </a:solidFill>
                <a:latin typeface="Microsoft YaHei"/>
              </a:rPr>
              <a:t>CV</a:t>
            </a:r>
            <a:r>
              <a:rPr lang="zh-CN" altLang="en-US" sz="1400">
                <a:solidFill>
                  <a:srgbClr val="666666"/>
                </a:solidFill>
                <a:latin typeface="Microsoft YaHei"/>
              </a:rPr>
              <a:t>模块的性能上限</a:t>
            </a:r>
            <a:r>
              <a:rPr sz="1400" b="0">
                <a:solidFill>
                  <a:srgbClr val="666666"/>
                </a:solidFill>
                <a:latin typeface="Microsoft YaHei"/>
              </a:rPr>
              <a:t>。</a:t>
            </a:r>
            <a:endParaRPr sz="1200" b="0">
              <a:solidFill>
                <a:srgbClr val="666666"/>
              </a:solidFill>
              <a:latin typeface="Microsoft YaHei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C75CF9A6-E041-78DB-30CE-A14FFC644E80}"/>
              </a:ext>
            </a:extLst>
          </p:cNvPr>
          <p:cNvSpPr txBox="1"/>
          <p:nvPr/>
        </p:nvSpPr>
        <p:spPr>
          <a:xfrm>
            <a:off x="5527042" y="610278"/>
            <a:ext cx="5141792" cy="56938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2000"/>
          </a:p>
          <a:p>
            <a:pPr>
              <a:spcBef>
                <a:spcPts val="1400"/>
              </a:spcBef>
              <a:spcAft>
                <a:spcPts val="600"/>
              </a:spcAft>
              <a:defRPr sz="1800" b="1">
                <a:solidFill>
                  <a:srgbClr val="B31B1B"/>
                </a:solidFill>
                <a:latin typeface="Microsoft YaHei"/>
              </a:defRPr>
            </a:pPr>
            <a:r>
              <a:rPr sz="2000"/>
              <a:t> 改进方向</a:t>
            </a:r>
          </a:p>
          <a:p>
            <a:pPr>
              <a:spcBef>
                <a:spcPts val="200"/>
              </a:spcBef>
              <a:defRPr sz="1400">
                <a:solidFill>
                  <a:srgbClr val="1A56DB"/>
                </a:solidFill>
                <a:latin typeface="Microsoft YaHei"/>
              </a:defRPr>
            </a:pPr>
            <a:r>
              <a:rPr sz="1600"/>
              <a:t>  1. 数据层面</a:t>
            </a:r>
          </a:p>
          <a:p>
            <a:pPr>
              <a:spcBef>
                <a:spcPts val="200"/>
              </a:spcBef>
              <a:defRPr sz="1200">
                <a:solidFill>
                  <a:srgbClr val="666666"/>
                </a:solidFill>
                <a:latin typeface="Microsoft YaHei"/>
              </a:defRPr>
            </a:pPr>
            <a:r>
              <a:rPr sz="1400"/>
              <a:t>     引入半自动标注+主动学习策略降低人工成本</a:t>
            </a:r>
          </a:p>
          <a:p>
            <a:pPr>
              <a:spcBef>
                <a:spcPts val="200"/>
              </a:spcBef>
              <a:defRPr sz="1200">
                <a:solidFill>
                  <a:srgbClr val="666666"/>
                </a:solidFill>
                <a:latin typeface="Microsoft YaHei"/>
              </a:defRPr>
            </a:pPr>
            <a:r>
              <a:rPr sz="1400"/>
              <a:t>     建立多标注者交叉验证机制，减少主观偏差</a:t>
            </a:r>
          </a:p>
          <a:p>
            <a:pPr>
              <a:spcBef>
                <a:spcPts val="200"/>
              </a:spcBef>
              <a:defRPr sz="1200">
                <a:solidFill>
                  <a:srgbClr val="666666"/>
                </a:solidFill>
                <a:latin typeface="Microsoft YaHei"/>
              </a:defRPr>
            </a:pPr>
            <a:r>
              <a:rPr sz="1400"/>
              <a:t>     扩充数据集至数千条规模，提升泛化能力</a:t>
            </a:r>
          </a:p>
          <a:p>
            <a:pPr>
              <a:spcBef>
                <a:spcPts val="200"/>
              </a:spcBef>
              <a:defRPr sz="1300">
                <a:solidFill>
                  <a:srgbClr val="333333"/>
                </a:solidFill>
                <a:latin typeface="Microsoft YaHei"/>
              </a:defRPr>
            </a:pPr>
            <a:r>
              <a:rPr sz="1400"/>
              <a:t>  </a:t>
            </a:r>
          </a:p>
          <a:p>
            <a:pPr>
              <a:spcBef>
                <a:spcPts val="200"/>
              </a:spcBef>
              <a:defRPr sz="1400">
                <a:solidFill>
                  <a:srgbClr val="1A56DB"/>
                </a:solidFill>
                <a:latin typeface="Microsoft YaHei"/>
              </a:defRPr>
            </a:pPr>
            <a:r>
              <a:rPr sz="1600"/>
              <a:t>  2. 模型层面</a:t>
            </a:r>
          </a:p>
          <a:p>
            <a:pPr>
              <a:spcBef>
                <a:spcPts val="200"/>
              </a:spcBef>
              <a:defRPr sz="1200">
                <a:solidFill>
                  <a:srgbClr val="666666"/>
                </a:solidFill>
                <a:latin typeface="Microsoft YaHei"/>
              </a:defRPr>
            </a:pPr>
            <a:r>
              <a:rPr sz="1400"/>
              <a:t>     训练独立情感强度回归头，输出连续1-10分值</a:t>
            </a:r>
          </a:p>
          <a:p>
            <a:pPr>
              <a:spcBef>
                <a:spcPts val="200"/>
              </a:spcBef>
              <a:defRPr sz="1200">
                <a:solidFill>
                  <a:srgbClr val="666666"/>
                </a:solidFill>
                <a:latin typeface="Microsoft YaHei"/>
              </a:defRPr>
            </a:pPr>
            <a:r>
              <a:rPr sz="1400"/>
              <a:t>     增加音频模态(语音情感识别)使分析更全面</a:t>
            </a:r>
          </a:p>
          <a:p>
            <a:pPr>
              <a:spcBef>
                <a:spcPts val="200"/>
              </a:spcBef>
              <a:defRPr sz="1200">
                <a:solidFill>
                  <a:srgbClr val="666666"/>
                </a:solidFill>
                <a:latin typeface="Microsoft YaHei"/>
              </a:defRPr>
            </a:pPr>
            <a:r>
              <a:rPr sz="1400"/>
              <a:t>     探索ONNX导出+INT8量化，为移动端部署做准备</a:t>
            </a:r>
          </a:p>
          <a:p>
            <a:pPr>
              <a:spcBef>
                <a:spcPts val="200"/>
              </a:spcBef>
              <a:defRPr sz="1300">
                <a:solidFill>
                  <a:srgbClr val="333333"/>
                </a:solidFill>
                <a:latin typeface="Microsoft YaHei"/>
              </a:defRPr>
            </a:pPr>
            <a:r>
              <a:rPr sz="1400"/>
              <a:t>  </a:t>
            </a:r>
          </a:p>
          <a:p>
            <a:pPr>
              <a:spcBef>
                <a:spcPts val="200"/>
              </a:spcBef>
              <a:defRPr sz="1400">
                <a:solidFill>
                  <a:srgbClr val="1A56DB"/>
                </a:solidFill>
                <a:latin typeface="Microsoft YaHei"/>
              </a:defRPr>
            </a:pPr>
            <a:r>
              <a:rPr sz="1600"/>
              <a:t>  3. 应用层面</a:t>
            </a:r>
          </a:p>
          <a:p>
            <a:pPr>
              <a:spcBef>
                <a:spcPts val="200"/>
              </a:spcBef>
              <a:defRPr sz="1200">
                <a:solidFill>
                  <a:srgbClr val="666666"/>
                </a:solidFill>
                <a:latin typeface="Microsoft YaHei"/>
              </a:defRPr>
            </a:pPr>
            <a:r>
              <a:rPr sz="1400"/>
              <a:t>     对接大语言模型(LLM)生成自然语言分析报告</a:t>
            </a:r>
          </a:p>
          <a:p>
            <a:pPr>
              <a:spcBef>
                <a:spcPts val="200"/>
              </a:spcBef>
              <a:defRPr sz="1200">
                <a:solidFill>
                  <a:srgbClr val="666666"/>
                </a:solidFill>
                <a:latin typeface="Microsoft YaHei"/>
              </a:defRPr>
            </a:pPr>
            <a:r>
              <a:rPr sz="1400"/>
              <a:t>     支持视频时序分析，利用帧间关系提升准确率</a:t>
            </a:r>
          </a:p>
          <a:p>
            <a:pPr>
              <a:spcBef>
                <a:spcPts val="200"/>
              </a:spcBef>
              <a:defRPr sz="1200">
                <a:solidFill>
                  <a:srgbClr val="666666"/>
                </a:solidFill>
                <a:latin typeface="Microsoft YaHei"/>
              </a:defRPr>
            </a:pPr>
            <a:r>
              <a:rPr sz="1400"/>
              <a:t>     扩展多人物场景+多人对话情感分析能力</a:t>
            </a:r>
            <a:endParaRPr lang="en-US" sz="1400"/>
          </a:p>
          <a:p>
            <a:pPr>
              <a:spcBef>
                <a:spcPts val="200"/>
              </a:spcBef>
              <a:defRPr sz="1200">
                <a:solidFill>
                  <a:srgbClr val="666666"/>
                </a:solidFill>
                <a:latin typeface="Microsoft YaHei"/>
              </a:defRPr>
            </a:pPr>
            <a:endParaRPr lang="en-US" sz="1400"/>
          </a:p>
          <a:p>
            <a:pPr>
              <a:spcBef>
                <a:spcPts val="200"/>
              </a:spcBef>
              <a:defRPr sz="1200">
                <a:solidFill>
                  <a:srgbClr val="666666"/>
                </a:solidFill>
                <a:latin typeface="Microsoft YaHei"/>
              </a:defRPr>
            </a:pPr>
            <a:r>
              <a:rPr lang="zh-CN" altLang="en-US" sz="1600">
                <a:solidFill>
                  <a:srgbClr val="1A56DB"/>
                </a:solidFill>
                <a:latin typeface="Microsoft YaHei"/>
              </a:rPr>
              <a:t>   </a:t>
            </a:r>
            <a:r>
              <a:rPr lang="en-US" altLang="zh-CN" sz="1600">
                <a:solidFill>
                  <a:srgbClr val="1A56DB"/>
                </a:solidFill>
                <a:latin typeface="Microsoft YaHei"/>
              </a:rPr>
              <a:t>4. </a:t>
            </a:r>
            <a:r>
              <a:rPr lang="zh-CN" altLang="en-US" sz="1600">
                <a:solidFill>
                  <a:srgbClr val="1A56DB"/>
                </a:solidFill>
                <a:latin typeface="Microsoft YaHei"/>
              </a:rPr>
              <a:t>表情识别优化</a:t>
            </a:r>
            <a:endParaRPr sz="1600">
              <a:solidFill>
                <a:srgbClr val="1A56DB"/>
              </a:solidFill>
              <a:latin typeface="Microsoft YaHei"/>
            </a:endParaRP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666666"/>
                </a:solidFill>
                <a:latin typeface="Microsoft YaHei"/>
              </a:rPr>
              <a:t>   </a:t>
            </a:r>
            <a:r>
              <a:rPr lang="en-US" sz="1400" b="0">
                <a:solidFill>
                  <a:srgbClr val="666666"/>
                </a:solidFill>
                <a:latin typeface="Microsoft YaHei"/>
              </a:rPr>
              <a:t>   </a:t>
            </a:r>
            <a:r>
              <a:rPr lang="zh-CN" altLang="en-US" sz="1400" b="0">
                <a:solidFill>
                  <a:srgbClr val="666666"/>
                </a:solidFill>
                <a:latin typeface="Microsoft YaHei"/>
              </a:rPr>
              <a:t>引入细粒度表情特征学习或对比学习，</a:t>
            </a:r>
          </a:p>
          <a:p>
            <a:pPr>
              <a:spcBef>
                <a:spcPts val="200"/>
              </a:spcBef>
            </a:pPr>
            <a:r>
              <a:rPr lang="zh-CN" altLang="en-US" sz="1400" b="0">
                <a:solidFill>
                  <a:srgbClr val="666666"/>
                </a:solidFill>
                <a:latin typeface="Microsoft YaHei"/>
              </a:rPr>
              <a:t>      提升恐惧</a:t>
            </a:r>
            <a:r>
              <a:rPr lang="en-US" altLang="zh-CN" sz="1400" b="0">
                <a:solidFill>
                  <a:srgbClr val="666666"/>
                </a:solidFill>
                <a:latin typeface="Microsoft YaHei"/>
              </a:rPr>
              <a:t>/</a:t>
            </a:r>
            <a:r>
              <a:rPr lang="zh-CN" altLang="en-US" sz="1400" b="0">
                <a:solidFill>
                  <a:srgbClr val="666666"/>
                </a:solidFill>
                <a:latin typeface="Microsoft YaHei"/>
              </a:rPr>
              <a:t>惊讶、愤怒</a:t>
            </a:r>
            <a:r>
              <a:rPr lang="en-US" altLang="zh-CN" sz="1400" b="0">
                <a:solidFill>
                  <a:srgbClr val="666666"/>
                </a:solidFill>
                <a:latin typeface="Microsoft YaHei"/>
              </a:rPr>
              <a:t>/</a:t>
            </a:r>
            <a:r>
              <a:rPr lang="zh-CN" altLang="en-US" sz="1400" b="0">
                <a:solidFill>
                  <a:srgbClr val="666666"/>
                </a:solidFill>
                <a:latin typeface="Microsoft YaHei"/>
              </a:rPr>
              <a:t>厌恶等易混淆类别的区分能力。</a:t>
            </a:r>
          </a:p>
          <a:p>
            <a:pPr>
              <a:spcBef>
                <a:spcPts val="200"/>
              </a:spcBef>
            </a:pPr>
            <a:r>
              <a:rPr lang="zh-CN" altLang="en-US" sz="1400" b="0">
                <a:solidFill>
                  <a:srgbClr val="666666"/>
                </a:solidFill>
                <a:latin typeface="Microsoft YaHei"/>
              </a:rPr>
              <a:t>      考虑多任务学习：同时预测表情</a:t>
            </a:r>
            <a:r>
              <a:rPr lang="en-US" altLang="zh-CN" sz="1400" b="0">
                <a:solidFill>
                  <a:srgbClr val="666666"/>
                </a:solidFill>
                <a:latin typeface="Microsoft YaHei"/>
              </a:rPr>
              <a:t>+AU(</a:t>
            </a:r>
            <a:r>
              <a:rPr lang="zh-CN" altLang="en-US" sz="1400" b="0">
                <a:solidFill>
                  <a:srgbClr val="666666"/>
                </a:solidFill>
                <a:latin typeface="Microsoft YaHei"/>
              </a:rPr>
              <a:t>动作单元</a:t>
            </a:r>
            <a:r>
              <a:rPr lang="en-US" altLang="zh-CN" sz="1400" b="0">
                <a:solidFill>
                  <a:srgbClr val="666666"/>
                </a:solidFill>
                <a:latin typeface="Microsoft YaHei"/>
              </a:rPr>
              <a:t>)</a:t>
            </a:r>
            <a:r>
              <a:rPr lang="zh-CN" altLang="en-US" sz="1400" b="0">
                <a:solidFill>
                  <a:srgbClr val="666666"/>
                </a:solidFill>
                <a:latin typeface="Microsoft YaHei"/>
              </a:rPr>
              <a:t>辅助判别。</a:t>
            </a:r>
          </a:p>
        </p:txBody>
      </p:sp>
    </p:spTree>
    <p:extLst>
      <p:ext uri="{BB962C8B-B14F-4D97-AF65-F5344CB8AC3E}">
        <p14:creationId xmlns:p14="http://schemas.microsoft.com/office/powerpoint/2010/main" val="12670683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0FE9E-37E2-D3C1-7DE0-0D229CF31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33DDB-90FC-84CB-3B8A-A0C9BA332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276968"/>
            <a:ext cx="10210800" cy="748688"/>
          </a:xfrm>
        </p:spPr>
        <p:txBody>
          <a:bodyPr/>
          <a:lstStyle/>
          <a:p>
            <a:pPr>
              <a:defRPr sz="2400" b="1">
                <a:solidFill>
                  <a:srgbClr val="B31B1B"/>
                </a:solidFill>
                <a:latin typeface="Microsoft YaHei"/>
              </a:defRPr>
            </a:pPr>
            <a:r>
              <a:rPr sz="2400" b="1">
                <a:solidFill>
                  <a:srgbClr val="B31B1B"/>
                </a:solidFill>
                <a:latin typeface="Microsoft YaHei"/>
              </a:rPr>
              <a:t>总结与展望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8200" y="1500000"/>
            <a:ext cx="5053801" cy="3483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B31B1B"/>
                </a:solidFill>
                <a:latin typeface="Microsoft YaHei"/>
              </a:rPr>
              <a:t>项目总结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333333"/>
                </a:solidFill>
                <a:latin typeface="Microsoft YaHei"/>
              </a:rPr>
              <a:t>本项目从零开始构建了一个完整的多模态情感识别系统，目前已实现人脸表情7分类(准确率80.6%)、中文文本情感3分类(准确率84.0%)、四种多模态融合策略(最高准确率84.5%)以及冲突感知机制(讽刺类F1达0.55)，并完成了Gradio Web界面、摄像头实时分析和便携式打包部署。通过本项目的实践，我们深入理解了多模态学习的基本范式——从单模态特征提取到多模态融合的全链路设计，掌握了ResNet迁移学习、RoBERTa微调、门控注意力机制等关键技术，体验了从数据处理、模型训练到系统集成、前端交付的完整工程流程。五名成员各司其职又紧密协作，在模块接口对齐和联调中锻炼了团队协作与项目管理能力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0000" y="1500000"/>
            <a:ext cx="5053800" cy="373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56DB"/>
                </a:solidFill>
                <a:latin typeface="Microsoft YaHei"/>
              </a:rPr>
              <a:t>未来展望</a:t>
            </a:r>
          </a:p>
          <a:p>
            <a:pPr>
              <a:spcBef>
                <a:spcPts val="1200"/>
              </a:spcBef>
            </a:pPr>
            <a:r>
              <a:rPr sz="1600" b="1">
                <a:solidFill>
                  <a:srgbClr val="333333"/>
                </a:solidFill>
                <a:latin typeface="Microsoft YaHei"/>
              </a:rPr>
              <a:t>数据扩充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666666"/>
                </a:solidFill>
                <a:latin typeface="Microsoft YaHei"/>
              </a:rPr>
              <a:t>  从400条扩展到数千条，引入半自动标注降低人工成本，覆盖更多社交媒体场景</a:t>
            </a:r>
          </a:p>
          <a:p>
            <a:pPr>
              <a:spcBef>
                <a:spcPts val="1200"/>
              </a:spcBef>
            </a:pPr>
            <a:r>
              <a:rPr sz="1600" b="1">
                <a:solidFill>
                  <a:srgbClr val="333333"/>
                </a:solidFill>
                <a:latin typeface="Microsoft YaHei"/>
              </a:rPr>
              <a:t>多模态扩展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666666"/>
                </a:solidFill>
                <a:latin typeface="Microsoft YaHei"/>
              </a:rPr>
              <a:t>  增加音频模态(语音情感识别)和视频时序信息，探索LLM常识推理增强情感判断</a:t>
            </a:r>
          </a:p>
          <a:p>
            <a:pPr>
              <a:spcBef>
                <a:spcPts val="1200"/>
              </a:spcBef>
            </a:pPr>
            <a:r>
              <a:rPr sz="1600" b="1">
                <a:solidFill>
                  <a:srgbClr val="333333"/>
                </a:solidFill>
                <a:latin typeface="Microsoft YaHei"/>
              </a:rPr>
              <a:t>模型优化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666666"/>
                </a:solidFill>
                <a:latin typeface="Microsoft YaHei"/>
              </a:rPr>
              <a:t>  训练独立的1-10情感强度回归头，替代当前置信度映射方案</a:t>
            </a:r>
          </a:p>
          <a:p>
            <a:pPr>
              <a:spcBef>
                <a:spcPts val="1200"/>
              </a:spcBef>
            </a:pPr>
            <a:r>
              <a:rPr sz="1600" b="1">
                <a:solidFill>
                  <a:srgbClr val="333333"/>
                </a:solidFill>
                <a:latin typeface="Microsoft YaHei"/>
              </a:rPr>
              <a:t>部署推广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666666"/>
                </a:solidFill>
                <a:latin typeface="Microsoft YaHei"/>
              </a:rPr>
              <a:t>  ONNX导出+模型量化实现移动端部署，Web API化支持第三方集成调用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00000" y="6100000"/>
            <a:ext cx="5200000" cy="450000"/>
          </a:xfrm>
          <a:prstGeom prst="roundRect">
            <a:avLst/>
          </a:prstGeom>
          <a:solidFill>
            <a:srgbClr val="B3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感谢聆听  ·  欢迎提问</a:t>
            </a:r>
          </a:p>
        </p:txBody>
      </p:sp>
    </p:spTree>
    <p:extLst>
      <p:ext uri="{BB962C8B-B14F-4D97-AF65-F5344CB8AC3E}">
        <p14:creationId xmlns:p14="http://schemas.microsoft.com/office/powerpoint/2010/main" val="21616732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 55"/>
          <p:cNvSpPr/>
          <p:nvPr/>
        </p:nvSpPr>
        <p:spPr>
          <a:xfrm>
            <a:off x="0" y="4534296"/>
            <a:ext cx="12192000" cy="2323704"/>
          </a:xfrm>
          <a:prstGeom prst="rect">
            <a:avLst/>
          </a:prstGeom>
          <a:blipFill dpi="0" rotWithShape="1">
            <a:blip r:embed="rId3">
              <a:alphaModFix amt="17000"/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4" name="图片占位符 5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" r="44"/>
          <a:stretch>
            <a:fillRect/>
          </a:stretch>
        </p:blipFill>
        <p:spPr>
          <a:xfrm>
            <a:off x="0" y="-2"/>
            <a:ext cx="12192000" cy="3429000"/>
          </a:xfrm>
          <a:prstGeom prst="rect">
            <a:avLst/>
          </a:prstGeom>
        </p:spPr>
      </p:pic>
      <p:grpSp>
        <p:nvGrpSpPr>
          <p:cNvPr id="58" name="组合 57"/>
          <p:cNvGrpSpPr/>
          <p:nvPr/>
        </p:nvGrpSpPr>
        <p:grpSpPr>
          <a:xfrm>
            <a:off x="2156461" y="3810569"/>
            <a:ext cx="7879080" cy="1386126"/>
            <a:chOff x="2156462" y="3882585"/>
            <a:chExt cx="7879080" cy="1386126"/>
          </a:xfrm>
        </p:grpSpPr>
        <p:sp>
          <p:nvSpPr>
            <p:cNvPr id="51" name="矩形 50"/>
            <p:cNvSpPr/>
            <p:nvPr/>
          </p:nvSpPr>
          <p:spPr>
            <a:xfrm>
              <a:off x="2156462" y="3882585"/>
              <a:ext cx="7879080" cy="112383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6000" dirty="0">
                  <a:solidFill>
                    <a:srgbClr val="B92917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感谢老师</a:t>
              </a:r>
              <a:r>
                <a:rPr lang="zh-CN" altLang="en-US" sz="6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的指导与批评</a:t>
              </a:r>
            </a:p>
          </p:txBody>
        </p:sp>
        <p:sp>
          <p:nvSpPr>
            <p:cNvPr id="52" name="矩形 51"/>
            <p:cNvSpPr/>
            <p:nvPr/>
          </p:nvSpPr>
          <p:spPr>
            <a:xfrm>
              <a:off x="3169238" y="4866357"/>
              <a:ext cx="5853525" cy="4023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PPT TEMPLATE FOR SICHUAN UNIVERSITY GRADUATES</a:t>
              </a:r>
            </a:p>
          </p:txBody>
        </p:sp>
      </p:grpSp>
      <p:sp>
        <p:nvSpPr>
          <p:cNvPr id="57" name="矩形 56"/>
          <p:cNvSpPr/>
          <p:nvPr/>
        </p:nvSpPr>
        <p:spPr>
          <a:xfrm>
            <a:off x="0" y="-2"/>
            <a:ext cx="12192000" cy="3429000"/>
          </a:xfrm>
          <a:prstGeom prst="rect">
            <a:avLst/>
          </a:prstGeom>
          <a:solidFill>
            <a:srgbClr val="B92917">
              <a:alpha val="86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5" name="763a3f4e-9d53-4af4-bab9-7348766026be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4902958" y="1589289"/>
            <a:ext cx="1867069" cy="571814"/>
            <a:chOff x="2988659" y="2478922"/>
            <a:chExt cx="6214680" cy="1903326"/>
          </a:xfrm>
          <a:solidFill>
            <a:schemeClr val="bg1"/>
          </a:solidFill>
        </p:grpSpPr>
        <p:grpSp>
          <p:nvGrpSpPr>
            <p:cNvPr id="26" name="îṡlïḓe"/>
            <p:cNvGrpSpPr/>
            <p:nvPr/>
          </p:nvGrpSpPr>
          <p:grpSpPr>
            <a:xfrm>
              <a:off x="2988659" y="2478922"/>
              <a:ext cx="1901065" cy="1903326"/>
              <a:chOff x="1735138" y="2095500"/>
              <a:chExt cx="2667000" cy="2670175"/>
            </a:xfrm>
            <a:grpFill/>
          </p:grpSpPr>
          <p:sp>
            <p:nvSpPr>
              <p:cNvPr id="33" name="ïSľïdé"/>
              <p:cNvSpPr/>
              <p:nvPr/>
            </p:nvSpPr>
            <p:spPr bwMode="auto">
              <a:xfrm>
                <a:off x="2913063" y="3238500"/>
                <a:ext cx="319088" cy="762000"/>
              </a:xfrm>
              <a:custGeom>
                <a:avLst/>
                <a:gdLst>
                  <a:gd name="T0" fmla="*/ 56 w 97"/>
                  <a:gd name="T1" fmla="*/ 193 h 231"/>
                  <a:gd name="T2" fmla="*/ 41 w 97"/>
                  <a:gd name="T3" fmla="*/ 193 h 231"/>
                  <a:gd name="T4" fmla="*/ 41 w 97"/>
                  <a:gd name="T5" fmla="*/ 22 h 231"/>
                  <a:gd name="T6" fmla="*/ 23 w 97"/>
                  <a:gd name="T7" fmla="*/ 0 h 231"/>
                  <a:gd name="T8" fmla="*/ 4 w 97"/>
                  <a:gd name="T9" fmla="*/ 22 h 231"/>
                  <a:gd name="T10" fmla="*/ 1 w 97"/>
                  <a:gd name="T11" fmla="*/ 175 h 231"/>
                  <a:gd name="T12" fmla="*/ 48 w 97"/>
                  <a:gd name="T13" fmla="*/ 231 h 231"/>
                  <a:gd name="T14" fmla="*/ 96 w 97"/>
                  <a:gd name="T15" fmla="*/ 175 h 231"/>
                  <a:gd name="T16" fmla="*/ 92 w 97"/>
                  <a:gd name="T17" fmla="*/ 22 h 231"/>
                  <a:gd name="T18" fmla="*/ 73 w 97"/>
                  <a:gd name="T19" fmla="*/ 0 h 231"/>
                  <a:gd name="T20" fmla="*/ 56 w 97"/>
                  <a:gd name="T21" fmla="*/ 22 h 231"/>
                  <a:gd name="T22" fmla="*/ 56 w 97"/>
                  <a:gd name="T23" fmla="*/ 19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7" h="231">
                    <a:moveTo>
                      <a:pt x="56" y="193"/>
                    </a:moveTo>
                    <a:cubicBezTo>
                      <a:pt x="41" y="193"/>
                      <a:pt x="41" y="193"/>
                      <a:pt x="41" y="193"/>
                    </a:cubicBezTo>
                    <a:cubicBezTo>
                      <a:pt x="41" y="136"/>
                      <a:pt x="41" y="79"/>
                      <a:pt x="41" y="22"/>
                    </a:cubicBezTo>
                    <a:cubicBezTo>
                      <a:pt x="40" y="11"/>
                      <a:pt x="38" y="1"/>
                      <a:pt x="23" y="0"/>
                    </a:cubicBezTo>
                    <a:cubicBezTo>
                      <a:pt x="13" y="0"/>
                      <a:pt x="4" y="7"/>
                      <a:pt x="4" y="22"/>
                    </a:cubicBezTo>
                    <a:cubicBezTo>
                      <a:pt x="3" y="73"/>
                      <a:pt x="2" y="124"/>
                      <a:pt x="1" y="175"/>
                    </a:cubicBezTo>
                    <a:cubicBezTo>
                      <a:pt x="0" y="206"/>
                      <a:pt x="15" y="231"/>
                      <a:pt x="48" y="231"/>
                    </a:cubicBezTo>
                    <a:cubicBezTo>
                      <a:pt x="82" y="231"/>
                      <a:pt x="97" y="206"/>
                      <a:pt x="96" y="175"/>
                    </a:cubicBezTo>
                    <a:cubicBezTo>
                      <a:pt x="95" y="124"/>
                      <a:pt x="94" y="73"/>
                      <a:pt x="92" y="22"/>
                    </a:cubicBezTo>
                    <a:cubicBezTo>
                      <a:pt x="92" y="7"/>
                      <a:pt x="84" y="0"/>
                      <a:pt x="73" y="0"/>
                    </a:cubicBezTo>
                    <a:cubicBezTo>
                      <a:pt x="58" y="1"/>
                      <a:pt x="56" y="11"/>
                      <a:pt x="56" y="22"/>
                    </a:cubicBezTo>
                    <a:cubicBezTo>
                      <a:pt x="56" y="79"/>
                      <a:pt x="56" y="136"/>
                      <a:pt x="56" y="1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" name="îs1iḋe"/>
              <p:cNvSpPr/>
              <p:nvPr/>
            </p:nvSpPr>
            <p:spPr bwMode="auto">
              <a:xfrm>
                <a:off x="2008188" y="2713038"/>
                <a:ext cx="257175" cy="342900"/>
              </a:xfrm>
              <a:custGeom>
                <a:avLst/>
                <a:gdLst>
                  <a:gd name="T0" fmla="*/ 13 w 78"/>
                  <a:gd name="T1" fmla="*/ 80 h 104"/>
                  <a:gd name="T2" fmla="*/ 6 w 78"/>
                  <a:gd name="T3" fmla="*/ 80 h 104"/>
                  <a:gd name="T4" fmla="*/ 1 w 78"/>
                  <a:gd name="T5" fmla="*/ 85 h 104"/>
                  <a:gd name="T6" fmla="*/ 7 w 78"/>
                  <a:gd name="T7" fmla="*/ 96 h 104"/>
                  <a:gd name="T8" fmla="*/ 36 w 78"/>
                  <a:gd name="T9" fmla="*/ 103 h 104"/>
                  <a:gd name="T10" fmla="*/ 40 w 78"/>
                  <a:gd name="T11" fmla="*/ 94 h 104"/>
                  <a:gd name="T12" fmla="*/ 26 w 78"/>
                  <a:gd name="T13" fmla="*/ 87 h 104"/>
                  <a:gd name="T14" fmla="*/ 20 w 78"/>
                  <a:gd name="T15" fmla="*/ 62 h 104"/>
                  <a:gd name="T16" fmla="*/ 27 w 78"/>
                  <a:gd name="T17" fmla="*/ 38 h 104"/>
                  <a:gd name="T18" fmla="*/ 32 w 78"/>
                  <a:gd name="T19" fmla="*/ 40 h 104"/>
                  <a:gd name="T20" fmla="*/ 38 w 78"/>
                  <a:gd name="T21" fmla="*/ 54 h 104"/>
                  <a:gd name="T22" fmla="*/ 35 w 78"/>
                  <a:gd name="T23" fmla="*/ 56 h 104"/>
                  <a:gd name="T24" fmla="*/ 28 w 78"/>
                  <a:gd name="T25" fmla="*/ 56 h 104"/>
                  <a:gd name="T26" fmla="*/ 26 w 78"/>
                  <a:gd name="T27" fmla="*/ 63 h 104"/>
                  <a:gd name="T28" fmla="*/ 34 w 78"/>
                  <a:gd name="T29" fmla="*/ 65 h 104"/>
                  <a:gd name="T30" fmla="*/ 38 w 78"/>
                  <a:gd name="T31" fmla="*/ 65 h 104"/>
                  <a:gd name="T32" fmla="*/ 37 w 78"/>
                  <a:gd name="T33" fmla="*/ 74 h 104"/>
                  <a:gd name="T34" fmla="*/ 37 w 78"/>
                  <a:gd name="T35" fmla="*/ 80 h 104"/>
                  <a:gd name="T36" fmla="*/ 45 w 78"/>
                  <a:gd name="T37" fmla="*/ 80 h 104"/>
                  <a:gd name="T38" fmla="*/ 45 w 78"/>
                  <a:gd name="T39" fmla="*/ 68 h 104"/>
                  <a:gd name="T40" fmla="*/ 49 w 78"/>
                  <a:gd name="T41" fmla="*/ 57 h 104"/>
                  <a:gd name="T42" fmla="*/ 58 w 78"/>
                  <a:gd name="T43" fmla="*/ 55 h 104"/>
                  <a:gd name="T44" fmla="*/ 66 w 78"/>
                  <a:gd name="T45" fmla="*/ 42 h 104"/>
                  <a:gd name="T46" fmla="*/ 71 w 78"/>
                  <a:gd name="T47" fmla="*/ 17 h 104"/>
                  <a:gd name="T48" fmla="*/ 73 w 78"/>
                  <a:gd name="T49" fmla="*/ 7 h 104"/>
                  <a:gd name="T50" fmla="*/ 38 w 78"/>
                  <a:gd name="T51" fmla="*/ 8 h 104"/>
                  <a:gd name="T52" fmla="*/ 16 w 78"/>
                  <a:gd name="T53" fmla="*/ 40 h 104"/>
                  <a:gd name="T54" fmla="*/ 12 w 78"/>
                  <a:gd name="T55" fmla="*/ 69 h 104"/>
                  <a:gd name="T56" fmla="*/ 13 w 78"/>
                  <a:gd name="T57" fmla="*/ 80 h 104"/>
                  <a:gd name="T58" fmla="*/ 13 w 78"/>
                  <a:gd name="T59" fmla="*/ 80 h 104"/>
                  <a:gd name="T60" fmla="*/ 44 w 78"/>
                  <a:gd name="T61" fmla="*/ 54 h 104"/>
                  <a:gd name="T62" fmla="*/ 42 w 78"/>
                  <a:gd name="T63" fmla="*/ 56 h 104"/>
                  <a:gd name="T64" fmla="*/ 42 w 78"/>
                  <a:gd name="T65" fmla="*/ 39 h 104"/>
                  <a:gd name="T66" fmla="*/ 35 w 78"/>
                  <a:gd name="T67" fmla="*/ 35 h 104"/>
                  <a:gd name="T68" fmla="*/ 29 w 78"/>
                  <a:gd name="T69" fmla="*/ 35 h 104"/>
                  <a:gd name="T70" fmla="*/ 36 w 78"/>
                  <a:gd name="T71" fmla="*/ 23 h 104"/>
                  <a:gd name="T72" fmla="*/ 54 w 78"/>
                  <a:gd name="T73" fmla="*/ 11 h 104"/>
                  <a:gd name="T74" fmla="*/ 55 w 78"/>
                  <a:gd name="T75" fmla="*/ 28 h 104"/>
                  <a:gd name="T76" fmla="*/ 54 w 78"/>
                  <a:gd name="T77" fmla="*/ 45 h 104"/>
                  <a:gd name="T78" fmla="*/ 48 w 78"/>
                  <a:gd name="T79" fmla="*/ 48 h 104"/>
                  <a:gd name="T80" fmla="*/ 44 w 78"/>
                  <a:gd name="T81" fmla="*/ 54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8" h="104">
                    <a:moveTo>
                      <a:pt x="13" y="80"/>
                    </a:moveTo>
                    <a:cubicBezTo>
                      <a:pt x="12" y="81"/>
                      <a:pt x="9" y="79"/>
                      <a:pt x="6" y="80"/>
                    </a:cubicBezTo>
                    <a:cubicBezTo>
                      <a:pt x="3" y="82"/>
                      <a:pt x="2" y="84"/>
                      <a:pt x="1" y="85"/>
                    </a:cubicBezTo>
                    <a:cubicBezTo>
                      <a:pt x="0" y="87"/>
                      <a:pt x="1" y="92"/>
                      <a:pt x="7" y="96"/>
                    </a:cubicBezTo>
                    <a:cubicBezTo>
                      <a:pt x="12" y="100"/>
                      <a:pt x="32" y="104"/>
                      <a:pt x="36" y="103"/>
                    </a:cubicBezTo>
                    <a:cubicBezTo>
                      <a:pt x="40" y="102"/>
                      <a:pt x="43" y="94"/>
                      <a:pt x="40" y="94"/>
                    </a:cubicBezTo>
                    <a:cubicBezTo>
                      <a:pt x="36" y="93"/>
                      <a:pt x="28" y="91"/>
                      <a:pt x="26" y="87"/>
                    </a:cubicBezTo>
                    <a:cubicBezTo>
                      <a:pt x="23" y="83"/>
                      <a:pt x="19" y="76"/>
                      <a:pt x="20" y="62"/>
                    </a:cubicBezTo>
                    <a:cubicBezTo>
                      <a:pt x="20" y="48"/>
                      <a:pt x="25" y="40"/>
                      <a:pt x="27" y="38"/>
                    </a:cubicBezTo>
                    <a:cubicBezTo>
                      <a:pt x="29" y="37"/>
                      <a:pt x="32" y="39"/>
                      <a:pt x="32" y="40"/>
                    </a:cubicBezTo>
                    <a:cubicBezTo>
                      <a:pt x="33" y="41"/>
                      <a:pt x="37" y="53"/>
                      <a:pt x="38" y="54"/>
                    </a:cubicBezTo>
                    <a:cubicBezTo>
                      <a:pt x="38" y="54"/>
                      <a:pt x="38" y="58"/>
                      <a:pt x="35" y="56"/>
                    </a:cubicBezTo>
                    <a:cubicBezTo>
                      <a:pt x="33" y="55"/>
                      <a:pt x="30" y="54"/>
                      <a:pt x="28" y="56"/>
                    </a:cubicBezTo>
                    <a:cubicBezTo>
                      <a:pt x="25" y="57"/>
                      <a:pt x="23" y="60"/>
                      <a:pt x="26" y="63"/>
                    </a:cubicBezTo>
                    <a:cubicBezTo>
                      <a:pt x="29" y="66"/>
                      <a:pt x="32" y="65"/>
                      <a:pt x="34" y="65"/>
                    </a:cubicBezTo>
                    <a:cubicBezTo>
                      <a:pt x="35" y="64"/>
                      <a:pt x="39" y="63"/>
                      <a:pt x="38" y="65"/>
                    </a:cubicBezTo>
                    <a:cubicBezTo>
                      <a:pt x="37" y="67"/>
                      <a:pt x="37" y="74"/>
                      <a:pt x="37" y="74"/>
                    </a:cubicBezTo>
                    <a:cubicBezTo>
                      <a:pt x="37" y="74"/>
                      <a:pt x="34" y="78"/>
                      <a:pt x="37" y="80"/>
                    </a:cubicBezTo>
                    <a:cubicBezTo>
                      <a:pt x="40" y="82"/>
                      <a:pt x="45" y="82"/>
                      <a:pt x="45" y="80"/>
                    </a:cubicBezTo>
                    <a:cubicBezTo>
                      <a:pt x="45" y="78"/>
                      <a:pt x="45" y="72"/>
                      <a:pt x="45" y="68"/>
                    </a:cubicBezTo>
                    <a:cubicBezTo>
                      <a:pt x="46" y="65"/>
                      <a:pt x="47" y="59"/>
                      <a:pt x="49" y="57"/>
                    </a:cubicBezTo>
                    <a:cubicBezTo>
                      <a:pt x="52" y="56"/>
                      <a:pt x="54" y="57"/>
                      <a:pt x="58" y="55"/>
                    </a:cubicBezTo>
                    <a:cubicBezTo>
                      <a:pt x="61" y="52"/>
                      <a:pt x="66" y="46"/>
                      <a:pt x="66" y="42"/>
                    </a:cubicBezTo>
                    <a:cubicBezTo>
                      <a:pt x="66" y="39"/>
                      <a:pt x="69" y="20"/>
                      <a:pt x="71" y="17"/>
                    </a:cubicBezTo>
                    <a:cubicBezTo>
                      <a:pt x="73" y="14"/>
                      <a:pt x="78" y="12"/>
                      <a:pt x="73" y="7"/>
                    </a:cubicBezTo>
                    <a:cubicBezTo>
                      <a:pt x="68" y="2"/>
                      <a:pt x="48" y="0"/>
                      <a:pt x="38" y="8"/>
                    </a:cubicBezTo>
                    <a:cubicBezTo>
                      <a:pt x="29" y="15"/>
                      <a:pt x="21" y="26"/>
                      <a:pt x="16" y="40"/>
                    </a:cubicBezTo>
                    <a:cubicBezTo>
                      <a:pt x="11" y="54"/>
                      <a:pt x="10" y="62"/>
                      <a:pt x="12" y="69"/>
                    </a:cubicBezTo>
                    <a:cubicBezTo>
                      <a:pt x="14" y="77"/>
                      <a:pt x="15" y="79"/>
                      <a:pt x="13" y="80"/>
                    </a:cubicBezTo>
                    <a:cubicBezTo>
                      <a:pt x="13" y="80"/>
                      <a:pt x="13" y="80"/>
                      <a:pt x="13" y="80"/>
                    </a:cubicBezTo>
                    <a:close/>
                    <a:moveTo>
                      <a:pt x="44" y="54"/>
                    </a:moveTo>
                    <a:cubicBezTo>
                      <a:pt x="44" y="54"/>
                      <a:pt x="43" y="54"/>
                      <a:pt x="42" y="56"/>
                    </a:cubicBezTo>
                    <a:cubicBezTo>
                      <a:pt x="42" y="57"/>
                      <a:pt x="42" y="44"/>
                      <a:pt x="42" y="39"/>
                    </a:cubicBezTo>
                    <a:cubicBezTo>
                      <a:pt x="42" y="34"/>
                      <a:pt x="38" y="34"/>
                      <a:pt x="35" y="35"/>
                    </a:cubicBezTo>
                    <a:cubicBezTo>
                      <a:pt x="31" y="35"/>
                      <a:pt x="31" y="35"/>
                      <a:pt x="29" y="35"/>
                    </a:cubicBezTo>
                    <a:cubicBezTo>
                      <a:pt x="31" y="31"/>
                      <a:pt x="33" y="28"/>
                      <a:pt x="36" y="23"/>
                    </a:cubicBezTo>
                    <a:cubicBezTo>
                      <a:pt x="40" y="17"/>
                      <a:pt x="46" y="11"/>
                      <a:pt x="54" y="11"/>
                    </a:cubicBezTo>
                    <a:cubicBezTo>
                      <a:pt x="58" y="10"/>
                      <a:pt x="56" y="24"/>
                      <a:pt x="55" y="28"/>
                    </a:cubicBezTo>
                    <a:cubicBezTo>
                      <a:pt x="55" y="31"/>
                      <a:pt x="55" y="43"/>
                      <a:pt x="54" y="45"/>
                    </a:cubicBezTo>
                    <a:cubicBezTo>
                      <a:pt x="54" y="48"/>
                      <a:pt x="52" y="47"/>
                      <a:pt x="48" y="48"/>
                    </a:cubicBezTo>
                    <a:cubicBezTo>
                      <a:pt x="45" y="49"/>
                      <a:pt x="44" y="54"/>
                      <a:pt x="44" y="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5" name="ïṣḻïḋé"/>
              <p:cNvSpPr/>
              <p:nvPr/>
            </p:nvSpPr>
            <p:spPr bwMode="auto">
              <a:xfrm>
                <a:off x="2540001" y="2389188"/>
                <a:ext cx="98425" cy="225425"/>
              </a:xfrm>
              <a:custGeom>
                <a:avLst/>
                <a:gdLst>
                  <a:gd name="T0" fmla="*/ 4 w 30"/>
                  <a:gd name="T1" fmla="*/ 2 h 68"/>
                  <a:gd name="T2" fmla="*/ 2 w 30"/>
                  <a:gd name="T3" fmla="*/ 10 h 68"/>
                  <a:gd name="T4" fmla="*/ 10 w 30"/>
                  <a:gd name="T5" fmla="*/ 22 h 68"/>
                  <a:gd name="T6" fmla="*/ 19 w 30"/>
                  <a:gd name="T7" fmla="*/ 50 h 68"/>
                  <a:gd name="T8" fmla="*/ 20 w 30"/>
                  <a:gd name="T9" fmla="*/ 60 h 68"/>
                  <a:gd name="T10" fmla="*/ 25 w 30"/>
                  <a:gd name="T11" fmla="*/ 67 h 68"/>
                  <a:gd name="T12" fmla="*/ 27 w 30"/>
                  <a:gd name="T13" fmla="*/ 58 h 68"/>
                  <a:gd name="T14" fmla="*/ 19 w 30"/>
                  <a:gd name="T15" fmla="*/ 30 h 68"/>
                  <a:gd name="T16" fmla="*/ 14 w 30"/>
                  <a:gd name="T17" fmla="*/ 15 h 68"/>
                  <a:gd name="T18" fmla="*/ 11 w 30"/>
                  <a:gd name="T19" fmla="*/ 6 h 68"/>
                  <a:gd name="T20" fmla="*/ 4 w 30"/>
                  <a:gd name="T21" fmla="*/ 2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0" h="68">
                    <a:moveTo>
                      <a:pt x="4" y="2"/>
                    </a:moveTo>
                    <a:cubicBezTo>
                      <a:pt x="1" y="3"/>
                      <a:pt x="0" y="5"/>
                      <a:pt x="2" y="10"/>
                    </a:cubicBezTo>
                    <a:cubicBezTo>
                      <a:pt x="5" y="14"/>
                      <a:pt x="8" y="13"/>
                      <a:pt x="10" y="22"/>
                    </a:cubicBezTo>
                    <a:cubicBezTo>
                      <a:pt x="13" y="30"/>
                      <a:pt x="18" y="47"/>
                      <a:pt x="19" y="50"/>
                    </a:cubicBezTo>
                    <a:cubicBezTo>
                      <a:pt x="20" y="53"/>
                      <a:pt x="20" y="58"/>
                      <a:pt x="20" y="60"/>
                    </a:cubicBezTo>
                    <a:cubicBezTo>
                      <a:pt x="20" y="62"/>
                      <a:pt x="21" y="68"/>
                      <a:pt x="25" y="67"/>
                    </a:cubicBezTo>
                    <a:cubicBezTo>
                      <a:pt x="30" y="66"/>
                      <a:pt x="28" y="61"/>
                      <a:pt x="27" y="58"/>
                    </a:cubicBezTo>
                    <a:cubicBezTo>
                      <a:pt x="27" y="55"/>
                      <a:pt x="21" y="33"/>
                      <a:pt x="19" y="30"/>
                    </a:cubicBezTo>
                    <a:cubicBezTo>
                      <a:pt x="18" y="27"/>
                      <a:pt x="15" y="18"/>
                      <a:pt x="14" y="15"/>
                    </a:cubicBezTo>
                    <a:cubicBezTo>
                      <a:pt x="14" y="12"/>
                      <a:pt x="14" y="9"/>
                      <a:pt x="11" y="6"/>
                    </a:cubicBezTo>
                    <a:cubicBezTo>
                      <a:pt x="9" y="4"/>
                      <a:pt x="7" y="0"/>
                      <a:pt x="4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6" name="îśļîdè"/>
              <p:cNvSpPr/>
              <p:nvPr/>
            </p:nvSpPr>
            <p:spPr bwMode="auto">
              <a:xfrm>
                <a:off x="2608263" y="2376488"/>
                <a:ext cx="69850" cy="128588"/>
              </a:xfrm>
              <a:custGeom>
                <a:avLst/>
                <a:gdLst>
                  <a:gd name="T0" fmla="*/ 4 w 21"/>
                  <a:gd name="T1" fmla="*/ 1 h 39"/>
                  <a:gd name="T2" fmla="*/ 0 w 21"/>
                  <a:gd name="T3" fmla="*/ 5 h 39"/>
                  <a:gd name="T4" fmla="*/ 4 w 21"/>
                  <a:gd name="T5" fmla="*/ 13 h 39"/>
                  <a:gd name="T6" fmla="*/ 9 w 21"/>
                  <a:gd name="T7" fmla="*/ 19 h 39"/>
                  <a:gd name="T8" fmla="*/ 17 w 21"/>
                  <a:gd name="T9" fmla="*/ 38 h 39"/>
                  <a:gd name="T10" fmla="*/ 21 w 21"/>
                  <a:gd name="T11" fmla="*/ 32 h 39"/>
                  <a:gd name="T12" fmla="*/ 19 w 21"/>
                  <a:gd name="T13" fmla="*/ 21 h 39"/>
                  <a:gd name="T14" fmla="*/ 16 w 21"/>
                  <a:gd name="T15" fmla="*/ 14 h 39"/>
                  <a:gd name="T16" fmla="*/ 11 w 21"/>
                  <a:gd name="T17" fmla="*/ 3 h 39"/>
                  <a:gd name="T18" fmla="*/ 4 w 21"/>
                  <a:gd name="T19" fmla="*/ 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" h="39">
                    <a:moveTo>
                      <a:pt x="4" y="1"/>
                    </a:moveTo>
                    <a:cubicBezTo>
                      <a:pt x="2" y="2"/>
                      <a:pt x="0" y="2"/>
                      <a:pt x="0" y="5"/>
                    </a:cubicBezTo>
                    <a:cubicBezTo>
                      <a:pt x="0" y="8"/>
                      <a:pt x="3" y="11"/>
                      <a:pt x="4" y="13"/>
                    </a:cubicBezTo>
                    <a:cubicBezTo>
                      <a:pt x="6" y="15"/>
                      <a:pt x="8" y="17"/>
                      <a:pt x="9" y="19"/>
                    </a:cubicBezTo>
                    <a:cubicBezTo>
                      <a:pt x="9" y="22"/>
                      <a:pt x="15" y="37"/>
                      <a:pt x="17" y="38"/>
                    </a:cubicBezTo>
                    <a:cubicBezTo>
                      <a:pt x="19" y="39"/>
                      <a:pt x="21" y="36"/>
                      <a:pt x="21" y="32"/>
                    </a:cubicBezTo>
                    <a:cubicBezTo>
                      <a:pt x="21" y="28"/>
                      <a:pt x="20" y="23"/>
                      <a:pt x="19" y="21"/>
                    </a:cubicBezTo>
                    <a:cubicBezTo>
                      <a:pt x="17" y="20"/>
                      <a:pt x="16" y="17"/>
                      <a:pt x="16" y="14"/>
                    </a:cubicBezTo>
                    <a:cubicBezTo>
                      <a:pt x="16" y="10"/>
                      <a:pt x="13" y="6"/>
                      <a:pt x="11" y="3"/>
                    </a:cubicBezTo>
                    <a:cubicBezTo>
                      <a:pt x="8" y="0"/>
                      <a:pt x="5" y="1"/>
                      <a:pt x="4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7" name="iŝľîḍé"/>
              <p:cNvSpPr/>
              <p:nvPr/>
            </p:nvSpPr>
            <p:spPr bwMode="auto">
              <a:xfrm>
                <a:off x="2644776" y="2263775"/>
                <a:ext cx="155575" cy="300038"/>
              </a:xfrm>
              <a:custGeom>
                <a:avLst/>
                <a:gdLst>
                  <a:gd name="T0" fmla="*/ 7 w 47"/>
                  <a:gd name="T1" fmla="*/ 0 h 91"/>
                  <a:gd name="T2" fmla="*/ 1 w 47"/>
                  <a:gd name="T3" fmla="*/ 3 h 91"/>
                  <a:gd name="T4" fmla="*/ 4 w 47"/>
                  <a:gd name="T5" fmla="*/ 10 h 91"/>
                  <a:gd name="T6" fmla="*/ 8 w 47"/>
                  <a:gd name="T7" fmla="*/ 18 h 91"/>
                  <a:gd name="T8" fmla="*/ 20 w 47"/>
                  <a:gd name="T9" fmla="*/ 45 h 91"/>
                  <a:gd name="T10" fmla="*/ 29 w 47"/>
                  <a:gd name="T11" fmla="*/ 67 h 91"/>
                  <a:gd name="T12" fmla="*/ 41 w 47"/>
                  <a:gd name="T13" fmla="*/ 89 h 91"/>
                  <a:gd name="T14" fmla="*/ 44 w 47"/>
                  <a:gd name="T15" fmla="*/ 81 h 91"/>
                  <a:gd name="T16" fmla="*/ 38 w 47"/>
                  <a:gd name="T17" fmla="*/ 73 h 91"/>
                  <a:gd name="T18" fmla="*/ 20 w 47"/>
                  <a:gd name="T19" fmla="*/ 32 h 91"/>
                  <a:gd name="T20" fmla="*/ 16 w 47"/>
                  <a:gd name="T21" fmla="*/ 16 h 91"/>
                  <a:gd name="T22" fmla="*/ 16 w 47"/>
                  <a:gd name="T23" fmla="*/ 5 h 91"/>
                  <a:gd name="T24" fmla="*/ 7 w 47"/>
                  <a:gd name="T25" fmla="*/ 0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7" h="91">
                    <a:moveTo>
                      <a:pt x="7" y="0"/>
                    </a:moveTo>
                    <a:cubicBezTo>
                      <a:pt x="5" y="0"/>
                      <a:pt x="2" y="1"/>
                      <a:pt x="1" y="3"/>
                    </a:cubicBezTo>
                    <a:cubicBezTo>
                      <a:pt x="0" y="5"/>
                      <a:pt x="1" y="8"/>
                      <a:pt x="4" y="10"/>
                    </a:cubicBezTo>
                    <a:cubicBezTo>
                      <a:pt x="6" y="13"/>
                      <a:pt x="8" y="16"/>
                      <a:pt x="8" y="18"/>
                    </a:cubicBezTo>
                    <a:cubicBezTo>
                      <a:pt x="9" y="20"/>
                      <a:pt x="18" y="40"/>
                      <a:pt x="20" y="45"/>
                    </a:cubicBezTo>
                    <a:cubicBezTo>
                      <a:pt x="22" y="50"/>
                      <a:pt x="26" y="61"/>
                      <a:pt x="29" y="67"/>
                    </a:cubicBezTo>
                    <a:cubicBezTo>
                      <a:pt x="32" y="74"/>
                      <a:pt x="37" y="86"/>
                      <a:pt x="41" y="89"/>
                    </a:cubicBezTo>
                    <a:cubicBezTo>
                      <a:pt x="45" y="91"/>
                      <a:pt x="47" y="84"/>
                      <a:pt x="44" y="81"/>
                    </a:cubicBezTo>
                    <a:cubicBezTo>
                      <a:pt x="42" y="78"/>
                      <a:pt x="42" y="79"/>
                      <a:pt x="38" y="73"/>
                    </a:cubicBezTo>
                    <a:cubicBezTo>
                      <a:pt x="35" y="67"/>
                      <a:pt x="21" y="34"/>
                      <a:pt x="20" y="32"/>
                    </a:cubicBezTo>
                    <a:cubicBezTo>
                      <a:pt x="19" y="29"/>
                      <a:pt x="16" y="19"/>
                      <a:pt x="16" y="16"/>
                    </a:cubicBezTo>
                    <a:cubicBezTo>
                      <a:pt x="16" y="12"/>
                      <a:pt x="18" y="8"/>
                      <a:pt x="16" y="5"/>
                    </a:cubicBezTo>
                    <a:cubicBezTo>
                      <a:pt x="15" y="2"/>
                      <a:pt x="8" y="0"/>
                      <a:pt x="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8" name="îṣľiḑe"/>
              <p:cNvSpPr/>
              <p:nvPr/>
            </p:nvSpPr>
            <p:spPr bwMode="auto">
              <a:xfrm>
                <a:off x="3508376" y="2495550"/>
                <a:ext cx="69850" cy="111125"/>
              </a:xfrm>
              <a:custGeom>
                <a:avLst/>
                <a:gdLst>
                  <a:gd name="T0" fmla="*/ 0 w 21"/>
                  <a:gd name="T1" fmla="*/ 11 h 34"/>
                  <a:gd name="T2" fmla="*/ 12 w 21"/>
                  <a:gd name="T3" fmla="*/ 33 h 34"/>
                  <a:gd name="T4" fmla="*/ 19 w 21"/>
                  <a:gd name="T5" fmla="*/ 21 h 34"/>
                  <a:gd name="T6" fmla="*/ 6 w 21"/>
                  <a:gd name="T7" fmla="*/ 5 h 34"/>
                  <a:gd name="T8" fmla="*/ 0 w 21"/>
                  <a:gd name="T9" fmla="*/ 1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34">
                    <a:moveTo>
                      <a:pt x="0" y="11"/>
                    </a:moveTo>
                    <a:cubicBezTo>
                      <a:pt x="1" y="16"/>
                      <a:pt x="3" y="32"/>
                      <a:pt x="12" y="33"/>
                    </a:cubicBezTo>
                    <a:cubicBezTo>
                      <a:pt x="20" y="34"/>
                      <a:pt x="21" y="24"/>
                      <a:pt x="19" y="21"/>
                    </a:cubicBezTo>
                    <a:cubicBezTo>
                      <a:pt x="17" y="17"/>
                      <a:pt x="6" y="5"/>
                      <a:pt x="6" y="5"/>
                    </a:cubicBezTo>
                    <a:cubicBezTo>
                      <a:pt x="1" y="0"/>
                      <a:pt x="0" y="7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9" name="íṣliḋé"/>
              <p:cNvSpPr/>
              <p:nvPr/>
            </p:nvSpPr>
            <p:spPr bwMode="auto">
              <a:xfrm>
                <a:off x="3967163" y="2887663"/>
                <a:ext cx="274638" cy="192088"/>
              </a:xfrm>
              <a:custGeom>
                <a:avLst/>
                <a:gdLst>
                  <a:gd name="T0" fmla="*/ 50 w 83"/>
                  <a:gd name="T1" fmla="*/ 1 h 58"/>
                  <a:gd name="T2" fmla="*/ 47 w 83"/>
                  <a:gd name="T3" fmla="*/ 4 h 58"/>
                  <a:gd name="T4" fmla="*/ 44 w 83"/>
                  <a:gd name="T5" fmla="*/ 8 h 58"/>
                  <a:gd name="T6" fmla="*/ 35 w 83"/>
                  <a:gd name="T7" fmla="*/ 10 h 58"/>
                  <a:gd name="T8" fmla="*/ 29 w 83"/>
                  <a:gd name="T9" fmla="*/ 12 h 58"/>
                  <a:gd name="T10" fmla="*/ 25 w 83"/>
                  <a:gd name="T11" fmla="*/ 16 h 58"/>
                  <a:gd name="T12" fmla="*/ 27 w 83"/>
                  <a:gd name="T13" fmla="*/ 18 h 58"/>
                  <a:gd name="T14" fmla="*/ 29 w 83"/>
                  <a:gd name="T15" fmla="*/ 20 h 58"/>
                  <a:gd name="T16" fmla="*/ 28 w 83"/>
                  <a:gd name="T17" fmla="*/ 23 h 58"/>
                  <a:gd name="T18" fmla="*/ 25 w 83"/>
                  <a:gd name="T19" fmla="*/ 21 h 58"/>
                  <a:gd name="T20" fmla="*/ 12 w 83"/>
                  <a:gd name="T21" fmla="*/ 8 h 58"/>
                  <a:gd name="T22" fmla="*/ 8 w 83"/>
                  <a:gd name="T23" fmla="*/ 3 h 58"/>
                  <a:gd name="T24" fmla="*/ 5 w 83"/>
                  <a:gd name="T25" fmla="*/ 0 h 58"/>
                  <a:gd name="T26" fmla="*/ 0 w 83"/>
                  <a:gd name="T27" fmla="*/ 3 h 58"/>
                  <a:gd name="T28" fmla="*/ 2 w 83"/>
                  <a:gd name="T29" fmla="*/ 10 h 58"/>
                  <a:gd name="T30" fmla="*/ 13 w 83"/>
                  <a:gd name="T31" fmla="*/ 17 h 58"/>
                  <a:gd name="T32" fmla="*/ 25 w 83"/>
                  <a:gd name="T33" fmla="*/ 27 h 58"/>
                  <a:gd name="T34" fmla="*/ 37 w 83"/>
                  <a:gd name="T35" fmla="*/ 42 h 58"/>
                  <a:gd name="T36" fmla="*/ 35 w 83"/>
                  <a:gd name="T37" fmla="*/ 47 h 58"/>
                  <a:gd name="T38" fmla="*/ 30 w 83"/>
                  <a:gd name="T39" fmla="*/ 44 h 58"/>
                  <a:gd name="T40" fmla="*/ 28 w 83"/>
                  <a:gd name="T41" fmla="*/ 44 h 58"/>
                  <a:gd name="T42" fmla="*/ 31 w 83"/>
                  <a:gd name="T43" fmla="*/ 49 h 58"/>
                  <a:gd name="T44" fmla="*/ 36 w 83"/>
                  <a:gd name="T45" fmla="*/ 58 h 58"/>
                  <a:gd name="T46" fmla="*/ 43 w 83"/>
                  <a:gd name="T47" fmla="*/ 48 h 58"/>
                  <a:gd name="T48" fmla="*/ 38 w 83"/>
                  <a:gd name="T49" fmla="*/ 37 h 58"/>
                  <a:gd name="T50" fmla="*/ 40 w 83"/>
                  <a:gd name="T51" fmla="*/ 35 h 58"/>
                  <a:gd name="T52" fmla="*/ 49 w 83"/>
                  <a:gd name="T53" fmla="*/ 38 h 58"/>
                  <a:gd name="T54" fmla="*/ 55 w 83"/>
                  <a:gd name="T55" fmla="*/ 38 h 58"/>
                  <a:gd name="T56" fmla="*/ 59 w 83"/>
                  <a:gd name="T57" fmla="*/ 32 h 58"/>
                  <a:gd name="T58" fmla="*/ 64 w 83"/>
                  <a:gd name="T59" fmla="*/ 33 h 58"/>
                  <a:gd name="T60" fmla="*/ 71 w 83"/>
                  <a:gd name="T61" fmla="*/ 36 h 58"/>
                  <a:gd name="T62" fmla="*/ 72 w 83"/>
                  <a:gd name="T63" fmla="*/ 30 h 58"/>
                  <a:gd name="T64" fmla="*/ 76 w 83"/>
                  <a:gd name="T65" fmla="*/ 29 h 58"/>
                  <a:gd name="T66" fmla="*/ 79 w 83"/>
                  <a:gd name="T67" fmla="*/ 31 h 58"/>
                  <a:gd name="T68" fmla="*/ 82 w 83"/>
                  <a:gd name="T69" fmla="*/ 27 h 58"/>
                  <a:gd name="T70" fmla="*/ 81 w 83"/>
                  <a:gd name="T71" fmla="*/ 22 h 58"/>
                  <a:gd name="T72" fmla="*/ 75 w 83"/>
                  <a:gd name="T73" fmla="*/ 24 h 58"/>
                  <a:gd name="T74" fmla="*/ 71 w 83"/>
                  <a:gd name="T75" fmla="*/ 26 h 58"/>
                  <a:gd name="T76" fmla="*/ 69 w 83"/>
                  <a:gd name="T77" fmla="*/ 27 h 58"/>
                  <a:gd name="T78" fmla="*/ 65 w 83"/>
                  <a:gd name="T79" fmla="*/ 26 h 58"/>
                  <a:gd name="T80" fmla="*/ 61 w 83"/>
                  <a:gd name="T81" fmla="*/ 23 h 58"/>
                  <a:gd name="T82" fmla="*/ 56 w 83"/>
                  <a:gd name="T83" fmla="*/ 25 h 58"/>
                  <a:gd name="T84" fmla="*/ 54 w 83"/>
                  <a:gd name="T85" fmla="*/ 28 h 58"/>
                  <a:gd name="T86" fmla="*/ 42 w 83"/>
                  <a:gd name="T87" fmla="*/ 28 h 58"/>
                  <a:gd name="T88" fmla="*/ 41 w 83"/>
                  <a:gd name="T89" fmla="*/ 31 h 58"/>
                  <a:gd name="T90" fmla="*/ 36 w 83"/>
                  <a:gd name="T91" fmla="*/ 32 h 58"/>
                  <a:gd name="T92" fmla="*/ 32 w 83"/>
                  <a:gd name="T93" fmla="*/ 28 h 58"/>
                  <a:gd name="T94" fmla="*/ 34 w 83"/>
                  <a:gd name="T95" fmla="*/ 25 h 58"/>
                  <a:gd name="T96" fmla="*/ 43 w 83"/>
                  <a:gd name="T97" fmla="*/ 24 h 58"/>
                  <a:gd name="T98" fmla="*/ 46 w 83"/>
                  <a:gd name="T99" fmla="*/ 23 h 58"/>
                  <a:gd name="T100" fmla="*/ 47 w 83"/>
                  <a:gd name="T101" fmla="*/ 20 h 58"/>
                  <a:gd name="T102" fmla="*/ 47 w 83"/>
                  <a:gd name="T103" fmla="*/ 18 h 58"/>
                  <a:gd name="T104" fmla="*/ 63 w 83"/>
                  <a:gd name="T105" fmla="*/ 17 h 58"/>
                  <a:gd name="T106" fmla="*/ 68 w 83"/>
                  <a:gd name="T107" fmla="*/ 13 h 58"/>
                  <a:gd name="T108" fmla="*/ 63 w 83"/>
                  <a:gd name="T109" fmla="*/ 8 h 58"/>
                  <a:gd name="T110" fmla="*/ 58 w 83"/>
                  <a:gd name="T111" fmla="*/ 13 h 58"/>
                  <a:gd name="T112" fmla="*/ 49 w 83"/>
                  <a:gd name="T113" fmla="*/ 16 h 58"/>
                  <a:gd name="T114" fmla="*/ 42 w 83"/>
                  <a:gd name="T115" fmla="*/ 17 h 58"/>
                  <a:gd name="T116" fmla="*/ 40 w 83"/>
                  <a:gd name="T117" fmla="*/ 13 h 58"/>
                  <a:gd name="T118" fmla="*/ 51 w 83"/>
                  <a:gd name="T119" fmla="*/ 10 h 58"/>
                  <a:gd name="T120" fmla="*/ 54 w 83"/>
                  <a:gd name="T121" fmla="*/ 2 h 58"/>
                  <a:gd name="T122" fmla="*/ 50 w 83"/>
                  <a:gd name="T123" fmla="*/ 1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83" h="58">
                    <a:moveTo>
                      <a:pt x="50" y="1"/>
                    </a:moveTo>
                    <a:cubicBezTo>
                      <a:pt x="50" y="1"/>
                      <a:pt x="48" y="3"/>
                      <a:pt x="47" y="4"/>
                    </a:cubicBezTo>
                    <a:cubicBezTo>
                      <a:pt x="47" y="5"/>
                      <a:pt x="45" y="8"/>
                      <a:pt x="44" y="8"/>
                    </a:cubicBezTo>
                    <a:cubicBezTo>
                      <a:pt x="43" y="8"/>
                      <a:pt x="37" y="10"/>
                      <a:pt x="35" y="10"/>
                    </a:cubicBezTo>
                    <a:cubicBezTo>
                      <a:pt x="34" y="10"/>
                      <a:pt x="29" y="11"/>
                      <a:pt x="29" y="12"/>
                    </a:cubicBezTo>
                    <a:cubicBezTo>
                      <a:pt x="28" y="14"/>
                      <a:pt x="25" y="16"/>
                      <a:pt x="25" y="16"/>
                    </a:cubicBezTo>
                    <a:cubicBezTo>
                      <a:pt x="25" y="16"/>
                      <a:pt x="25" y="18"/>
                      <a:pt x="27" y="18"/>
                    </a:cubicBezTo>
                    <a:cubicBezTo>
                      <a:pt x="29" y="18"/>
                      <a:pt x="29" y="20"/>
                      <a:pt x="29" y="20"/>
                    </a:cubicBezTo>
                    <a:cubicBezTo>
                      <a:pt x="29" y="20"/>
                      <a:pt x="29" y="24"/>
                      <a:pt x="28" y="23"/>
                    </a:cubicBezTo>
                    <a:cubicBezTo>
                      <a:pt x="27" y="22"/>
                      <a:pt x="27" y="23"/>
                      <a:pt x="25" y="21"/>
                    </a:cubicBezTo>
                    <a:cubicBezTo>
                      <a:pt x="24" y="20"/>
                      <a:pt x="12" y="8"/>
                      <a:pt x="12" y="8"/>
                    </a:cubicBezTo>
                    <a:cubicBezTo>
                      <a:pt x="12" y="8"/>
                      <a:pt x="9" y="4"/>
                      <a:pt x="8" y="3"/>
                    </a:cubicBezTo>
                    <a:cubicBezTo>
                      <a:pt x="8" y="2"/>
                      <a:pt x="7" y="0"/>
                      <a:pt x="5" y="0"/>
                    </a:cubicBezTo>
                    <a:cubicBezTo>
                      <a:pt x="3" y="0"/>
                      <a:pt x="1" y="1"/>
                      <a:pt x="0" y="3"/>
                    </a:cubicBezTo>
                    <a:cubicBezTo>
                      <a:pt x="0" y="4"/>
                      <a:pt x="0" y="7"/>
                      <a:pt x="2" y="10"/>
                    </a:cubicBezTo>
                    <a:cubicBezTo>
                      <a:pt x="5" y="13"/>
                      <a:pt x="10" y="15"/>
                      <a:pt x="13" y="17"/>
                    </a:cubicBezTo>
                    <a:cubicBezTo>
                      <a:pt x="18" y="20"/>
                      <a:pt x="22" y="24"/>
                      <a:pt x="25" y="27"/>
                    </a:cubicBezTo>
                    <a:cubicBezTo>
                      <a:pt x="28" y="31"/>
                      <a:pt x="35" y="38"/>
                      <a:pt x="37" y="42"/>
                    </a:cubicBezTo>
                    <a:cubicBezTo>
                      <a:pt x="38" y="46"/>
                      <a:pt x="37" y="47"/>
                      <a:pt x="35" y="47"/>
                    </a:cubicBezTo>
                    <a:cubicBezTo>
                      <a:pt x="34" y="47"/>
                      <a:pt x="31" y="45"/>
                      <a:pt x="30" y="44"/>
                    </a:cubicBezTo>
                    <a:cubicBezTo>
                      <a:pt x="29" y="43"/>
                      <a:pt x="28" y="44"/>
                      <a:pt x="28" y="44"/>
                    </a:cubicBezTo>
                    <a:cubicBezTo>
                      <a:pt x="28" y="44"/>
                      <a:pt x="28" y="45"/>
                      <a:pt x="31" y="49"/>
                    </a:cubicBezTo>
                    <a:cubicBezTo>
                      <a:pt x="33" y="52"/>
                      <a:pt x="34" y="57"/>
                      <a:pt x="36" y="58"/>
                    </a:cubicBezTo>
                    <a:cubicBezTo>
                      <a:pt x="37" y="58"/>
                      <a:pt x="45" y="53"/>
                      <a:pt x="43" y="48"/>
                    </a:cubicBezTo>
                    <a:cubicBezTo>
                      <a:pt x="42" y="43"/>
                      <a:pt x="39" y="38"/>
                      <a:pt x="38" y="37"/>
                    </a:cubicBezTo>
                    <a:cubicBezTo>
                      <a:pt x="37" y="36"/>
                      <a:pt x="38" y="34"/>
                      <a:pt x="40" y="35"/>
                    </a:cubicBezTo>
                    <a:cubicBezTo>
                      <a:pt x="42" y="36"/>
                      <a:pt x="45" y="38"/>
                      <a:pt x="49" y="38"/>
                    </a:cubicBezTo>
                    <a:cubicBezTo>
                      <a:pt x="53" y="38"/>
                      <a:pt x="54" y="39"/>
                      <a:pt x="55" y="38"/>
                    </a:cubicBezTo>
                    <a:cubicBezTo>
                      <a:pt x="57" y="36"/>
                      <a:pt x="59" y="33"/>
                      <a:pt x="59" y="32"/>
                    </a:cubicBezTo>
                    <a:cubicBezTo>
                      <a:pt x="60" y="31"/>
                      <a:pt x="62" y="31"/>
                      <a:pt x="64" y="33"/>
                    </a:cubicBezTo>
                    <a:cubicBezTo>
                      <a:pt x="66" y="36"/>
                      <a:pt x="69" y="38"/>
                      <a:pt x="71" y="36"/>
                    </a:cubicBezTo>
                    <a:cubicBezTo>
                      <a:pt x="72" y="33"/>
                      <a:pt x="70" y="30"/>
                      <a:pt x="72" y="30"/>
                    </a:cubicBezTo>
                    <a:cubicBezTo>
                      <a:pt x="74" y="29"/>
                      <a:pt x="75" y="27"/>
                      <a:pt x="76" y="29"/>
                    </a:cubicBezTo>
                    <a:cubicBezTo>
                      <a:pt x="77" y="30"/>
                      <a:pt x="78" y="32"/>
                      <a:pt x="79" y="31"/>
                    </a:cubicBezTo>
                    <a:cubicBezTo>
                      <a:pt x="79" y="30"/>
                      <a:pt x="81" y="29"/>
                      <a:pt x="82" y="27"/>
                    </a:cubicBezTo>
                    <a:cubicBezTo>
                      <a:pt x="83" y="25"/>
                      <a:pt x="82" y="22"/>
                      <a:pt x="81" y="22"/>
                    </a:cubicBezTo>
                    <a:cubicBezTo>
                      <a:pt x="79" y="23"/>
                      <a:pt x="76" y="23"/>
                      <a:pt x="75" y="24"/>
                    </a:cubicBezTo>
                    <a:cubicBezTo>
                      <a:pt x="74" y="24"/>
                      <a:pt x="72" y="24"/>
                      <a:pt x="71" y="26"/>
                    </a:cubicBezTo>
                    <a:cubicBezTo>
                      <a:pt x="70" y="27"/>
                      <a:pt x="70" y="27"/>
                      <a:pt x="69" y="27"/>
                    </a:cubicBezTo>
                    <a:cubicBezTo>
                      <a:pt x="68" y="27"/>
                      <a:pt x="66" y="28"/>
                      <a:pt x="65" y="26"/>
                    </a:cubicBezTo>
                    <a:cubicBezTo>
                      <a:pt x="63" y="25"/>
                      <a:pt x="63" y="23"/>
                      <a:pt x="61" y="23"/>
                    </a:cubicBezTo>
                    <a:cubicBezTo>
                      <a:pt x="60" y="23"/>
                      <a:pt x="56" y="24"/>
                      <a:pt x="56" y="25"/>
                    </a:cubicBezTo>
                    <a:cubicBezTo>
                      <a:pt x="55" y="26"/>
                      <a:pt x="57" y="28"/>
                      <a:pt x="54" y="28"/>
                    </a:cubicBezTo>
                    <a:cubicBezTo>
                      <a:pt x="51" y="28"/>
                      <a:pt x="43" y="27"/>
                      <a:pt x="42" y="28"/>
                    </a:cubicBezTo>
                    <a:cubicBezTo>
                      <a:pt x="41" y="28"/>
                      <a:pt x="42" y="30"/>
                      <a:pt x="41" y="31"/>
                    </a:cubicBezTo>
                    <a:cubicBezTo>
                      <a:pt x="39" y="31"/>
                      <a:pt x="37" y="33"/>
                      <a:pt x="36" y="32"/>
                    </a:cubicBezTo>
                    <a:cubicBezTo>
                      <a:pt x="35" y="31"/>
                      <a:pt x="32" y="28"/>
                      <a:pt x="32" y="28"/>
                    </a:cubicBezTo>
                    <a:cubicBezTo>
                      <a:pt x="32" y="28"/>
                      <a:pt x="30" y="25"/>
                      <a:pt x="34" y="25"/>
                    </a:cubicBezTo>
                    <a:cubicBezTo>
                      <a:pt x="37" y="25"/>
                      <a:pt x="42" y="24"/>
                      <a:pt x="43" y="24"/>
                    </a:cubicBezTo>
                    <a:cubicBezTo>
                      <a:pt x="44" y="24"/>
                      <a:pt x="46" y="24"/>
                      <a:pt x="46" y="23"/>
                    </a:cubicBezTo>
                    <a:cubicBezTo>
                      <a:pt x="45" y="21"/>
                      <a:pt x="48" y="22"/>
                      <a:pt x="47" y="20"/>
                    </a:cubicBezTo>
                    <a:cubicBezTo>
                      <a:pt x="46" y="19"/>
                      <a:pt x="45" y="18"/>
                      <a:pt x="47" y="18"/>
                    </a:cubicBezTo>
                    <a:cubicBezTo>
                      <a:pt x="50" y="17"/>
                      <a:pt x="58" y="18"/>
                      <a:pt x="63" y="17"/>
                    </a:cubicBezTo>
                    <a:cubicBezTo>
                      <a:pt x="67" y="16"/>
                      <a:pt x="67" y="14"/>
                      <a:pt x="68" y="13"/>
                    </a:cubicBezTo>
                    <a:cubicBezTo>
                      <a:pt x="68" y="11"/>
                      <a:pt x="65" y="8"/>
                      <a:pt x="63" y="8"/>
                    </a:cubicBezTo>
                    <a:cubicBezTo>
                      <a:pt x="62" y="9"/>
                      <a:pt x="60" y="12"/>
                      <a:pt x="58" y="13"/>
                    </a:cubicBezTo>
                    <a:cubicBezTo>
                      <a:pt x="56" y="13"/>
                      <a:pt x="49" y="15"/>
                      <a:pt x="49" y="16"/>
                    </a:cubicBezTo>
                    <a:cubicBezTo>
                      <a:pt x="48" y="16"/>
                      <a:pt x="43" y="17"/>
                      <a:pt x="42" y="17"/>
                    </a:cubicBezTo>
                    <a:cubicBezTo>
                      <a:pt x="41" y="17"/>
                      <a:pt x="36" y="13"/>
                      <a:pt x="40" y="13"/>
                    </a:cubicBezTo>
                    <a:cubicBezTo>
                      <a:pt x="44" y="12"/>
                      <a:pt x="49" y="11"/>
                      <a:pt x="51" y="10"/>
                    </a:cubicBezTo>
                    <a:cubicBezTo>
                      <a:pt x="53" y="8"/>
                      <a:pt x="55" y="3"/>
                      <a:pt x="54" y="2"/>
                    </a:cubicBezTo>
                    <a:cubicBezTo>
                      <a:pt x="54" y="1"/>
                      <a:pt x="51" y="0"/>
                      <a:pt x="5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0" name="îṧ1ïďê"/>
              <p:cNvSpPr/>
              <p:nvPr/>
            </p:nvSpPr>
            <p:spPr bwMode="auto">
              <a:xfrm>
                <a:off x="3890963" y="2951163"/>
                <a:ext cx="161925" cy="125413"/>
              </a:xfrm>
              <a:custGeom>
                <a:avLst/>
                <a:gdLst>
                  <a:gd name="T0" fmla="*/ 36 w 49"/>
                  <a:gd name="T1" fmla="*/ 5 h 38"/>
                  <a:gd name="T2" fmla="*/ 33 w 49"/>
                  <a:gd name="T3" fmla="*/ 9 h 38"/>
                  <a:gd name="T4" fmla="*/ 37 w 49"/>
                  <a:gd name="T5" fmla="*/ 14 h 38"/>
                  <a:gd name="T6" fmla="*/ 30 w 49"/>
                  <a:gd name="T7" fmla="*/ 18 h 38"/>
                  <a:gd name="T8" fmla="*/ 22 w 49"/>
                  <a:gd name="T9" fmla="*/ 9 h 38"/>
                  <a:gd name="T10" fmla="*/ 16 w 49"/>
                  <a:gd name="T11" fmla="*/ 2 h 38"/>
                  <a:gd name="T12" fmla="*/ 13 w 49"/>
                  <a:gd name="T13" fmla="*/ 10 h 38"/>
                  <a:gd name="T14" fmla="*/ 20 w 49"/>
                  <a:gd name="T15" fmla="*/ 16 h 38"/>
                  <a:gd name="T16" fmla="*/ 25 w 49"/>
                  <a:gd name="T17" fmla="*/ 22 h 38"/>
                  <a:gd name="T18" fmla="*/ 21 w 49"/>
                  <a:gd name="T19" fmla="*/ 26 h 38"/>
                  <a:gd name="T20" fmla="*/ 10 w 49"/>
                  <a:gd name="T21" fmla="*/ 26 h 38"/>
                  <a:gd name="T22" fmla="*/ 8 w 49"/>
                  <a:gd name="T23" fmla="*/ 19 h 38"/>
                  <a:gd name="T24" fmla="*/ 6 w 49"/>
                  <a:gd name="T25" fmla="*/ 13 h 38"/>
                  <a:gd name="T26" fmla="*/ 3 w 49"/>
                  <a:gd name="T27" fmla="*/ 18 h 38"/>
                  <a:gd name="T28" fmla="*/ 2 w 49"/>
                  <a:gd name="T29" fmla="*/ 26 h 38"/>
                  <a:gd name="T30" fmla="*/ 14 w 49"/>
                  <a:gd name="T31" fmla="*/ 30 h 38"/>
                  <a:gd name="T32" fmla="*/ 23 w 49"/>
                  <a:gd name="T33" fmla="*/ 29 h 38"/>
                  <a:gd name="T34" fmla="*/ 28 w 49"/>
                  <a:gd name="T35" fmla="*/ 29 h 38"/>
                  <a:gd name="T36" fmla="*/ 32 w 49"/>
                  <a:gd name="T37" fmla="*/ 37 h 38"/>
                  <a:gd name="T38" fmla="*/ 38 w 49"/>
                  <a:gd name="T39" fmla="*/ 33 h 38"/>
                  <a:gd name="T40" fmla="*/ 34 w 49"/>
                  <a:gd name="T41" fmla="*/ 24 h 38"/>
                  <a:gd name="T42" fmla="*/ 35 w 49"/>
                  <a:gd name="T43" fmla="*/ 20 h 38"/>
                  <a:gd name="T44" fmla="*/ 42 w 49"/>
                  <a:gd name="T45" fmla="*/ 22 h 38"/>
                  <a:gd name="T46" fmla="*/ 48 w 49"/>
                  <a:gd name="T47" fmla="*/ 18 h 38"/>
                  <a:gd name="T48" fmla="*/ 41 w 49"/>
                  <a:gd name="T49" fmla="*/ 8 h 38"/>
                  <a:gd name="T50" fmla="*/ 36 w 49"/>
                  <a:gd name="T51" fmla="*/ 5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9" h="38">
                    <a:moveTo>
                      <a:pt x="36" y="5"/>
                    </a:moveTo>
                    <a:cubicBezTo>
                      <a:pt x="34" y="6"/>
                      <a:pt x="32" y="8"/>
                      <a:pt x="33" y="9"/>
                    </a:cubicBezTo>
                    <a:cubicBezTo>
                      <a:pt x="33" y="11"/>
                      <a:pt x="37" y="12"/>
                      <a:pt x="37" y="14"/>
                    </a:cubicBezTo>
                    <a:cubicBezTo>
                      <a:pt x="38" y="17"/>
                      <a:pt x="32" y="18"/>
                      <a:pt x="30" y="18"/>
                    </a:cubicBezTo>
                    <a:cubicBezTo>
                      <a:pt x="30" y="18"/>
                      <a:pt x="23" y="11"/>
                      <a:pt x="22" y="9"/>
                    </a:cubicBezTo>
                    <a:cubicBezTo>
                      <a:pt x="21" y="8"/>
                      <a:pt x="19" y="0"/>
                      <a:pt x="16" y="2"/>
                    </a:cubicBezTo>
                    <a:cubicBezTo>
                      <a:pt x="14" y="3"/>
                      <a:pt x="12" y="7"/>
                      <a:pt x="13" y="10"/>
                    </a:cubicBezTo>
                    <a:cubicBezTo>
                      <a:pt x="15" y="12"/>
                      <a:pt x="17" y="13"/>
                      <a:pt x="20" y="16"/>
                    </a:cubicBezTo>
                    <a:cubicBezTo>
                      <a:pt x="22" y="18"/>
                      <a:pt x="25" y="21"/>
                      <a:pt x="25" y="22"/>
                    </a:cubicBezTo>
                    <a:cubicBezTo>
                      <a:pt x="25" y="23"/>
                      <a:pt x="23" y="25"/>
                      <a:pt x="21" y="26"/>
                    </a:cubicBezTo>
                    <a:cubicBezTo>
                      <a:pt x="18" y="27"/>
                      <a:pt x="11" y="27"/>
                      <a:pt x="10" y="26"/>
                    </a:cubicBezTo>
                    <a:cubicBezTo>
                      <a:pt x="9" y="24"/>
                      <a:pt x="8" y="21"/>
                      <a:pt x="8" y="19"/>
                    </a:cubicBezTo>
                    <a:cubicBezTo>
                      <a:pt x="9" y="16"/>
                      <a:pt x="9" y="11"/>
                      <a:pt x="6" y="13"/>
                    </a:cubicBezTo>
                    <a:cubicBezTo>
                      <a:pt x="4" y="14"/>
                      <a:pt x="5" y="16"/>
                      <a:pt x="3" y="18"/>
                    </a:cubicBezTo>
                    <a:cubicBezTo>
                      <a:pt x="1" y="19"/>
                      <a:pt x="0" y="24"/>
                      <a:pt x="2" y="26"/>
                    </a:cubicBezTo>
                    <a:cubicBezTo>
                      <a:pt x="4" y="28"/>
                      <a:pt x="8" y="30"/>
                      <a:pt x="14" y="30"/>
                    </a:cubicBezTo>
                    <a:cubicBezTo>
                      <a:pt x="19" y="30"/>
                      <a:pt x="22" y="29"/>
                      <a:pt x="23" y="29"/>
                    </a:cubicBezTo>
                    <a:cubicBezTo>
                      <a:pt x="25" y="29"/>
                      <a:pt x="28" y="27"/>
                      <a:pt x="28" y="29"/>
                    </a:cubicBezTo>
                    <a:cubicBezTo>
                      <a:pt x="28" y="30"/>
                      <a:pt x="29" y="38"/>
                      <a:pt x="32" y="37"/>
                    </a:cubicBezTo>
                    <a:cubicBezTo>
                      <a:pt x="35" y="37"/>
                      <a:pt x="39" y="35"/>
                      <a:pt x="38" y="33"/>
                    </a:cubicBezTo>
                    <a:cubicBezTo>
                      <a:pt x="38" y="30"/>
                      <a:pt x="34" y="24"/>
                      <a:pt x="34" y="24"/>
                    </a:cubicBezTo>
                    <a:cubicBezTo>
                      <a:pt x="34" y="24"/>
                      <a:pt x="34" y="20"/>
                      <a:pt x="35" y="20"/>
                    </a:cubicBezTo>
                    <a:cubicBezTo>
                      <a:pt x="37" y="21"/>
                      <a:pt x="40" y="21"/>
                      <a:pt x="42" y="22"/>
                    </a:cubicBezTo>
                    <a:cubicBezTo>
                      <a:pt x="44" y="22"/>
                      <a:pt x="49" y="20"/>
                      <a:pt x="48" y="18"/>
                    </a:cubicBezTo>
                    <a:cubicBezTo>
                      <a:pt x="47" y="15"/>
                      <a:pt x="42" y="10"/>
                      <a:pt x="41" y="8"/>
                    </a:cubicBezTo>
                    <a:cubicBezTo>
                      <a:pt x="40" y="6"/>
                      <a:pt x="38" y="4"/>
                      <a:pt x="36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1" name="iṣḷíďe"/>
              <p:cNvSpPr/>
              <p:nvPr/>
            </p:nvSpPr>
            <p:spPr bwMode="auto">
              <a:xfrm>
                <a:off x="3373438" y="2324100"/>
                <a:ext cx="254000" cy="223838"/>
              </a:xfrm>
              <a:custGeom>
                <a:avLst/>
                <a:gdLst>
                  <a:gd name="T0" fmla="*/ 54 w 77"/>
                  <a:gd name="T1" fmla="*/ 14 h 68"/>
                  <a:gd name="T2" fmla="*/ 47 w 77"/>
                  <a:gd name="T3" fmla="*/ 25 h 68"/>
                  <a:gd name="T4" fmla="*/ 46 w 77"/>
                  <a:gd name="T5" fmla="*/ 25 h 68"/>
                  <a:gd name="T6" fmla="*/ 35 w 77"/>
                  <a:gd name="T7" fmla="*/ 23 h 68"/>
                  <a:gd name="T8" fmla="*/ 27 w 77"/>
                  <a:gd name="T9" fmla="*/ 19 h 68"/>
                  <a:gd name="T10" fmla="*/ 22 w 77"/>
                  <a:gd name="T11" fmla="*/ 22 h 68"/>
                  <a:gd name="T12" fmla="*/ 25 w 77"/>
                  <a:gd name="T13" fmla="*/ 32 h 68"/>
                  <a:gd name="T14" fmla="*/ 34 w 77"/>
                  <a:gd name="T15" fmla="*/ 35 h 68"/>
                  <a:gd name="T16" fmla="*/ 40 w 77"/>
                  <a:gd name="T17" fmla="*/ 34 h 68"/>
                  <a:gd name="T18" fmla="*/ 37 w 77"/>
                  <a:gd name="T19" fmla="*/ 38 h 68"/>
                  <a:gd name="T20" fmla="*/ 25 w 77"/>
                  <a:gd name="T21" fmla="*/ 50 h 68"/>
                  <a:gd name="T22" fmla="*/ 11 w 77"/>
                  <a:gd name="T23" fmla="*/ 57 h 68"/>
                  <a:gd name="T24" fmla="*/ 9 w 77"/>
                  <a:gd name="T25" fmla="*/ 55 h 68"/>
                  <a:gd name="T26" fmla="*/ 3 w 77"/>
                  <a:gd name="T27" fmla="*/ 56 h 68"/>
                  <a:gd name="T28" fmla="*/ 2 w 77"/>
                  <a:gd name="T29" fmla="*/ 64 h 68"/>
                  <a:gd name="T30" fmla="*/ 6 w 77"/>
                  <a:gd name="T31" fmla="*/ 67 h 68"/>
                  <a:gd name="T32" fmla="*/ 19 w 77"/>
                  <a:gd name="T33" fmla="*/ 59 h 68"/>
                  <a:gd name="T34" fmla="*/ 36 w 77"/>
                  <a:gd name="T35" fmla="*/ 49 h 68"/>
                  <a:gd name="T36" fmla="*/ 48 w 77"/>
                  <a:gd name="T37" fmla="*/ 33 h 68"/>
                  <a:gd name="T38" fmla="*/ 63 w 77"/>
                  <a:gd name="T39" fmla="*/ 33 h 68"/>
                  <a:gd name="T40" fmla="*/ 70 w 77"/>
                  <a:gd name="T41" fmla="*/ 34 h 68"/>
                  <a:gd name="T42" fmla="*/ 75 w 77"/>
                  <a:gd name="T43" fmla="*/ 30 h 68"/>
                  <a:gd name="T44" fmla="*/ 68 w 77"/>
                  <a:gd name="T45" fmla="*/ 25 h 68"/>
                  <a:gd name="T46" fmla="*/ 59 w 77"/>
                  <a:gd name="T47" fmla="*/ 26 h 68"/>
                  <a:gd name="T48" fmla="*/ 54 w 77"/>
                  <a:gd name="T49" fmla="*/ 25 h 68"/>
                  <a:gd name="T50" fmla="*/ 57 w 77"/>
                  <a:gd name="T51" fmla="*/ 20 h 68"/>
                  <a:gd name="T52" fmla="*/ 61 w 77"/>
                  <a:gd name="T53" fmla="*/ 16 h 68"/>
                  <a:gd name="T54" fmla="*/ 66 w 77"/>
                  <a:gd name="T55" fmla="*/ 11 h 68"/>
                  <a:gd name="T56" fmla="*/ 65 w 77"/>
                  <a:gd name="T57" fmla="*/ 2 h 68"/>
                  <a:gd name="T58" fmla="*/ 58 w 77"/>
                  <a:gd name="T59" fmla="*/ 4 h 68"/>
                  <a:gd name="T60" fmla="*/ 54 w 77"/>
                  <a:gd name="T61" fmla="*/ 14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77" h="68">
                    <a:moveTo>
                      <a:pt x="54" y="14"/>
                    </a:moveTo>
                    <a:cubicBezTo>
                      <a:pt x="54" y="14"/>
                      <a:pt x="50" y="19"/>
                      <a:pt x="47" y="25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4" y="25"/>
                      <a:pt x="37" y="25"/>
                      <a:pt x="35" y="23"/>
                    </a:cubicBezTo>
                    <a:cubicBezTo>
                      <a:pt x="32" y="22"/>
                      <a:pt x="28" y="19"/>
                      <a:pt x="27" y="19"/>
                    </a:cubicBezTo>
                    <a:cubicBezTo>
                      <a:pt x="25" y="18"/>
                      <a:pt x="23" y="19"/>
                      <a:pt x="22" y="22"/>
                    </a:cubicBezTo>
                    <a:cubicBezTo>
                      <a:pt x="21" y="25"/>
                      <a:pt x="21" y="28"/>
                      <a:pt x="25" y="32"/>
                    </a:cubicBezTo>
                    <a:cubicBezTo>
                      <a:pt x="29" y="37"/>
                      <a:pt x="30" y="36"/>
                      <a:pt x="34" y="35"/>
                    </a:cubicBezTo>
                    <a:cubicBezTo>
                      <a:pt x="36" y="35"/>
                      <a:pt x="38" y="34"/>
                      <a:pt x="40" y="34"/>
                    </a:cubicBezTo>
                    <a:cubicBezTo>
                      <a:pt x="38" y="36"/>
                      <a:pt x="37" y="38"/>
                      <a:pt x="37" y="38"/>
                    </a:cubicBezTo>
                    <a:cubicBezTo>
                      <a:pt x="35" y="40"/>
                      <a:pt x="29" y="47"/>
                      <a:pt x="25" y="50"/>
                    </a:cubicBezTo>
                    <a:cubicBezTo>
                      <a:pt x="21" y="52"/>
                      <a:pt x="11" y="57"/>
                      <a:pt x="11" y="57"/>
                    </a:cubicBezTo>
                    <a:cubicBezTo>
                      <a:pt x="12" y="58"/>
                      <a:pt x="9" y="58"/>
                      <a:pt x="9" y="55"/>
                    </a:cubicBezTo>
                    <a:cubicBezTo>
                      <a:pt x="8" y="52"/>
                      <a:pt x="6" y="54"/>
                      <a:pt x="3" y="56"/>
                    </a:cubicBezTo>
                    <a:cubicBezTo>
                      <a:pt x="0" y="58"/>
                      <a:pt x="2" y="62"/>
                      <a:pt x="2" y="64"/>
                    </a:cubicBezTo>
                    <a:cubicBezTo>
                      <a:pt x="1" y="66"/>
                      <a:pt x="1" y="68"/>
                      <a:pt x="6" y="67"/>
                    </a:cubicBezTo>
                    <a:cubicBezTo>
                      <a:pt x="10" y="66"/>
                      <a:pt x="14" y="62"/>
                      <a:pt x="19" y="59"/>
                    </a:cubicBezTo>
                    <a:cubicBezTo>
                      <a:pt x="24" y="57"/>
                      <a:pt x="32" y="53"/>
                      <a:pt x="36" y="49"/>
                    </a:cubicBezTo>
                    <a:cubicBezTo>
                      <a:pt x="39" y="46"/>
                      <a:pt x="45" y="38"/>
                      <a:pt x="48" y="33"/>
                    </a:cubicBezTo>
                    <a:cubicBezTo>
                      <a:pt x="53" y="33"/>
                      <a:pt x="61" y="33"/>
                      <a:pt x="63" y="33"/>
                    </a:cubicBezTo>
                    <a:cubicBezTo>
                      <a:pt x="65" y="33"/>
                      <a:pt x="67" y="35"/>
                      <a:pt x="70" y="34"/>
                    </a:cubicBezTo>
                    <a:cubicBezTo>
                      <a:pt x="73" y="34"/>
                      <a:pt x="77" y="33"/>
                      <a:pt x="75" y="30"/>
                    </a:cubicBezTo>
                    <a:cubicBezTo>
                      <a:pt x="73" y="27"/>
                      <a:pt x="71" y="24"/>
                      <a:pt x="68" y="25"/>
                    </a:cubicBezTo>
                    <a:cubicBezTo>
                      <a:pt x="65" y="26"/>
                      <a:pt x="61" y="26"/>
                      <a:pt x="59" y="26"/>
                    </a:cubicBezTo>
                    <a:cubicBezTo>
                      <a:pt x="59" y="26"/>
                      <a:pt x="56" y="26"/>
                      <a:pt x="54" y="25"/>
                    </a:cubicBezTo>
                    <a:cubicBezTo>
                      <a:pt x="55" y="23"/>
                      <a:pt x="57" y="21"/>
                      <a:pt x="57" y="20"/>
                    </a:cubicBezTo>
                    <a:cubicBezTo>
                      <a:pt x="59" y="18"/>
                      <a:pt x="60" y="17"/>
                      <a:pt x="61" y="16"/>
                    </a:cubicBezTo>
                    <a:cubicBezTo>
                      <a:pt x="62" y="16"/>
                      <a:pt x="65" y="14"/>
                      <a:pt x="66" y="11"/>
                    </a:cubicBezTo>
                    <a:cubicBezTo>
                      <a:pt x="67" y="9"/>
                      <a:pt x="66" y="3"/>
                      <a:pt x="65" y="2"/>
                    </a:cubicBezTo>
                    <a:cubicBezTo>
                      <a:pt x="63" y="0"/>
                      <a:pt x="59" y="1"/>
                      <a:pt x="58" y="4"/>
                    </a:cubicBezTo>
                    <a:cubicBezTo>
                      <a:pt x="56" y="7"/>
                      <a:pt x="55" y="14"/>
                      <a:pt x="54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2" name="iṡ1iḓè"/>
              <p:cNvSpPr/>
              <p:nvPr/>
            </p:nvSpPr>
            <p:spPr bwMode="auto">
              <a:xfrm>
                <a:off x="2625726" y="2725738"/>
                <a:ext cx="890588" cy="1277938"/>
              </a:xfrm>
              <a:custGeom>
                <a:avLst/>
                <a:gdLst>
                  <a:gd name="T0" fmla="*/ 135 w 270"/>
                  <a:gd name="T1" fmla="*/ 22 h 387"/>
                  <a:gd name="T2" fmla="*/ 131 w 270"/>
                  <a:gd name="T3" fmla="*/ 22 h 387"/>
                  <a:gd name="T4" fmla="*/ 117 w 270"/>
                  <a:gd name="T5" fmla="*/ 6 h 387"/>
                  <a:gd name="T6" fmla="*/ 99 w 270"/>
                  <a:gd name="T7" fmla="*/ 6 h 387"/>
                  <a:gd name="T8" fmla="*/ 85 w 270"/>
                  <a:gd name="T9" fmla="*/ 0 h 387"/>
                  <a:gd name="T10" fmla="*/ 100 w 270"/>
                  <a:gd name="T11" fmla="*/ 20 h 387"/>
                  <a:gd name="T12" fmla="*/ 113 w 270"/>
                  <a:gd name="T13" fmla="*/ 20 h 387"/>
                  <a:gd name="T14" fmla="*/ 126 w 270"/>
                  <a:gd name="T15" fmla="*/ 23 h 387"/>
                  <a:gd name="T16" fmla="*/ 88 w 270"/>
                  <a:gd name="T17" fmla="*/ 45 h 387"/>
                  <a:gd name="T18" fmla="*/ 82 w 270"/>
                  <a:gd name="T19" fmla="*/ 108 h 387"/>
                  <a:gd name="T20" fmla="*/ 60 w 270"/>
                  <a:gd name="T21" fmla="*/ 108 h 387"/>
                  <a:gd name="T22" fmla="*/ 35 w 270"/>
                  <a:gd name="T23" fmla="*/ 142 h 387"/>
                  <a:gd name="T24" fmla="*/ 25 w 270"/>
                  <a:gd name="T25" fmla="*/ 309 h 387"/>
                  <a:gd name="T26" fmla="*/ 0 w 270"/>
                  <a:gd name="T27" fmla="*/ 387 h 387"/>
                  <a:gd name="T28" fmla="*/ 30 w 270"/>
                  <a:gd name="T29" fmla="*/ 387 h 387"/>
                  <a:gd name="T30" fmla="*/ 45 w 270"/>
                  <a:gd name="T31" fmla="*/ 367 h 387"/>
                  <a:gd name="T32" fmla="*/ 37 w 270"/>
                  <a:gd name="T33" fmla="*/ 387 h 387"/>
                  <a:gd name="T34" fmla="*/ 63 w 270"/>
                  <a:gd name="T35" fmla="*/ 387 h 387"/>
                  <a:gd name="T36" fmla="*/ 70 w 270"/>
                  <a:gd name="T37" fmla="*/ 353 h 387"/>
                  <a:gd name="T38" fmla="*/ 78 w 270"/>
                  <a:gd name="T39" fmla="*/ 167 h 387"/>
                  <a:gd name="T40" fmla="*/ 90 w 270"/>
                  <a:gd name="T41" fmla="*/ 151 h 387"/>
                  <a:gd name="T42" fmla="*/ 130 w 270"/>
                  <a:gd name="T43" fmla="*/ 151 h 387"/>
                  <a:gd name="T44" fmla="*/ 130 w 270"/>
                  <a:gd name="T45" fmla="*/ 69 h 387"/>
                  <a:gd name="T46" fmla="*/ 113 w 270"/>
                  <a:gd name="T47" fmla="*/ 48 h 387"/>
                  <a:gd name="T48" fmla="*/ 135 w 270"/>
                  <a:gd name="T49" fmla="*/ 27 h 387"/>
                  <a:gd name="T50" fmla="*/ 156 w 270"/>
                  <a:gd name="T51" fmla="*/ 48 h 387"/>
                  <a:gd name="T52" fmla="*/ 139 w 270"/>
                  <a:gd name="T53" fmla="*/ 69 h 387"/>
                  <a:gd name="T54" fmla="*/ 139 w 270"/>
                  <a:gd name="T55" fmla="*/ 151 h 387"/>
                  <a:gd name="T56" fmla="*/ 180 w 270"/>
                  <a:gd name="T57" fmla="*/ 151 h 387"/>
                  <a:gd name="T58" fmla="*/ 191 w 270"/>
                  <a:gd name="T59" fmla="*/ 167 h 387"/>
                  <a:gd name="T60" fmla="*/ 200 w 270"/>
                  <a:gd name="T61" fmla="*/ 353 h 387"/>
                  <a:gd name="T62" fmla="*/ 207 w 270"/>
                  <a:gd name="T63" fmla="*/ 387 h 387"/>
                  <a:gd name="T64" fmla="*/ 233 w 270"/>
                  <a:gd name="T65" fmla="*/ 387 h 387"/>
                  <a:gd name="T66" fmla="*/ 224 w 270"/>
                  <a:gd name="T67" fmla="*/ 367 h 387"/>
                  <a:gd name="T68" fmla="*/ 239 w 270"/>
                  <a:gd name="T69" fmla="*/ 387 h 387"/>
                  <a:gd name="T70" fmla="*/ 270 w 270"/>
                  <a:gd name="T71" fmla="*/ 387 h 387"/>
                  <a:gd name="T72" fmla="*/ 244 w 270"/>
                  <a:gd name="T73" fmla="*/ 309 h 387"/>
                  <a:gd name="T74" fmla="*/ 235 w 270"/>
                  <a:gd name="T75" fmla="*/ 142 h 387"/>
                  <a:gd name="T76" fmla="*/ 209 w 270"/>
                  <a:gd name="T77" fmla="*/ 108 h 387"/>
                  <a:gd name="T78" fmla="*/ 188 w 270"/>
                  <a:gd name="T79" fmla="*/ 108 h 387"/>
                  <a:gd name="T80" fmla="*/ 182 w 270"/>
                  <a:gd name="T81" fmla="*/ 45 h 387"/>
                  <a:gd name="T82" fmla="*/ 144 w 270"/>
                  <a:gd name="T83" fmla="*/ 23 h 387"/>
                  <a:gd name="T84" fmla="*/ 157 w 270"/>
                  <a:gd name="T85" fmla="*/ 20 h 387"/>
                  <a:gd name="T86" fmla="*/ 170 w 270"/>
                  <a:gd name="T87" fmla="*/ 20 h 387"/>
                  <a:gd name="T88" fmla="*/ 184 w 270"/>
                  <a:gd name="T89" fmla="*/ 0 h 387"/>
                  <a:gd name="T90" fmla="*/ 170 w 270"/>
                  <a:gd name="T91" fmla="*/ 6 h 387"/>
                  <a:gd name="T92" fmla="*/ 153 w 270"/>
                  <a:gd name="T93" fmla="*/ 6 h 387"/>
                  <a:gd name="T94" fmla="*/ 139 w 270"/>
                  <a:gd name="T95" fmla="*/ 22 h 387"/>
                  <a:gd name="T96" fmla="*/ 135 w 270"/>
                  <a:gd name="T97" fmla="*/ 22 h 3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70" h="387">
                    <a:moveTo>
                      <a:pt x="135" y="22"/>
                    </a:moveTo>
                    <a:cubicBezTo>
                      <a:pt x="133" y="22"/>
                      <a:pt x="132" y="22"/>
                      <a:pt x="131" y="22"/>
                    </a:cubicBezTo>
                    <a:cubicBezTo>
                      <a:pt x="130" y="15"/>
                      <a:pt x="126" y="6"/>
                      <a:pt x="117" y="6"/>
                    </a:cubicBezTo>
                    <a:cubicBezTo>
                      <a:pt x="110" y="6"/>
                      <a:pt x="106" y="6"/>
                      <a:pt x="99" y="6"/>
                    </a:cubicBezTo>
                    <a:cubicBezTo>
                      <a:pt x="93" y="6"/>
                      <a:pt x="88" y="4"/>
                      <a:pt x="85" y="0"/>
                    </a:cubicBezTo>
                    <a:cubicBezTo>
                      <a:pt x="87" y="9"/>
                      <a:pt x="90" y="18"/>
                      <a:pt x="100" y="20"/>
                    </a:cubicBezTo>
                    <a:cubicBezTo>
                      <a:pt x="104" y="20"/>
                      <a:pt x="109" y="20"/>
                      <a:pt x="113" y="20"/>
                    </a:cubicBezTo>
                    <a:cubicBezTo>
                      <a:pt x="120" y="20"/>
                      <a:pt x="123" y="21"/>
                      <a:pt x="126" y="23"/>
                    </a:cubicBezTo>
                    <a:cubicBezTo>
                      <a:pt x="109" y="24"/>
                      <a:pt x="93" y="30"/>
                      <a:pt x="88" y="45"/>
                    </a:cubicBezTo>
                    <a:cubicBezTo>
                      <a:pt x="83" y="59"/>
                      <a:pt x="85" y="92"/>
                      <a:pt x="82" y="108"/>
                    </a:cubicBezTo>
                    <a:cubicBezTo>
                      <a:pt x="75" y="108"/>
                      <a:pt x="67" y="108"/>
                      <a:pt x="60" y="108"/>
                    </a:cubicBezTo>
                    <a:cubicBezTo>
                      <a:pt x="42" y="107"/>
                      <a:pt x="36" y="123"/>
                      <a:pt x="35" y="142"/>
                    </a:cubicBezTo>
                    <a:cubicBezTo>
                      <a:pt x="32" y="198"/>
                      <a:pt x="28" y="253"/>
                      <a:pt x="25" y="309"/>
                    </a:cubicBezTo>
                    <a:cubicBezTo>
                      <a:pt x="23" y="352"/>
                      <a:pt x="14" y="372"/>
                      <a:pt x="0" y="387"/>
                    </a:cubicBezTo>
                    <a:cubicBezTo>
                      <a:pt x="10" y="387"/>
                      <a:pt x="20" y="387"/>
                      <a:pt x="30" y="387"/>
                    </a:cubicBezTo>
                    <a:cubicBezTo>
                      <a:pt x="35" y="383"/>
                      <a:pt x="38" y="378"/>
                      <a:pt x="45" y="367"/>
                    </a:cubicBezTo>
                    <a:cubicBezTo>
                      <a:pt x="42" y="377"/>
                      <a:pt x="40" y="382"/>
                      <a:pt x="37" y="387"/>
                    </a:cubicBezTo>
                    <a:cubicBezTo>
                      <a:pt x="46" y="387"/>
                      <a:pt x="54" y="387"/>
                      <a:pt x="63" y="387"/>
                    </a:cubicBezTo>
                    <a:cubicBezTo>
                      <a:pt x="68" y="377"/>
                      <a:pt x="70" y="365"/>
                      <a:pt x="70" y="353"/>
                    </a:cubicBezTo>
                    <a:cubicBezTo>
                      <a:pt x="73" y="291"/>
                      <a:pt x="76" y="229"/>
                      <a:pt x="78" y="167"/>
                    </a:cubicBezTo>
                    <a:cubicBezTo>
                      <a:pt x="79" y="157"/>
                      <a:pt x="82" y="151"/>
                      <a:pt x="90" y="151"/>
                    </a:cubicBezTo>
                    <a:cubicBezTo>
                      <a:pt x="103" y="151"/>
                      <a:pt x="117" y="151"/>
                      <a:pt x="130" y="151"/>
                    </a:cubicBezTo>
                    <a:cubicBezTo>
                      <a:pt x="130" y="124"/>
                      <a:pt x="130" y="96"/>
                      <a:pt x="130" y="69"/>
                    </a:cubicBezTo>
                    <a:cubicBezTo>
                      <a:pt x="121" y="67"/>
                      <a:pt x="113" y="58"/>
                      <a:pt x="113" y="48"/>
                    </a:cubicBezTo>
                    <a:cubicBezTo>
                      <a:pt x="113" y="36"/>
                      <a:pt x="123" y="27"/>
                      <a:pt x="135" y="27"/>
                    </a:cubicBezTo>
                    <a:cubicBezTo>
                      <a:pt x="147" y="27"/>
                      <a:pt x="156" y="36"/>
                      <a:pt x="156" y="48"/>
                    </a:cubicBezTo>
                    <a:cubicBezTo>
                      <a:pt x="156" y="58"/>
                      <a:pt x="149" y="67"/>
                      <a:pt x="139" y="69"/>
                    </a:cubicBezTo>
                    <a:cubicBezTo>
                      <a:pt x="139" y="96"/>
                      <a:pt x="139" y="124"/>
                      <a:pt x="139" y="151"/>
                    </a:cubicBezTo>
                    <a:cubicBezTo>
                      <a:pt x="153" y="151"/>
                      <a:pt x="166" y="151"/>
                      <a:pt x="180" y="151"/>
                    </a:cubicBezTo>
                    <a:cubicBezTo>
                      <a:pt x="188" y="151"/>
                      <a:pt x="191" y="157"/>
                      <a:pt x="191" y="167"/>
                    </a:cubicBezTo>
                    <a:cubicBezTo>
                      <a:pt x="194" y="229"/>
                      <a:pt x="197" y="291"/>
                      <a:pt x="200" y="353"/>
                    </a:cubicBezTo>
                    <a:cubicBezTo>
                      <a:pt x="200" y="365"/>
                      <a:pt x="202" y="377"/>
                      <a:pt x="207" y="387"/>
                    </a:cubicBezTo>
                    <a:cubicBezTo>
                      <a:pt x="215" y="387"/>
                      <a:pt x="224" y="387"/>
                      <a:pt x="233" y="387"/>
                    </a:cubicBezTo>
                    <a:cubicBezTo>
                      <a:pt x="230" y="382"/>
                      <a:pt x="227" y="377"/>
                      <a:pt x="224" y="367"/>
                    </a:cubicBezTo>
                    <a:cubicBezTo>
                      <a:pt x="232" y="378"/>
                      <a:pt x="235" y="383"/>
                      <a:pt x="239" y="387"/>
                    </a:cubicBezTo>
                    <a:cubicBezTo>
                      <a:pt x="249" y="387"/>
                      <a:pt x="260" y="387"/>
                      <a:pt x="270" y="387"/>
                    </a:cubicBezTo>
                    <a:cubicBezTo>
                      <a:pt x="256" y="372"/>
                      <a:pt x="247" y="352"/>
                      <a:pt x="244" y="309"/>
                    </a:cubicBezTo>
                    <a:cubicBezTo>
                      <a:pt x="242" y="253"/>
                      <a:pt x="238" y="198"/>
                      <a:pt x="235" y="142"/>
                    </a:cubicBezTo>
                    <a:cubicBezTo>
                      <a:pt x="234" y="123"/>
                      <a:pt x="228" y="107"/>
                      <a:pt x="209" y="108"/>
                    </a:cubicBezTo>
                    <a:cubicBezTo>
                      <a:pt x="202" y="108"/>
                      <a:pt x="195" y="108"/>
                      <a:pt x="188" y="108"/>
                    </a:cubicBezTo>
                    <a:cubicBezTo>
                      <a:pt x="185" y="92"/>
                      <a:pt x="186" y="59"/>
                      <a:pt x="182" y="45"/>
                    </a:cubicBezTo>
                    <a:cubicBezTo>
                      <a:pt x="176" y="30"/>
                      <a:pt x="161" y="24"/>
                      <a:pt x="144" y="23"/>
                    </a:cubicBezTo>
                    <a:cubicBezTo>
                      <a:pt x="146" y="21"/>
                      <a:pt x="150" y="20"/>
                      <a:pt x="157" y="20"/>
                    </a:cubicBezTo>
                    <a:cubicBezTo>
                      <a:pt x="161" y="20"/>
                      <a:pt x="166" y="20"/>
                      <a:pt x="170" y="20"/>
                    </a:cubicBezTo>
                    <a:cubicBezTo>
                      <a:pt x="180" y="18"/>
                      <a:pt x="183" y="9"/>
                      <a:pt x="184" y="0"/>
                    </a:cubicBezTo>
                    <a:cubicBezTo>
                      <a:pt x="181" y="4"/>
                      <a:pt x="177" y="6"/>
                      <a:pt x="170" y="6"/>
                    </a:cubicBezTo>
                    <a:cubicBezTo>
                      <a:pt x="164" y="6"/>
                      <a:pt x="159" y="6"/>
                      <a:pt x="153" y="6"/>
                    </a:cubicBezTo>
                    <a:cubicBezTo>
                      <a:pt x="144" y="6"/>
                      <a:pt x="140" y="15"/>
                      <a:pt x="139" y="22"/>
                    </a:cubicBezTo>
                    <a:cubicBezTo>
                      <a:pt x="138" y="22"/>
                      <a:pt x="136" y="22"/>
                      <a:pt x="135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3" name="išļîḍé"/>
              <p:cNvSpPr/>
              <p:nvPr/>
            </p:nvSpPr>
            <p:spPr bwMode="auto">
              <a:xfrm>
                <a:off x="1735138" y="2095500"/>
                <a:ext cx="2667000" cy="2670175"/>
              </a:xfrm>
              <a:custGeom>
                <a:avLst/>
                <a:gdLst>
                  <a:gd name="T0" fmla="*/ 404 w 809"/>
                  <a:gd name="T1" fmla="*/ 0 h 809"/>
                  <a:gd name="T2" fmla="*/ 809 w 809"/>
                  <a:gd name="T3" fmla="*/ 404 h 809"/>
                  <a:gd name="T4" fmla="*/ 404 w 809"/>
                  <a:gd name="T5" fmla="*/ 809 h 809"/>
                  <a:gd name="T6" fmla="*/ 0 w 809"/>
                  <a:gd name="T7" fmla="*/ 404 h 809"/>
                  <a:gd name="T8" fmla="*/ 404 w 809"/>
                  <a:gd name="T9" fmla="*/ 0 h 809"/>
                  <a:gd name="T10" fmla="*/ 404 w 809"/>
                  <a:gd name="T11" fmla="*/ 0 h 809"/>
                  <a:gd name="T12" fmla="*/ 404 w 809"/>
                  <a:gd name="T13" fmla="*/ 14 h 809"/>
                  <a:gd name="T14" fmla="*/ 14 w 809"/>
                  <a:gd name="T15" fmla="*/ 404 h 809"/>
                  <a:gd name="T16" fmla="*/ 404 w 809"/>
                  <a:gd name="T17" fmla="*/ 795 h 809"/>
                  <a:gd name="T18" fmla="*/ 795 w 809"/>
                  <a:gd name="T19" fmla="*/ 404 h 809"/>
                  <a:gd name="T20" fmla="*/ 404 w 809"/>
                  <a:gd name="T21" fmla="*/ 14 h 8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09" h="809">
                    <a:moveTo>
                      <a:pt x="404" y="0"/>
                    </a:moveTo>
                    <a:cubicBezTo>
                      <a:pt x="627" y="0"/>
                      <a:pt x="809" y="182"/>
                      <a:pt x="809" y="404"/>
                    </a:cubicBezTo>
                    <a:cubicBezTo>
                      <a:pt x="809" y="627"/>
                      <a:pt x="627" y="809"/>
                      <a:pt x="404" y="809"/>
                    </a:cubicBezTo>
                    <a:cubicBezTo>
                      <a:pt x="181" y="809"/>
                      <a:pt x="0" y="627"/>
                      <a:pt x="0" y="404"/>
                    </a:cubicBezTo>
                    <a:cubicBezTo>
                      <a:pt x="0" y="182"/>
                      <a:pt x="181" y="0"/>
                      <a:pt x="404" y="0"/>
                    </a:cubicBezTo>
                    <a:cubicBezTo>
                      <a:pt x="404" y="0"/>
                      <a:pt x="404" y="0"/>
                      <a:pt x="404" y="0"/>
                    </a:cubicBezTo>
                    <a:close/>
                    <a:moveTo>
                      <a:pt x="404" y="14"/>
                    </a:moveTo>
                    <a:cubicBezTo>
                      <a:pt x="189" y="14"/>
                      <a:pt x="14" y="189"/>
                      <a:pt x="14" y="404"/>
                    </a:cubicBezTo>
                    <a:cubicBezTo>
                      <a:pt x="14" y="619"/>
                      <a:pt x="189" y="795"/>
                      <a:pt x="404" y="795"/>
                    </a:cubicBezTo>
                    <a:cubicBezTo>
                      <a:pt x="619" y="795"/>
                      <a:pt x="795" y="619"/>
                      <a:pt x="795" y="404"/>
                    </a:cubicBezTo>
                    <a:cubicBezTo>
                      <a:pt x="795" y="189"/>
                      <a:pt x="619" y="14"/>
                      <a:pt x="404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4" name="ïṧ1ïḍé"/>
              <p:cNvSpPr/>
              <p:nvPr/>
            </p:nvSpPr>
            <p:spPr bwMode="auto">
              <a:xfrm>
                <a:off x="1897063" y="3373438"/>
                <a:ext cx="2333625" cy="1227138"/>
              </a:xfrm>
              <a:custGeom>
                <a:avLst/>
                <a:gdLst>
                  <a:gd name="T0" fmla="*/ 21 w 708"/>
                  <a:gd name="T1" fmla="*/ 23 h 372"/>
                  <a:gd name="T2" fmla="*/ 53 w 708"/>
                  <a:gd name="T3" fmla="*/ 35 h 372"/>
                  <a:gd name="T4" fmla="*/ 51 w 708"/>
                  <a:gd name="T5" fmla="*/ 26 h 372"/>
                  <a:gd name="T6" fmla="*/ 18 w 708"/>
                  <a:gd name="T7" fmla="*/ 47 h 372"/>
                  <a:gd name="T8" fmla="*/ 18 w 708"/>
                  <a:gd name="T9" fmla="*/ 88 h 372"/>
                  <a:gd name="T10" fmla="*/ 48 w 708"/>
                  <a:gd name="T11" fmla="*/ 67 h 372"/>
                  <a:gd name="T12" fmla="*/ 18 w 708"/>
                  <a:gd name="T13" fmla="*/ 88 h 372"/>
                  <a:gd name="T14" fmla="*/ 62 w 708"/>
                  <a:gd name="T15" fmla="*/ 109 h 372"/>
                  <a:gd name="T16" fmla="*/ 64 w 708"/>
                  <a:gd name="T17" fmla="*/ 147 h 372"/>
                  <a:gd name="T18" fmla="*/ 42 w 708"/>
                  <a:gd name="T19" fmla="*/ 155 h 372"/>
                  <a:gd name="T20" fmla="*/ 57 w 708"/>
                  <a:gd name="T21" fmla="*/ 206 h 372"/>
                  <a:gd name="T22" fmla="*/ 116 w 708"/>
                  <a:gd name="T23" fmla="*/ 203 h 372"/>
                  <a:gd name="T24" fmla="*/ 93 w 708"/>
                  <a:gd name="T25" fmla="*/ 174 h 372"/>
                  <a:gd name="T26" fmla="*/ 46 w 708"/>
                  <a:gd name="T27" fmla="*/ 181 h 372"/>
                  <a:gd name="T28" fmla="*/ 129 w 708"/>
                  <a:gd name="T29" fmla="*/ 265 h 372"/>
                  <a:gd name="T30" fmla="*/ 149 w 708"/>
                  <a:gd name="T31" fmla="*/ 251 h 372"/>
                  <a:gd name="T32" fmla="*/ 121 w 708"/>
                  <a:gd name="T33" fmla="*/ 221 h 372"/>
                  <a:gd name="T34" fmla="*/ 111 w 708"/>
                  <a:gd name="T35" fmla="*/ 252 h 372"/>
                  <a:gd name="T36" fmla="*/ 164 w 708"/>
                  <a:gd name="T37" fmla="*/ 295 h 372"/>
                  <a:gd name="T38" fmla="*/ 175 w 708"/>
                  <a:gd name="T39" fmla="*/ 321 h 372"/>
                  <a:gd name="T40" fmla="*/ 132 w 708"/>
                  <a:gd name="T41" fmla="*/ 292 h 372"/>
                  <a:gd name="T42" fmla="*/ 146 w 708"/>
                  <a:gd name="T43" fmla="*/ 291 h 372"/>
                  <a:gd name="T44" fmla="*/ 211 w 708"/>
                  <a:gd name="T45" fmla="*/ 283 h 372"/>
                  <a:gd name="T46" fmla="*/ 260 w 708"/>
                  <a:gd name="T47" fmla="*/ 308 h 372"/>
                  <a:gd name="T48" fmla="*/ 205 w 708"/>
                  <a:gd name="T49" fmla="*/ 335 h 372"/>
                  <a:gd name="T50" fmla="*/ 342 w 708"/>
                  <a:gd name="T51" fmla="*/ 329 h 372"/>
                  <a:gd name="T52" fmla="*/ 344 w 708"/>
                  <a:gd name="T53" fmla="*/ 352 h 372"/>
                  <a:gd name="T54" fmla="*/ 303 w 708"/>
                  <a:gd name="T55" fmla="*/ 320 h 372"/>
                  <a:gd name="T56" fmla="*/ 320 w 708"/>
                  <a:gd name="T57" fmla="*/ 364 h 372"/>
                  <a:gd name="T58" fmla="*/ 360 w 708"/>
                  <a:gd name="T59" fmla="*/ 321 h 372"/>
                  <a:gd name="T60" fmla="*/ 416 w 708"/>
                  <a:gd name="T61" fmla="*/ 315 h 372"/>
                  <a:gd name="T62" fmla="*/ 384 w 708"/>
                  <a:gd name="T63" fmla="*/ 368 h 372"/>
                  <a:gd name="T64" fmla="*/ 464 w 708"/>
                  <a:gd name="T65" fmla="*/ 350 h 372"/>
                  <a:gd name="T66" fmla="*/ 433 w 708"/>
                  <a:gd name="T67" fmla="*/ 313 h 372"/>
                  <a:gd name="T68" fmla="*/ 508 w 708"/>
                  <a:gd name="T69" fmla="*/ 337 h 372"/>
                  <a:gd name="T70" fmla="*/ 500 w 708"/>
                  <a:gd name="T71" fmla="*/ 285 h 372"/>
                  <a:gd name="T72" fmla="*/ 483 w 708"/>
                  <a:gd name="T73" fmla="*/ 294 h 372"/>
                  <a:gd name="T74" fmla="*/ 508 w 708"/>
                  <a:gd name="T75" fmla="*/ 337 h 372"/>
                  <a:gd name="T76" fmla="*/ 515 w 708"/>
                  <a:gd name="T77" fmla="*/ 276 h 372"/>
                  <a:gd name="T78" fmla="*/ 548 w 708"/>
                  <a:gd name="T79" fmla="*/ 279 h 372"/>
                  <a:gd name="T80" fmla="*/ 550 w 708"/>
                  <a:gd name="T81" fmla="*/ 283 h 372"/>
                  <a:gd name="T82" fmla="*/ 547 w 708"/>
                  <a:gd name="T83" fmla="*/ 316 h 372"/>
                  <a:gd name="T84" fmla="*/ 609 w 708"/>
                  <a:gd name="T85" fmla="*/ 250 h 372"/>
                  <a:gd name="T86" fmla="*/ 608 w 708"/>
                  <a:gd name="T87" fmla="*/ 227 h 372"/>
                  <a:gd name="T88" fmla="*/ 573 w 708"/>
                  <a:gd name="T89" fmla="*/ 241 h 372"/>
                  <a:gd name="T90" fmla="*/ 609 w 708"/>
                  <a:gd name="T91" fmla="*/ 250 h 372"/>
                  <a:gd name="T92" fmla="*/ 656 w 708"/>
                  <a:gd name="T93" fmla="*/ 184 h 372"/>
                  <a:gd name="T94" fmla="*/ 613 w 708"/>
                  <a:gd name="T95" fmla="*/ 172 h 372"/>
                  <a:gd name="T96" fmla="*/ 625 w 708"/>
                  <a:gd name="T97" fmla="*/ 165 h 372"/>
                  <a:gd name="T98" fmla="*/ 650 w 708"/>
                  <a:gd name="T99" fmla="*/ 169 h 372"/>
                  <a:gd name="T100" fmla="*/ 651 w 708"/>
                  <a:gd name="T101" fmla="*/ 215 h 372"/>
                  <a:gd name="T102" fmla="*/ 635 w 708"/>
                  <a:gd name="T103" fmla="*/ 139 h 372"/>
                  <a:gd name="T104" fmla="*/ 683 w 708"/>
                  <a:gd name="T105" fmla="*/ 137 h 372"/>
                  <a:gd name="T106" fmla="*/ 655 w 708"/>
                  <a:gd name="T107" fmla="*/ 73 h 372"/>
                  <a:gd name="T108" fmla="*/ 690 w 708"/>
                  <a:gd name="T109" fmla="*/ 98 h 372"/>
                  <a:gd name="T110" fmla="*/ 684 w 708"/>
                  <a:gd name="T111" fmla="*/ 17 h 372"/>
                  <a:gd name="T112" fmla="*/ 698 w 708"/>
                  <a:gd name="T113" fmla="*/ 34 h 372"/>
                  <a:gd name="T114" fmla="*/ 659 w 708"/>
                  <a:gd name="T115" fmla="*/ 29 h 372"/>
                  <a:gd name="T116" fmla="*/ 659 w 708"/>
                  <a:gd name="T117" fmla="*/ 11 h 372"/>
                  <a:gd name="T118" fmla="*/ 663 w 708"/>
                  <a:gd name="T119" fmla="*/ 6 h 3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708" h="372">
                    <a:moveTo>
                      <a:pt x="0" y="6"/>
                    </a:moveTo>
                    <a:cubicBezTo>
                      <a:pt x="19" y="6"/>
                      <a:pt x="19" y="6"/>
                      <a:pt x="19" y="6"/>
                    </a:cubicBezTo>
                    <a:cubicBezTo>
                      <a:pt x="19" y="8"/>
                      <a:pt x="19" y="8"/>
                      <a:pt x="19" y="8"/>
                    </a:cubicBezTo>
                    <a:cubicBezTo>
                      <a:pt x="15" y="9"/>
                      <a:pt x="11" y="11"/>
                      <a:pt x="8" y="14"/>
                    </a:cubicBezTo>
                    <a:cubicBezTo>
                      <a:pt x="5" y="18"/>
                      <a:pt x="4" y="22"/>
                      <a:pt x="4" y="26"/>
                    </a:cubicBezTo>
                    <a:cubicBezTo>
                      <a:pt x="4" y="29"/>
                      <a:pt x="5" y="32"/>
                      <a:pt x="6" y="33"/>
                    </a:cubicBezTo>
                    <a:cubicBezTo>
                      <a:pt x="7" y="35"/>
                      <a:pt x="9" y="36"/>
                      <a:pt x="11" y="36"/>
                    </a:cubicBezTo>
                    <a:cubicBezTo>
                      <a:pt x="14" y="36"/>
                      <a:pt x="18" y="32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2" y="22"/>
                      <a:pt x="22" y="22"/>
                      <a:pt x="22" y="21"/>
                    </a:cubicBezTo>
                    <a:cubicBezTo>
                      <a:pt x="25" y="15"/>
                      <a:pt x="27" y="11"/>
                      <a:pt x="30" y="9"/>
                    </a:cubicBezTo>
                    <a:cubicBezTo>
                      <a:pt x="31" y="8"/>
                      <a:pt x="32" y="7"/>
                      <a:pt x="34" y="7"/>
                    </a:cubicBezTo>
                    <a:cubicBezTo>
                      <a:pt x="35" y="6"/>
                      <a:pt x="36" y="6"/>
                      <a:pt x="38" y="6"/>
                    </a:cubicBezTo>
                    <a:cubicBezTo>
                      <a:pt x="43" y="6"/>
                      <a:pt x="47" y="8"/>
                      <a:pt x="50" y="11"/>
                    </a:cubicBezTo>
                    <a:cubicBezTo>
                      <a:pt x="53" y="15"/>
                      <a:pt x="55" y="19"/>
                      <a:pt x="55" y="25"/>
                    </a:cubicBezTo>
                    <a:cubicBezTo>
                      <a:pt x="55" y="28"/>
                      <a:pt x="54" y="31"/>
                      <a:pt x="53" y="35"/>
                    </a:cubicBezTo>
                    <a:cubicBezTo>
                      <a:pt x="52" y="38"/>
                      <a:pt x="51" y="40"/>
                      <a:pt x="51" y="40"/>
                    </a:cubicBezTo>
                    <a:cubicBezTo>
                      <a:pt x="51" y="41"/>
                      <a:pt x="52" y="41"/>
                      <a:pt x="52" y="42"/>
                    </a:cubicBezTo>
                    <a:cubicBezTo>
                      <a:pt x="53" y="42"/>
                      <a:pt x="53" y="42"/>
                      <a:pt x="55" y="42"/>
                    </a:cubicBezTo>
                    <a:cubicBezTo>
                      <a:pt x="55" y="44"/>
                      <a:pt x="55" y="44"/>
                      <a:pt x="55" y="44"/>
                    </a:cubicBezTo>
                    <a:cubicBezTo>
                      <a:pt x="38" y="45"/>
                      <a:pt x="38" y="45"/>
                      <a:pt x="38" y="45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42" y="42"/>
                      <a:pt x="45" y="40"/>
                      <a:pt x="48" y="37"/>
                    </a:cubicBezTo>
                    <a:cubicBezTo>
                      <a:pt x="50" y="34"/>
                      <a:pt x="51" y="30"/>
                      <a:pt x="51" y="26"/>
                    </a:cubicBezTo>
                    <a:cubicBezTo>
                      <a:pt x="51" y="24"/>
                      <a:pt x="51" y="22"/>
                      <a:pt x="49" y="20"/>
                    </a:cubicBezTo>
                    <a:cubicBezTo>
                      <a:pt x="48" y="19"/>
                      <a:pt x="47" y="18"/>
                      <a:pt x="45" y="18"/>
                    </a:cubicBezTo>
                    <a:cubicBezTo>
                      <a:pt x="42" y="18"/>
                      <a:pt x="39" y="21"/>
                      <a:pt x="37" y="28"/>
                    </a:cubicBezTo>
                    <a:cubicBezTo>
                      <a:pt x="36" y="29"/>
                      <a:pt x="36" y="29"/>
                      <a:pt x="36" y="29"/>
                    </a:cubicBezTo>
                    <a:cubicBezTo>
                      <a:pt x="34" y="33"/>
                      <a:pt x="33" y="37"/>
                      <a:pt x="32" y="39"/>
                    </a:cubicBezTo>
                    <a:cubicBezTo>
                      <a:pt x="31" y="40"/>
                      <a:pt x="30" y="42"/>
                      <a:pt x="29" y="43"/>
                    </a:cubicBezTo>
                    <a:cubicBezTo>
                      <a:pt x="27" y="44"/>
                      <a:pt x="26" y="45"/>
                      <a:pt x="24" y="46"/>
                    </a:cubicBezTo>
                    <a:cubicBezTo>
                      <a:pt x="22" y="47"/>
                      <a:pt x="20" y="47"/>
                      <a:pt x="18" y="47"/>
                    </a:cubicBezTo>
                    <a:cubicBezTo>
                      <a:pt x="13" y="47"/>
                      <a:pt x="9" y="46"/>
                      <a:pt x="6" y="42"/>
                    </a:cubicBezTo>
                    <a:cubicBezTo>
                      <a:pt x="2" y="38"/>
                      <a:pt x="1" y="34"/>
                      <a:pt x="1" y="28"/>
                    </a:cubicBezTo>
                    <a:cubicBezTo>
                      <a:pt x="1" y="25"/>
                      <a:pt x="1" y="21"/>
                      <a:pt x="2" y="17"/>
                    </a:cubicBezTo>
                    <a:cubicBezTo>
                      <a:pt x="3" y="14"/>
                      <a:pt x="4" y="12"/>
                      <a:pt x="4" y="12"/>
                    </a:cubicBezTo>
                    <a:cubicBezTo>
                      <a:pt x="4" y="11"/>
                      <a:pt x="3" y="10"/>
                      <a:pt x="3" y="9"/>
                    </a:cubicBezTo>
                    <a:cubicBezTo>
                      <a:pt x="2" y="9"/>
                      <a:pt x="1" y="9"/>
                      <a:pt x="0" y="9"/>
                    </a:cubicBezTo>
                    <a:cubicBezTo>
                      <a:pt x="0" y="6"/>
                      <a:pt x="0" y="6"/>
                      <a:pt x="0" y="6"/>
                    </a:cubicBezTo>
                    <a:close/>
                    <a:moveTo>
                      <a:pt x="18" y="88"/>
                    </a:moveTo>
                    <a:cubicBezTo>
                      <a:pt x="16" y="89"/>
                      <a:pt x="14" y="90"/>
                      <a:pt x="13" y="91"/>
                    </a:cubicBezTo>
                    <a:cubicBezTo>
                      <a:pt x="12" y="92"/>
                      <a:pt x="12" y="94"/>
                      <a:pt x="12" y="96"/>
                    </a:cubicBezTo>
                    <a:cubicBezTo>
                      <a:pt x="10" y="96"/>
                      <a:pt x="10" y="96"/>
                      <a:pt x="10" y="96"/>
                    </a:cubicBezTo>
                    <a:cubicBezTo>
                      <a:pt x="5" y="68"/>
                      <a:pt x="5" y="68"/>
                      <a:pt x="5" y="68"/>
                    </a:cubicBezTo>
                    <a:cubicBezTo>
                      <a:pt x="7" y="67"/>
                      <a:pt x="7" y="67"/>
                      <a:pt x="7" y="67"/>
                    </a:cubicBezTo>
                    <a:cubicBezTo>
                      <a:pt x="8" y="70"/>
                      <a:pt x="8" y="71"/>
                      <a:pt x="10" y="72"/>
                    </a:cubicBezTo>
                    <a:cubicBezTo>
                      <a:pt x="11" y="73"/>
                      <a:pt x="13" y="73"/>
                      <a:pt x="16" y="73"/>
                    </a:cubicBezTo>
                    <a:cubicBezTo>
                      <a:pt x="48" y="67"/>
                      <a:pt x="48" y="67"/>
                      <a:pt x="48" y="67"/>
                    </a:cubicBezTo>
                    <a:cubicBezTo>
                      <a:pt x="50" y="66"/>
                      <a:pt x="52" y="66"/>
                      <a:pt x="53" y="64"/>
                    </a:cubicBezTo>
                    <a:cubicBezTo>
                      <a:pt x="54" y="63"/>
                      <a:pt x="54" y="61"/>
                      <a:pt x="54" y="59"/>
                    </a:cubicBezTo>
                    <a:cubicBezTo>
                      <a:pt x="56" y="59"/>
                      <a:pt x="56" y="59"/>
                      <a:pt x="56" y="59"/>
                    </a:cubicBezTo>
                    <a:cubicBezTo>
                      <a:pt x="61" y="88"/>
                      <a:pt x="61" y="88"/>
                      <a:pt x="61" y="88"/>
                    </a:cubicBezTo>
                    <a:cubicBezTo>
                      <a:pt x="59" y="88"/>
                      <a:pt x="59" y="88"/>
                      <a:pt x="59" y="88"/>
                    </a:cubicBezTo>
                    <a:cubicBezTo>
                      <a:pt x="59" y="85"/>
                      <a:pt x="58" y="84"/>
                      <a:pt x="56" y="83"/>
                    </a:cubicBezTo>
                    <a:cubicBezTo>
                      <a:pt x="55" y="82"/>
                      <a:pt x="53" y="82"/>
                      <a:pt x="51" y="83"/>
                    </a:cubicBezTo>
                    <a:cubicBezTo>
                      <a:pt x="18" y="88"/>
                      <a:pt x="18" y="88"/>
                      <a:pt x="18" y="88"/>
                    </a:cubicBezTo>
                    <a:close/>
                    <a:moveTo>
                      <a:pt x="41" y="158"/>
                    </a:moveTo>
                    <a:cubicBezTo>
                      <a:pt x="37" y="157"/>
                      <a:pt x="33" y="155"/>
                      <a:pt x="30" y="152"/>
                    </a:cubicBezTo>
                    <a:cubicBezTo>
                      <a:pt x="27" y="149"/>
                      <a:pt x="24" y="145"/>
                      <a:pt x="23" y="141"/>
                    </a:cubicBezTo>
                    <a:cubicBezTo>
                      <a:pt x="22" y="137"/>
                      <a:pt x="21" y="134"/>
                      <a:pt x="22" y="131"/>
                    </a:cubicBezTo>
                    <a:cubicBezTo>
                      <a:pt x="22" y="128"/>
                      <a:pt x="23" y="125"/>
                      <a:pt x="24" y="122"/>
                    </a:cubicBezTo>
                    <a:cubicBezTo>
                      <a:pt x="26" y="118"/>
                      <a:pt x="28" y="116"/>
                      <a:pt x="31" y="113"/>
                    </a:cubicBezTo>
                    <a:cubicBezTo>
                      <a:pt x="34" y="111"/>
                      <a:pt x="37" y="109"/>
                      <a:pt x="41" y="108"/>
                    </a:cubicBezTo>
                    <a:cubicBezTo>
                      <a:pt x="49" y="105"/>
                      <a:pt x="55" y="106"/>
                      <a:pt x="62" y="109"/>
                    </a:cubicBezTo>
                    <a:cubicBezTo>
                      <a:pt x="68" y="112"/>
                      <a:pt x="72" y="117"/>
                      <a:pt x="75" y="125"/>
                    </a:cubicBezTo>
                    <a:cubicBezTo>
                      <a:pt x="76" y="128"/>
                      <a:pt x="76" y="131"/>
                      <a:pt x="76" y="135"/>
                    </a:cubicBezTo>
                    <a:cubicBezTo>
                      <a:pt x="76" y="138"/>
                      <a:pt x="76" y="140"/>
                      <a:pt x="76" y="140"/>
                    </a:cubicBezTo>
                    <a:cubicBezTo>
                      <a:pt x="76" y="141"/>
                      <a:pt x="77" y="141"/>
                      <a:pt x="77" y="141"/>
                    </a:cubicBezTo>
                    <a:cubicBezTo>
                      <a:pt x="78" y="142"/>
                      <a:pt x="79" y="142"/>
                      <a:pt x="80" y="142"/>
                    </a:cubicBezTo>
                    <a:cubicBezTo>
                      <a:pt x="80" y="144"/>
                      <a:pt x="80" y="144"/>
                      <a:pt x="80" y="144"/>
                    </a:cubicBezTo>
                    <a:cubicBezTo>
                      <a:pt x="65" y="149"/>
                      <a:pt x="65" y="149"/>
                      <a:pt x="65" y="149"/>
                    </a:cubicBezTo>
                    <a:cubicBezTo>
                      <a:pt x="64" y="147"/>
                      <a:pt x="64" y="147"/>
                      <a:pt x="64" y="147"/>
                    </a:cubicBezTo>
                    <a:cubicBezTo>
                      <a:pt x="68" y="145"/>
                      <a:pt x="70" y="142"/>
                      <a:pt x="72" y="139"/>
                    </a:cubicBezTo>
                    <a:cubicBezTo>
                      <a:pt x="73" y="137"/>
                      <a:pt x="73" y="133"/>
                      <a:pt x="72" y="130"/>
                    </a:cubicBezTo>
                    <a:cubicBezTo>
                      <a:pt x="71" y="126"/>
                      <a:pt x="68" y="123"/>
                      <a:pt x="64" y="122"/>
                    </a:cubicBezTo>
                    <a:cubicBezTo>
                      <a:pt x="59" y="121"/>
                      <a:pt x="54" y="122"/>
                      <a:pt x="47" y="124"/>
                    </a:cubicBezTo>
                    <a:cubicBezTo>
                      <a:pt x="40" y="126"/>
                      <a:pt x="34" y="129"/>
                      <a:pt x="31" y="132"/>
                    </a:cubicBezTo>
                    <a:cubicBezTo>
                      <a:pt x="28" y="136"/>
                      <a:pt x="27" y="140"/>
                      <a:pt x="29" y="144"/>
                    </a:cubicBezTo>
                    <a:cubicBezTo>
                      <a:pt x="30" y="146"/>
                      <a:pt x="31" y="149"/>
                      <a:pt x="34" y="151"/>
                    </a:cubicBezTo>
                    <a:cubicBezTo>
                      <a:pt x="36" y="153"/>
                      <a:pt x="39" y="154"/>
                      <a:pt x="42" y="155"/>
                    </a:cubicBezTo>
                    <a:cubicBezTo>
                      <a:pt x="41" y="158"/>
                      <a:pt x="41" y="158"/>
                      <a:pt x="41" y="158"/>
                    </a:cubicBezTo>
                    <a:close/>
                    <a:moveTo>
                      <a:pt x="60" y="193"/>
                    </a:moveTo>
                    <a:cubicBezTo>
                      <a:pt x="73" y="185"/>
                      <a:pt x="73" y="185"/>
                      <a:pt x="73" y="185"/>
                    </a:cubicBezTo>
                    <a:cubicBezTo>
                      <a:pt x="81" y="198"/>
                      <a:pt x="81" y="198"/>
                      <a:pt x="81" y="198"/>
                    </a:cubicBezTo>
                    <a:cubicBezTo>
                      <a:pt x="68" y="207"/>
                      <a:pt x="68" y="207"/>
                      <a:pt x="68" y="207"/>
                    </a:cubicBezTo>
                    <a:cubicBezTo>
                      <a:pt x="66" y="208"/>
                      <a:pt x="64" y="208"/>
                      <a:pt x="63" y="208"/>
                    </a:cubicBezTo>
                    <a:cubicBezTo>
                      <a:pt x="61" y="208"/>
                      <a:pt x="60" y="207"/>
                      <a:pt x="59" y="205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72" y="231"/>
                      <a:pt x="72" y="231"/>
                      <a:pt x="72" y="231"/>
                    </a:cubicBezTo>
                    <a:cubicBezTo>
                      <a:pt x="74" y="230"/>
                      <a:pt x="74" y="230"/>
                      <a:pt x="74" y="230"/>
                    </a:cubicBezTo>
                    <a:cubicBezTo>
                      <a:pt x="73" y="228"/>
                      <a:pt x="72" y="226"/>
                      <a:pt x="73" y="224"/>
                    </a:cubicBezTo>
                    <a:cubicBezTo>
                      <a:pt x="73" y="223"/>
                      <a:pt x="75" y="222"/>
                      <a:pt x="77" y="220"/>
                    </a:cubicBezTo>
                    <a:cubicBezTo>
                      <a:pt x="105" y="203"/>
                      <a:pt x="105" y="203"/>
                      <a:pt x="105" y="203"/>
                    </a:cubicBezTo>
                    <a:cubicBezTo>
                      <a:pt x="107" y="201"/>
                      <a:pt x="109" y="201"/>
                      <a:pt x="110" y="201"/>
                    </a:cubicBezTo>
                    <a:cubicBezTo>
                      <a:pt x="112" y="201"/>
                      <a:pt x="113" y="202"/>
                      <a:pt x="114" y="204"/>
                    </a:cubicBezTo>
                    <a:cubicBezTo>
                      <a:pt x="116" y="203"/>
                      <a:pt x="116" y="203"/>
                      <a:pt x="116" y="203"/>
                    </a:cubicBezTo>
                    <a:cubicBezTo>
                      <a:pt x="101" y="179"/>
                      <a:pt x="101" y="179"/>
                      <a:pt x="101" y="179"/>
                    </a:cubicBezTo>
                    <a:cubicBezTo>
                      <a:pt x="99" y="180"/>
                      <a:pt x="99" y="180"/>
                      <a:pt x="99" y="180"/>
                    </a:cubicBezTo>
                    <a:cubicBezTo>
                      <a:pt x="100" y="182"/>
                      <a:pt x="101" y="183"/>
                      <a:pt x="100" y="185"/>
                    </a:cubicBezTo>
                    <a:cubicBezTo>
                      <a:pt x="100" y="186"/>
                      <a:pt x="98" y="188"/>
                      <a:pt x="96" y="189"/>
                    </a:cubicBezTo>
                    <a:cubicBezTo>
                      <a:pt x="85" y="196"/>
                      <a:pt x="85" y="196"/>
                      <a:pt x="85" y="196"/>
                    </a:cubicBezTo>
                    <a:cubicBezTo>
                      <a:pt x="76" y="183"/>
                      <a:pt x="76" y="183"/>
                      <a:pt x="76" y="183"/>
                    </a:cubicBezTo>
                    <a:cubicBezTo>
                      <a:pt x="88" y="176"/>
                      <a:pt x="88" y="176"/>
                      <a:pt x="88" y="176"/>
                    </a:cubicBezTo>
                    <a:cubicBezTo>
                      <a:pt x="90" y="174"/>
                      <a:pt x="92" y="174"/>
                      <a:pt x="93" y="174"/>
                    </a:cubicBezTo>
                    <a:cubicBezTo>
                      <a:pt x="95" y="174"/>
                      <a:pt x="96" y="175"/>
                      <a:pt x="98" y="177"/>
                    </a:cubicBezTo>
                    <a:cubicBezTo>
                      <a:pt x="99" y="176"/>
                      <a:pt x="99" y="176"/>
                      <a:pt x="99" y="176"/>
                    </a:cubicBezTo>
                    <a:cubicBezTo>
                      <a:pt x="84" y="152"/>
                      <a:pt x="84" y="152"/>
                      <a:pt x="84" y="152"/>
                    </a:cubicBezTo>
                    <a:cubicBezTo>
                      <a:pt x="82" y="153"/>
                      <a:pt x="82" y="153"/>
                      <a:pt x="82" y="153"/>
                    </a:cubicBezTo>
                    <a:cubicBezTo>
                      <a:pt x="83" y="155"/>
                      <a:pt x="84" y="157"/>
                      <a:pt x="83" y="158"/>
                    </a:cubicBezTo>
                    <a:cubicBezTo>
                      <a:pt x="83" y="159"/>
                      <a:pt x="82" y="161"/>
                      <a:pt x="79" y="162"/>
                    </a:cubicBezTo>
                    <a:cubicBezTo>
                      <a:pt x="52" y="180"/>
                      <a:pt x="52" y="180"/>
                      <a:pt x="52" y="180"/>
                    </a:cubicBezTo>
                    <a:cubicBezTo>
                      <a:pt x="49" y="181"/>
                      <a:pt x="47" y="182"/>
                      <a:pt x="46" y="181"/>
                    </a:cubicBezTo>
                    <a:cubicBezTo>
                      <a:pt x="44" y="181"/>
                      <a:pt x="43" y="180"/>
                      <a:pt x="42" y="178"/>
                    </a:cubicBezTo>
                    <a:cubicBezTo>
                      <a:pt x="40" y="179"/>
                      <a:pt x="40" y="179"/>
                      <a:pt x="40" y="179"/>
                    </a:cubicBezTo>
                    <a:cubicBezTo>
                      <a:pt x="56" y="204"/>
                      <a:pt x="56" y="204"/>
                      <a:pt x="56" y="204"/>
                    </a:cubicBezTo>
                    <a:cubicBezTo>
                      <a:pt x="57" y="203"/>
                      <a:pt x="57" y="203"/>
                      <a:pt x="57" y="203"/>
                    </a:cubicBezTo>
                    <a:cubicBezTo>
                      <a:pt x="56" y="201"/>
                      <a:pt x="56" y="199"/>
                      <a:pt x="56" y="197"/>
                    </a:cubicBezTo>
                    <a:cubicBezTo>
                      <a:pt x="56" y="196"/>
                      <a:pt x="58" y="195"/>
                      <a:pt x="60" y="193"/>
                    </a:cubicBezTo>
                    <a:cubicBezTo>
                      <a:pt x="60" y="193"/>
                      <a:pt x="60" y="193"/>
                      <a:pt x="60" y="193"/>
                    </a:cubicBezTo>
                    <a:close/>
                    <a:moveTo>
                      <a:pt x="129" y="265"/>
                    </a:moveTo>
                    <a:cubicBezTo>
                      <a:pt x="146" y="249"/>
                      <a:pt x="146" y="249"/>
                      <a:pt x="146" y="249"/>
                    </a:cubicBezTo>
                    <a:cubicBezTo>
                      <a:pt x="148" y="247"/>
                      <a:pt x="149" y="245"/>
                      <a:pt x="149" y="244"/>
                    </a:cubicBezTo>
                    <a:cubicBezTo>
                      <a:pt x="150" y="242"/>
                      <a:pt x="149" y="241"/>
                      <a:pt x="147" y="239"/>
                    </a:cubicBezTo>
                    <a:cubicBezTo>
                      <a:pt x="149" y="238"/>
                      <a:pt x="149" y="238"/>
                      <a:pt x="149" y="238"/>
                    </a:cubicBezTo>
                    <a:cubicBezTo>
                      <a:pt x="160" y="250"/>
                      <a:pt x="160" y="250"/>
                      <a:pt x="160" y="250"/>
                    </a:cubicBezTo>
                    <a:cubicBezTo>
                      <a:pt x="159" y="251"/>
                      <a:pt x="159" y="251"/>
                      <a:pt x="159" y="251"/>
                    </a:cubicBezTo>
                    <a:cubicBezTo>
                      <a:pt x="157" y="249"/>
                      <a:pt x="155" y="248"/>
                      <a:pt x="154" y="248"/>
                    </a:cubicBezTo>
                    <a:cubicBezTo>
                      <a:pt x="152" y="248"/>
                      <a:pt x="151" y="249"/>
                      <a:pt x="149" y="251"/>
                    </a:cubicBezTo>
                    <a:cubicBezTo>
                      <a:pt x="132" y="267"/>
                      <a:pt x="132" y="267"/>
                      <a:pt x="132" y="267"/>
                    </a:cubicBezTo>
                    <a:cubicBezTo>
                      <a:pt x="129" y="270"/>
                      <a:pt x="127" y="271"/>
                      <a:pt x="125" y="272"/>
                    </a:cubicBezTo>
                    <a:cubicBezTo>
                      <a:pt x="123" y="273"/>
                      <a:pt x="121" y="274"/>
                      <a:pt x="119" y="274"/>
                    </a:cubicBezTo>
                    <a:cubicBezTo>
                      <a:pt x="116" y="274"/>
                      <a:pt x="114" y="273"/>
                      <a:pt x="111" y="272"/>
                    </a:cubicBezTo>
                    <a:cubicBezTo>
                      <a:pt x="108" y="270"/>
                      <a:pt x="105" y="268"/>
                      <a:pt x="103" y="265"/>
                    </a:cubicBezTo>
                    <a:cubicBezTo>
                      <a:pt x="98" y="260"/>
                      <a:pt x="96" y="256"/>
                      <a:pt x="96" y="251"/>
                    </a:cubicBezTo>
                    <a:cubicBezTo>
                      <a:pt x="96" y="246"/>
                      <a:pt x="98" y="242"/>
                      <a:pt x="103" y="238"/>
                    </a:cubicBezTo>
                    <a:cubicBezTo>
                      <a:pt x="121" y="221"/>
                      <a:pt x="121" y="221"/>
                      <a:pt x="121" y="221"/>
                    </a:cubicBezTo>
                    <a:cubicBezTo>
                      <a:pt x="122" y="219"/>
                      <a:pt x="123" y="217"/>
                      <a:pt x="124" y="216"/>
                    </a:cubicBezTo>
                    <a:cubicBezTo>
                      <a:pt x="124" y="215"/>
                      <a:pt x="123" y="213"/>
                      <a:pt x="121" y="211"/>
                    </a:cubicBezTo>
                    <a:cubicBezTo>
                      <a:pt x="123" y="210"/>
                      <a:pt x="123" y="210"/>
                      <a:pt x="123" y="210"/>
                    </a:cubicBezTo>
                    <a:cubicBezTo>
                      <a:pt x="143" y="231"/>
                      <a:pt x="143" y="231"/>
                      <a:pt x="143" y="231"/>
                    </a:cubicBezTo>
                    <a:cubicBezTo>
                      <a:pt x="141" y="232"/>
                      <a:pt x="141" y="232"/>
                      <a:pt x="141" y="232"/>
                    </a:cubicBezTo>
                    <a:cubicBezTo>
                      <a:pt x="140" y="231"/>
                      <a:pt x="138" y="230"/>
                      <a:pt x="137" y="230"/>
                    </a:cubicBezTo>
                    <a:cubicBezTo>
                      <a:pt x="135" y="230"/>
                      <a:pt x="133" y="231"/>
                      <a:pt x="131" y="233"/>
                    </a:cubicBezTo>
                    <a:cubicBezTo>
                      <a:pt x="111" y="252"/>
                      <a:pt x="111" y="252"/>
                      <a:pt x="111" y="252"/>
                    </a:cubicBezTo>
                    <a:cubicBezTo>
                      <a:pt x="108" y="254"/>
                      <a:pt x="106" y="257"/>
                      <a:pt x="106" y="259"/>
                    </a:cubicBezTo>
                    <a:cubicBezTo>
                      <a:pt x="106" y="262"/>
                      <a:pt x="107" y="264"/>
                      <a:pt x="109" y="267"/>
                    </a:cubicBezTo>
                    <a:cubicBezTo>
                      <a:pt x="112" y="270"/>
                      <a:pt x="115" y="271"/>
                      <a:pt x="118" y="271"/>
                    </a:cubicBezTo>
                    <a:cubicBezTo>
                      <a:pt x="122" y="270"/>
                      <a:pt x="125" y="268"/>
                      <a:pt x="129" y="265"/>
                    </a:cubicBezTo>
                    <a:cubicBezTo>
                      <a:pt x="129" y="265"/>
                      <a:pt x="129" y="265"/>
                      <a:pt x="129" y="265"/>
                    </a:cubicBezTo>
                    <a:close/>
                    <a:moveTo>
                      <a:pt x="146" y="291"/>
                    </a:moveTo>
                    <a:cubicBezTo>
                      <a:pt x="153" y="287"/>
                      <a:pt x="153" y="287"/>
                      <a:pt x="153" y="287"/>
                    </a:cubicBezTo>
                    <a:cubicBezTo>
                      <a:pt x="164" y="295"/>
                      <a:pt x="164" y="295"/>
                      <a:pt x="164" y="295"/>
                    </a:cubicBezTo>
                    <a:cubicBezTo>
                      <a:pt x="161" y="304"/>
                      <a:pt x="161" y="304"/>
                      <a:pt x="161" y="304"/>
                    </a:cubicBezTo>
                    <a:cubicBezTo>
                      <a:pt x="161" y="305"/>
                      <a:pt x="161" y="305"/>
                      <a:pt x="160" y="305"/>
                    </a:cubicBezTo>
                    <a:cubicBezTo>
                      <a:pt x="160" y="306"/>
                      <a:pt x="160" y="306"/>
                      <a:pt x="160" y="306"/>
                    </a:cubicBezTo>
                    <a:cubicBezTo>
                      <a:pt x="159" y="307"/>
                      <a:pt x="158" y="308"/>
                      <a:pt x="158" y="308"/>
                    </a:cubicBezTo>
                    <a:cubicBezTo>
                      <a:pt x="157" y="307"/>
                      <a:pt x="155" y="307"/>
                      <a:pt x="153" y="305"/>
                    </a:cubicBezTo>
                    <a:cubicBezTo>
                      <a:pt x="152" y="307"/>
                      <a:pt x="152" y="307"/>
                      <a:pt x="152" y="307"/>
                    </a:cubicBezTo>
                    <a:cubicBezTo>
                      <a:pt x="174" y="322"/>
                      <a:pt x="174" y="322"/>
                      <a:pt x="174" y="322"/>
                    </a:cubicBezTo>
                    <a:cubicBezTo>
                      <a:pt x="175" y="321"/>
                      <a:pt x="175" y="321"/>
                      <a:pt x="175" y="321"/>
                    </a:cubicBezTo>
                    <a:cubicBezTo>
                      <a:pt x="174" y="320"/>
                      <a:pt x="174" y="320"/>
                      <a:pt x="173" y="319"/>
                    </a:cubicBezTo>
                    <a:cubicBezTo>
                      <a:pt x="173" y="318"/>
                      <a:pt x="173" y="316"/>
                      <a:pt x="174" y="315"/>
                    </a:cubicBezTo>
                    <a:cubicBezTo>
                      <a:pt x="186" y="268"/>
                      <a:pt x="186" y="268"/>
                      <a:pt x="186" y="268"/>
                    </a:cubicBezTo>
                    <a:cubicBezTo>
                      <a:pt x="181" y="264"/>
                      <a:pt x="181" y="264"/>
                      <a:pt x="181" y="264"/>
                    </a:cubicBezTo>
                    <a:cubicBezTo>
                      <a:pt x="141" y="290"/>
                      <a:pt x="141" y="290"/>
                      <a:pt x="141" y="290"/>
                    </a:cubicBezTo>
                    <a:cubicBezTo>
                      <a:pt x="139" y="291"/>
                      <a:pt x="138" y="291"/>
                      <a:pt x="137" y="292"/>
                    </a:cubicBezTo>
                    <a:cubicBezTo>
                      <a:pt x="135" y="292"/>
                      <a:pt x="134" y="291"/>
                      <a:pt x="133" y="291"/>
                    </a:cubicBezTo>
                    <a:cubicBezTo>
                      <a:pt x="132" y="292"/>
                      <a:pt x="132" y="292"/>
                      <a:pt x="132" y="292"/>
                    </a:cubicBezTo>
                    <a:cubicBezTo>
                      <a:pt x="145" y="301"/>
                      <a:pt x="145" y="301"/>
                      <a:pt x="145" y="301"/>
                    </a:cubicBezTo>
                    <a:cubicBezTo>
                      <a:pt x="146" y="300"/>
                      <a:pt x="146" y="300"/>
                      <a:pt x="146" y="300"/>
                    </a:cubicBezTo>
                    <a:cubicBezTo>
                      <a:pt x="145" y="299"/>
                      <a:pt x="145" y="299"/>
                      <a:pt x="145" y="299"/>
                    </a:cubicBezTo>
                    <a:cubicBezTo>
                      <a:pt x="144" y="298"/>
                      <a:pt x="143" y="297"/>
                      <a:pt x="143" y="296"/>
                    </a:cubicBezTo>
                    <a:cubicBezTo>
                      <a:pt x="142" y="295"/>
                      <a:pt x="143" y="294"/>
                      <a:pt x="143" y="293"/>
                    </a:cubicBezTo>
                    <a:cubicBezTo>
                      <a:pt x="144" y="293"/>
                      <a:pt x="144" y="293"/>
                      <a:pt x="144" y="292"/>
                    </a:cubicBezTo>
                    <a:cubicBezTo>
                      <a:pt x="145" y="292"/>
                      <a:pt x="145" y="292"/>
                      <a:pt x="146" y="291"/>
                    </a:cubicBezTo>
                    <a:cubicBezTo>
                      <a:pt x="146" y="291"/>
                      <a:pt x="146" y="291"/>
                      <a:pt x="146" y="291"/>
                    </a:cubicBezTo>
                    <a:close/>
                    <a:moveTo>
                      <a:pt x="156" y="285"/>
                    </a:moveTo>
                    <a:cubicBezTo>
                      <a:pt x="169" y="276"/>
                      <a:pt x="169" y="276"/>
                      <a:pt x="169" y="276"/>
                    </a:cubicBezTo>
                    <a:cubicBezTo>
                      <a:pt x="164" y="291"/>
                      <a:pt x="164" y="291"/>
                      <a:pt x="164" y="291"/>
                    </a:cubicBezTo>
                    <a:cubicBezTo>
                      <a:pt x="156" y="285"/>
                      <a:pt x="156" y="285"/>
                      <a:pt x="156" y="285"/>
                    </a:cubicBezTo>
                    <a:close/>
                    <a:moveTo>
                      <a:pt x="213" y="294"/>
                    </a:moveTo>
                    <a:cubicBezTo>
                      <a:pt x="214" y="292"/>
                      <a:pt x="214" y="290"/>
                      <a:pt x="214" y="288"/>
                    </a:cubicBezTo>
                    <a:cubicBezTo>
                      <a:pt x="213" y="287"/>
                      <a:pt x="212" y="286"/>
                      <a:pt x="210" y="285"/>
                    </a:cubicBezTo>
                    <a:cubicBezTo>
                      <a:pt x="211" y="283"/>
                      <a:pt x="211" y="283"/>
                      <a:pt x="211" y="283"/>
                    </a:cubicBezTo>
                    <a:cubicBezTo>
                      <a:pt x="230" y="292"/>
                      <a:pt x="230" y="292"/>
                      <a:pt x="230" y="292"/>
                    </a:cubicBezTo>
                    <a:cubicBezTo>
                      <a:pt x="239" y="329"/>
                      <a:pt x="239" y="329"/>
                      <a:pt x="239" y="329"/>
                    </a:cubicBezTo>
                    <a:cubicBezTo>
                      <a:pt x="248" y="311"/>
                      <a:pt x="248" y="311"/>
                      <a:pt x="248" y="311"/>
                    </a:cubicBezTo>
                    <a:cubicBezTo>
                      <a:pt x="249" y="308"/>
                      <a:pt x="250" y="306"/>
                      <a:pt x="249" y="305"/>
                    </a:cubicBezTo>
                    <a:cubicBezTo>
                      <a:pt x="249" y="304"/>
                      <a:pt x="248" y="302"/>
                      <a:pt x="245" y="301"/>
                    </a:cubicBezTo>
                    <a:cubicBezTo>
                      <a:pt x="246" y="299"/>
                      <a:pt x="246" y="299"/>
                      <a:pt x="246" y="299"/>
                    </a:cubicBezTo>
                    <a:cubicBezTo>
                      <a:pt x="261" y="306"/>
                      <a:pt x="261" y="306"/>
                      <a:pt x="261" y="306"/>
                    </a:cubicBezTo>
                    <a:cubicBezTo>
                      <a:pt x="260" y="308"/>
                      <a:pt x="260" y="308"/>
                      <a:pt x="260" y="308"/>
                    </a:cubicBezTo>
                    <a:cubicBezTo>
                      <a:pt x="258" y="307"/>
                      <a:pt x="256" y="307"/>
                      <a:pt x="255" y="308"/>
                    </a:cubicBezTo>
                    <a:cubicBezTo>
                      <a:pt x="254" y="308"/>
                      <a:pt x="252" y="310"/>
                      <a:pt x="251" y="312"/>
                    </a:cubicBezTo>
                    <a:cubicBezTo>
                      <a:pt x="234" y="350"/>
                      <a:pt x="234" y="350"/>
                      <a:pt x="234" y="350"/>
                    </a:cubicBezTo>
                    <a:cubicBezTo>
                      <a:pt x="228" y="348"/>
                      <a:pt x="228" y="348"/>
                      <a:pt x="228" y="348"/>
                    </a:cubicBezTo>
                    <a:cubicBezTo>
                      <a:pt x="215" y="297"/>
                      <a:pt x="215" y="297"/>
                      <a:pt x="215" y="297"/>
                    </a:cubicBezTo>
                    <a:cubicBezTo>
                      <a:pt x="202" y="325"/>
                      <a:pt x="202" y="325"/>
                      <a:pt x="202" y="325"/>
                    </a:cubicBezTo>
                    <a:cubicBezTo>
                      <a:pt x="201" y="328"/>
                      <a:pt x="200" y="330"/>
                      <a:pt x="201" y="331"/>
                    </a:cubicBezTo>
                    <a:cubicBezTo>
                      <a:pt x="201" y="332"/>
                      <a:pt x="203" y="334"/>
                      <a:pt x="205" y="335"/>
                    </a:cubicBezTo>
                    <a:cubicBezTo>
                      <a:pt x="204" y="337"/>
                      <a:pt x="204" y="337"/>
                      <a:pt x="204" y="337"/>
                    </a:cubicBezTo>
                    <a:cubicBezTo>
                      <a:pt x="189" y="329"/>
                      <a:pt x="189" y="329"/>
                      <a:pt x="189" y="329"/>
                    </a:cubicBezTo>
                    <a:cubicBezTo>
                      <a:pt x="190" y="328"/>
                      <a:pt x="190" y="328"/>
                      <a:pt x="190" y="328"/>
                    </a:cubicBezTo>
                    <a:cubicBezTo>
                      <a:pt x="192" y="329"/>
                      <a:pt x="194" y="329"/>
                      <a:pt x="195" y="328"/>
                    </a:cubicBezTo>
                    <a:cubicBezTo>
                      <a:pt x="196" y="328"/>
                      <a:pt x="198" y="326"/>
                      <a:pt x="199" y="324"/>
                    </a:cubicBezTo>
                    <a:cubicBezTo>
                      <a:pt x="213" y="294"/>
                      <a:pt x="213" y="294"/>
                      <a:pt x="213" y="294"/>
                    </a:cubicBezTo>
                    <a:close/>
                    <a:moveTo>
                      <a:pt x="340" y="352"/>
                    </a:moveTo>
                    <a:cubicBezTo>
                      <a:pt x="342" y="329"/>
                      <a:pt x="342" y="329"/>
                      <a:pt x="342" y="329"/>
                    </a:cubicBezTo>
                    <a:cubicBezTo>
                      <a:pt x="342" y="326"/>
                      <a:pt x="342" y="324"/>
                      <a:pt x="341" y="323"/>
                    </a:cubicBezTo>
                    <a:cubicBezTo>
                      <a:pt x="340" y="322"/>
                      <a:pt x="339" y="321"/>
                      <a:pt x="336" y="321"/>
                    </a:cubicBezTo>
                    <a:cubicBezTo>
                      <a:pt x="337" y="319"/>
                      <a:pt x="337" y="319"/>
                      <a:pt x="337" y="319"/>
                    </a:cubicBezTo>
                    <a:cubicBezTo>
                      <a:pt x="353" y="320"/>
                      <a:pt x="353" y="320"/>
                      <a:pt x="353" y="320"/>
                    </a:cubicBezTo>
                    <a:cubicBezTo>
                      <a:pt x="353" y="322"/>
                      <a:pt x="353" y="322"/>
                      <a:pt x="353" y="322"/>
                    </a:cubicBezTo>
                    <a:cubicBezTo>
                      <a:pt x="351" y="322"/>
                      <a:pt x="349" y="323"/>
                      <a:pt x="348" y="324"/>
                    </a:cubicBezTo>
                    <a:cubicBezTo>
                      <a:pt x="347" y="325"/>
                      <a:pt x="346" y="327"/>
                      <a:pt x="346" y="329"/>
                    </a:cubicBezTo>
                    <a:cubicBezTo>
                      <a:pt x="344" y="352"/>
                      <a:pt x="344" y="352"/>
                      <a:pt x="344" y="352"/>
                    </a:cubicBezTo>
                    <a:cubicBezTo>
                      <a:pt x="343" y="356"/>
                      <a:pt x="343" y="359"/>
                      <a:pt x="342" y="361"/>
                    </a:cubicBezTo>
                    <a:cubicBezTo>
                      <a:pt x="341" y="363"/>
                      <a:pt x="340" y="364"/>
                      <a:pt x="339" y="366"/>
                    </a:cubicBezTo>
                    <a:cubicBezTo>
                      <a:pt x="337" y="368"/>
                      <a:pt x="334" y="369"/>
                      <a:pt x="331" y="370"/>
                    </a:cubicBezTo>
                    <a:cubicBezTo>
                      <a:pt x="328" y="371"/>
                      <a:pt x="325" y="371"/>
                      <a:pt x="321" y="371"/>
                    </a:cubicBezTo>
                    <a:cubicBezTo>
                      <a:pt x="314" y="370"/>
                      <a:pt x="309" y="368"/>
                      <a:pt x="306" y="365"/>
                    </a:cubicBezTo>
                    <a:cubicBezTo>
                      <a:pt x="303" y="361"/>
                      <a:pt x="302" y="356"/>
                      <a:pt x="302" y="350"/>
                    </a:cubicBezTo>
                    <a:cubicBezTo>
                      <a:pt x="304" y="326"/>
                      <a:pt x="304" y="326"/>
                      <a:pt x="304" y="326"/>
                    </a:cubicBezTo>
                    <a:cubicBezTo>
                      <a:pt x="305" y="323"/>
                      <a:pt x="304" y="321"/>
                      <a:pt x="303" y="320"/>
                    </a:cubicBezTo>
                    <a:cubicBezTo>
                      <a:pt x="303" y="319"/>
                      <a:pt x="301" y="318"/>
                      <a:pt x="299" y="318"/>
                    </a:cubicBezTo>
                    <a:cubicBezTo>
                      <a:pt x="299" y="316"/>
                      <a:pt x="299" y="316"/>
                      <a:pt x="299" y="316"/>
                    </a:cubicBezTo>
                    <a:cubicBezTo>
                      <a:pt x="328" y="318"/>
                      <a:pt x="328" y="318"/>
                      <a:pt x="328" y="318"/>
                    </a:cubicBezTo>
                    <a:cubicBezTo>
                      <a:pt x="328" y="320"/>
                      <a:pt x="328" y="320"/>
                      <a:pt x="328" y="320"/>
                    </a:cubicBezTo>
                    <a:cubicBezTo>
                      <a:pt x="325" y="320"/>
                      <a:pt x="323" y="321"/>
                      <a:pt x="322" y="322"/>
                    </a:cubicBezTo>
                    <a:cubicBezTo>
                      <a:pt x="321" y="323"/>
                      <a:pt x="321" y="324"/>
                      <a:pt x="320" y="327"/>
                    </a:cubicBezTo>
                    <a:cubicBezTo>
                      <a:pt x="318" y="355"/>
                      <a:pt x="318" y="355"/>
                      <a:pt x="318" y="355"/>
                    </a:cubicBezTo>
                    <a:cubicBezTo>
                      <a:pt x="318" y="359"/>
                      <a:pt x="318" y="362"/>
                      <a:pt x="320" y="364"/>
                    </a:cubicBezTo>
                    <a:cubicBezTo>
                      <a:pt x="321" y="366"/>
                      <a:pt x="323" y="367"/>
                      <a:pt x="327" y="367"/>
                    </a:cubicBezTo>
                    <a:cubicBezTo>
                      <a:pt x="331" y="367"/>
                      <a:pt x="334" y="366"/>
                      <a:pt x="336" y="364"/>
                    </a:cubicBezTo>
                    <a:cubicBezTo>
                      <a:pt x="338" y="361"/>
                      <a:pt x="340" y="358"/>
                      <a:pt x="340" y="352"/>
                    </a:cubicBezTo>
                    <a:cubicBezTo>
                      <a:pt x="340" y="352"/>
                      <a:pt x="340" y="352"/>
                      <a:pt x="340" y="352"/>
                    </a:cubicBezTo>
                    <a:close/>
                    <a:moveTo>
                      <a:pt x="368" y="329"/>
                    </a:moveTo>
                    <a:cubicBezTo>
                      <a:pt x="368" y="327"/>
                      <a:pt x="367" y="325"/>
                      <a:pt x="366" y="324"/>
                    </a:cubicBezTo>
                    <a:cubicBezTo>
                      <a:pt x="365" y="323"/>
                      <a:pt x="363" y="323"/>
                      <a:pt x="361" y="323"/>
                    </a:cubicBezTo>
                    <a:cubicBezTo>
                      <a:pt x="360" y="321"/>
                      <a:pt x="360" y="321"/>
                      <a:pt x="360" y="321"/>
                    </a:cubicBezTo>
                    <a:cubicBezTo>
                      <a:pt x="382" y="318"/>
                      <a:pt x="382" y="318"/>
                      <a:pt x="382" y="318"/>
                    </a:cubicBezTo>
                    <a:cubicBezTo>
                      <a:pt x="410" y="344"/>
                      <a:pt x="410" y="344"/>
                      <a:pt x="410" y="344"/>
                    </a:cubicBezTo>
                    <a:cubicBezTo>
                      <a:pt x="407" y="324"/>
                      <a:pt x="407" y="324"/>
                      <a:pt x="407" y="324"/>
                    </a:cubicBezTo>
                    <a:cubicBezTo>
                      <a:pt x="407" y="321"/>
                      <a:pt x="406" y="320"/>
                      <a:pt x="405" y="319"/>
                    </a:cubicBezTo>
                    <a:cubicBezTo>
                      <a:pt x="404" y="318"/>
                      <a:pt x="402" y="317"/>
                      <a:pt x="400" y="317"/>
                    </a:cubicBezTo>
                    <a:cubicBezTo>
                      <a:pt x="399" y="316"/>
                      <a:pt x="399" y="316"/>
                      <a:pt x="399" y="316"/>
                    </a:cubicBezTo>
                    <a:cubicBezTo>
                      <a:pt x="416" y="313"/>
                      <a:pt x="416" y="313"/>
                      <a:pt x="416" y="313"/>
                    </a:cubicBezTo>
                    <a:cubicBezTo>
                      <a:pt x="416" y="315"/>
                      <a:pt x="416" y="315"/>
                      <a:pt x="416" y="315"/>
                    </a:cubicBezTo>
                    <a:cubicBezTo>
                      <a:pt x="414" y="316"/>
                      <a:pt x="412" y="316"/>
                      <a:pt x="411" y="318"/>
                    </a:cubicBezTo>
                    <a:cubicBezTo>
                      <a:pt x="410" y="319"/>
                      <a:pt x="410" y="321"/>
                      <a:pt x="411" y="323"/>
                    </a:cubicBezTo>
                    <a:cubicBezTo>
                      <a:pt x="416" y="365"/>
                      <a:pt x="416" y="365"/>
                      <a:pt x="416" y="365"/>
                    </a:cubicBezTo>
                    <a:cubicBezTo>
                      <a:pt x="411" y="366"/>
                      <a:pt x="411" y="366"/>
                      <a:pt x="411" y="366"/>
                    </a:cubicBezTo>
                    <a:cubicBezTo>
                      <a:pt x="372" y="330"/>
                      <a:pt x="372" y="330"/>
                      <a:pt x="372" y="330"/>
                    </a:cubicBezTo>
                    <a:cubicBezTo>
                      <a:pt x="376" y="361"/>
                      <a:pt x="376" y="361"/>
                      <a:pt x="376" y="361"/>
                    </a:cubicBezTo>
                    <a:cubicBezTo>
                      <a:pt x="377" y="364"/>
                      <a:pt x="377" y="366"/>
                      <a:pt x="379" y="367"/>
                    </a:cubicBezTo>
                    <a:cubicBezTo>
                      <a:pt x="380" y="368"/>
                      <a:pt x="381" y="368"/>
                      <a:pt x="384" y="368"/>
                    </a:cubicBezTo>
                    <a:cubicBezTo>
                      <a:pt x="384" y="370"/>
                      <a:pt x="384" y="370"/>
                      <a:pt x="384" y="370"/>
                    </a:cubicBezTo>
                    <a:cubicBezTo>
                      <a:pt x="368" y="372"/>
                      <a:pt x="368" y="372"/>
                      <a:pt x="368" y="372"/>
                    </a:cubicBezTo>
                    <a:cubicBezTo>
                      <a:pt x="367" y="370"/>
                      <a:pt x="367" y="370"/>
                      <a:pt x="367" y="370"/>
                    </a:cubicBezTo>
                    <a:cubicBezTo>
                      <a:pt x="370" y="370"/>
                      <a:pt x="371" y="369"/>
                      <a:pt x="372" y="368"/>
                    </a:cubicBezTo>
                    <a:cubicBezTo>
                      <a:pt x="373" y="366"/>
                      <a:pt x="373" y="364"/>
                      <a:pt x="373" y="362"/>
                    </a:cubicBezTo>
                    <a:cubicBezTo>
                      <a:pt x="368" y="329"/>
                      <a:pt x="368" y="329"/>
                      <a:pt x="368" y="329"/>
                    </a:cubicBezTo>
                    <a:close/>
                    <a:moveTo>
                      <a:pt x="461" y="345"/>
                    </a:moveTo>
                    <a:cubicBezTo>
                      <a:pt x="462" y="348"/>
                      <a:pt x="463" y="349"/>
                      <a:pt x="464" y="350"/>
                    </a:cubicBezTo>
                    <a:cubicBezTo>
                      <a:pt x="465" y="351"/>
                      <a:pt x="467" y="351"/>
                      <a:pt x="469" y="351"/>
                    </a:cubicBezTo>
                    <a:cubicBezTo>
                      <a:pt x="470" y="352"/>
                      <a:pt x="470" y="352"/>
                      <a:pt x="470" y="352"/>
                    </a:cubicBezTo>
                    <a:cubicBezTo>
                      <a:pt x="442" y="360"/>
                      <a:pt x="442" y="360"/>
                      <a:pt x="442" y="360"/>
                    </a:cubicBezTo>
                    <a:cubicBezTo>
                      <a:pt x="441" y="359"/>
                      <a:pt x="441" y="359"/>
                      <a:pt x="441" y="359"/>
                    </a:cubicBezTo>
                    <a:cubicBezTo>
                      <a:pt x="444" y="358"/>
                      <a:pt x="445" y="357"/>
                      <a:pt x="446" y="355"/>
                    </a:cubicBezTo>
                    <a:cubicBezTo>
                      <a:pt x="446" y="354"/>
                      <a:pt x="446" y="352"/>
                      <a:pt x="446" y="350"/>
                    </a:cubicBezTo>
                    <a:cubicBezTo>
                      <a:pt x="436" y="318"/>
                      <a:pt x="436" y="318"/>
                      <a:pt x="436" y="318"/>
                    </a:cubicBezTo>
                    <a:cubicBezTo>
                      <a:pt x="436" y="316"/>
                      <a:pt x="435" y="314"/>
                      <a:pt x="433" y="313"/>
                    </a:cubicBezTo>
                    <a:cubicBezTo>
                      <a:pt x="432" y="312"/>
                      <a:pt x="430" y="312"/>
                      <a:pt x="428" y="313"/>
                    </a:cubicBezTo>
                    <a:cubicBezTo>
                      <a:pt x="428" y="311"/>
                      <a:pt x="428" y="311"/>
                      <a:pt x="428" y="311"/>
                    </a:cubicBezTo>
                    <a:cubicBezTo>
                      <a:pt x="456" y="303"/>
                      <a:pt x="456" y="303"/>
                      <a:pt x="456" y="303"/>
                    </a:cubicBezTo>
                    <a:cubicBezTo>
                      <a:pt x="456" y="305"/>
                      <a:pt x="456" y="305"/>
                      <a:pt x="456" y="305"/>
                    </a:cubicBezTo>
                    <a:cubicBezTo>
                      <a:pt x="454" y="306"/>
                      <a:pt x="452" y="307"/>
                      <a:pt x="452" y="308"/>
                    </a:cubicBezTo>
                    <a:cubicBezTo>
                      <a:pt x="451" y="309"/>
                      <a:pt x="451" y="311"/>
                      <a:pt x="452" y="314"/>
                    </a:cubicBezTo>
                    <a:cubicBezTo>
                      <a:pt x="461" y="345"/>
                      <a:pt x="461" y="345"/>
                      <a:pt x="461" y="345"/>
                    </a:cubicBezTo>
                    <a:close/>
                    <a:moveTo>
                      <a:pt x="508" y="337"/>
                    </a:moveTo>
                    <a:cubicBezTo>
                      <a:pt x="511" y="336"/>
                      <a:pt x="511" y="336"/>
                      <a:pt x="511" y="336"/>
                    </a:cubicBezTo>
                    <a:cubicBezTo>
                      <a:pt x="507" y="287"/>
                      <a:pt x="507" y="287"/>
                      <a:pt x="507" y="287"/>
                    </a:cubicBezTo>
                    <a:cubicBezTo>
                      <a:pt x="507" y="285"/>
                      <a:pt x="507" y="284"/>
                      <a:pt x="507" y="282"/>
                    </a:cubicBezTo>
                    <a:cubicBezTo>
                      <a:pt x="508" y="281"/>
                      <a:pt x="509" y="280"/>
                      <a:pt x="510" y="279"/>
                    </a:cubicBezTo>
                    <a:cubicBezTo>
                      <a:pt x="509" y="277"/>
                      <a:pt x="509" y="277"/>
                      <a:pt x="509" y="277"/>
                    </a:cubicBezTo>
                    <a:cubicBezTo>
                      <a:pt x="495" y="285"/>
                      <a:pt x="495" y="285"/>
                      <a:pt x="495" y="285"/>
                    </a:cubicBezTo>
                    <a:cubicBezTo>
                      <a:pt x="496" y="286"/>
                      <a:pt x="496" y="286"/>
                      <a:pt x="496" y="286"/>
                    </a:cubicBezTo>
                    <a:cubicBezTo>
                      <a:pt x="498" y="286"/>
                      <a:pt x="499" y="285"/>
                      <a:pt x="500" y="285"/>
                    </a:cubicBezTo>
                    <a:cubicBezTo>
                      <a:pt x="501" y="285"/>
                      <a:pt x="502" y="286"/>
                      <a:pt x="503" y="287"/>
                    </a:cubicBezTo>
                    <a:cubicBezTo>
                      <a:pt x="503" y="287"/>
                      <a:pt x="503" y="287"/>
                      <a:pt x="503" y="288"/>
                    </a:cubicBezTo>
                    <a:cubicBezTo>
                      <a:pt x="503" y="288"/>
                      <a:pt x="503" y="289"/>
                      <a:pt x="503" y="290"/>
                    </a:cubicBezTo>
                    <a:cubicBezTo>
                      <a:pt x="506" y="316"/>
                      <a:pt x="506" y="316"/>
                      <a:pt x="506" y="316"/>
                    </a:cubicBezTo>
                    <a:cubicBezTo>
                      <a:pt x="485" y="298"/>
                      <a:pt x="485" y="298"/>
                      <a:pt x="485" y="298"/>
                    </a:cubicBezTo>
                    <a:cubicBezTo>
                      <a:pt x="484" y="297"/>
                      <a:pt x="484" y="297"/>
                      <a:pt x="484" y="297"/>
                    </a:cubicBezTo>
                    <a:cubicBezTo>
                      <a:pt x="484" y="297"/>
                      <a:pt x="484" y="296"/>
                      <a:pt x="483" y="296"/>
                    </a:cubicBezTo>
                    <a:cubicBezTo>
                      <a:pt x="483" y="295"/>
                      <a:pt x="483" y="295"/>
                      <a:pt x="483" y="294"/>
                    </a:cubicBezTo>
                    <a:cubicBezTo>
                      <a:pt x="484" y="293"/>
                      <a:pt x="485" y="292"/>
                      <a:pt x="486" y="292"/>
                    </a:cubicBezTo>
                    <a:cubicBezTo>
                      <a:pt x="486" y="291"/>
                      <a:pt x="486" y="291"/>
                      <a:pt x="486" y="291"/>
                    </a:cubicBezTo>
                    <a:cubicBezTo>
                      <a:pt x="486" y="290"/>
                      <a:pt x="486" y="290"/>
                      <a:pt x="486" y="290"/>
                    </a:cubicBezTo>
                    <a:cubicBezTo>
                      <a:pt x="462" y="302"/>
                      <a:pt x="462" y="302"/>
                      <a:pt x="462" y="302"/>
                    </a:cubicBezTo>
                    <a:cubicBezTo>
                      <a:pt x="463" y="304"/>
                      <a:pt x="463" y="304"/>
                      <a:pt x="463" y="304"/>
                    </a:cubicBezTo>
                    <a:cubicBezTo>
                      <a:pt x="464" y="303"/>
                      <a:pt x="465" y="303"/>
                      <a:pt x="467" y="303"/>
                    </a:cubicBezTo>
                    <a:cubicBezTo>
                      <a:pt x="468" y="304"/>
                      <a:pt x="469" y="305"/>
                      <a:pt x="471" y="306"/>
                    </a:cubicBezTo>
                    <a:cubicBezTo>
                      <a:pt x="508" y="337"/>
                      <a:pt x="508" y="337"/>
                      <a:pt x="508" y="337"/>
                    </a:cubicBezTo>
                    <a:close/>
                    <a:moveTo>
                      <a:pt x="547" y="316"/>
                    </a:moveTo>
                    <a:cubicBezTo>
                      <a:pt x="546" y="315"/>
                      <a:pt x="546" y="315"/>
                      <a:pt x="546" y="315"/>
                    </a:cubicBezTo>
                    <a:cubicBezTo>
                      <a:pt x="548" y="313"/>
                      <a:pt x="549" y="311"/>
                      <a:pt x="549" y="310"/>
                    </a:cubicBezTo>
                    <a:cubicBezTo>
                      <a:pt x="549" y="308"/>
                      <a:pt x="548" y="307"/>
                      <a:pt x="547" y="305"/>
                    </a:cubicBezTo>
                    <a:cubicBezTo>
                      <a:pt x="526" y="279"/>
                      <a:pt x="526" y="279"/>
                      <a:pt x="526" y="279"/>
                    </a:cubicBezTo>
                    <a:cubicBezTo>
                      <a:pt x="524" y="277"/>
                      <a:pt x="523" y="276"/>
                      <a:pt x="521" y="276"/>
                    </a:cubicBezTo>
                    <a:cubicBezTo>
                      <a:pt x="520" y="275"/>
                      <a:pt x="518" y="276"/>
                      <a:pt x="516" y="277"/>
                    </a:cubicBezTo>
                    <a:cubicBezTo>
                      <a:pt x="515" y="276"/>
                      <a:pt x="515" y="276"/>
                      <a:pt x="515" y="276"/>
                    </a:cubicBezTo>
                    <a:cubicBezTo>
                      <a:pt x="550" y="248"/>
                      <a:pt x="550" y="248"/>
                      <a:pt x="550" y="248"/>
                    </a:cubicBezTo>
                    <a:cubicBezTo>
                      <a:pt x="559" y="258"/>
                      <a:pt x="559" y="258"/>
                      <a:pt x="559" y="258"/>
                    </a:cubicBezTo>
                    <a:cubicBezTo>
                      <a:pt x="558" y="260"/>
                      <a:pt x="558" y="260"/>
                      <a:pt x="558" y="260"/>
                    </a:cubicBezTo>
                    <a:cubicBezTo>
                      <a:pt x="555" y="257"/>
                      <a:pt x="552" y="256"/>
                      <a:pt x="549" y="256"/>
                    </a:cubicBezTo>
                    <a:cubicBezTo>
                      <a:pt x="547" y="255"/>
                      <a:pt x="544" y="257"/>
                      <a:pt x="540" y="260"/>
                    </a:cubicBezTo>
                    <a:cubicBezTo>
                      <a:pt x="535" y="264"/>
                      <a:pt x="535" y="264"/>
                      <a:pt x="535" y="264"/>
                    </a:cubicBezTo>
                    <a:cubicBezTo>
                      <a:pt x="547" y="280"/>
                      <a:pt x="547" y="280"/>
                      <a:pt x="547" y="280"/>
                    </a:cubicBezTo>
                    <a:cubicBezTo>
                      <a:pt x="548" y="279"/>
                      <a:pt x="548" y="279"/>
                      <a:pt x="548" y="279"/>
                    </a:cubicBezTo>
                    <a:cubicBezTo>
                      <a:pt x="550" y="278"/>
                      <a:pt x="551" y="276"/>
                      <a:pt x="551" y="274"/>
                    </a:cubicBezTo>
                    <a:cubicBezTo>
                      <a:pt x="551" y="271"/>
                      <a:pt x="550" y="269"/>
                      <a:pt x="548" y="266"/>
                    </a:cubicBezTo>
                    <a:cubicBezTo>
                      <a:pt x="550" y="264"/>
                      <a:pt x="550" y="264"/>
                      <a:pt x="550" y="264"/>
                    </a:cubicBezTo>
                    <a:cubicBezTo>
                      <a:pt x="565" y="284"/>
                      <a:pt x="565" y="284"/>
                      <a:pt x="565" y="284"/>
                    </a:cubicBezTo>
                    <a:cubicBezTo>
                      <a:pt x="564" y="285"/>
                      <a:pt x="564" y="285"/>
                      <a:pt x="564" y="285"/>
                    </a:cubicBezTo>
                    <a:cubicBezTo>
                      <a:pt x="561" y="282"/>
                      <a:pt x="559" y="280"/>
                      <a:pt x="557" y="280"/>
                    </a:cubicBezTo>
                    <a:cubicBezTo>
                      <a:pt x="554" y="280"/>
                      <a:pt x="552" y="280"/>
                      <a:pt x="550" y="282"/>
                    </a:cubicBezTo>
                    <a:cubicBezTo>
                      <a:pt x="550" y="283"/>
                      <a:pt x="550" y="283"/>
                      <a:pt x="550" y="283"/>
                    </a:cubicBezTo>
                    <a:cubicBezTo>
                      <a:pt x="560" y="295"/>
                      <a:pt x="560" y="295"/>
                      <a:pt x="560" y="295"/>
                    </a:cubicBezTo>
                    <a:cubicBezTo>
                      <a:pt x="561" y="297"/>
                      <a:pt x="562" y="298"/>
                      <a:pt x="563" y="298"/>
                    </a:cubicBezTo>
                    <a:cubicBezTo>
                      <a:pt x="564" y="298"/>
                      <a:pt x="566" y="297"/>
                      <a:pt x="568" y="295"/>
                    </a:cubicBezTo>
                    <a:cubicBezTo>
                      <a:pt x="572" y="292"/>
                      <a:pt x="574" y="289"/>
                      <a:pt x="575" y="286"/>
                    </a:cubicBezTo>
                    <a:cubicBezTo>
                      <a:pt x="576" y="282"/>
                      <a:pt x="575" y="279"/>
                      <a:pt x="573" y="274"/>
                    </a:cubicBezTo>
                    <a:cubicBezTo>
                      <a:pt x="575" y="273"/>
                      <a:pt x="575" y="273"/>
                      <a:pt x="575" y="273"/>
                    </a:cubicBezTo>
                    <a:cubicBezTo>
                      <a:pt x="583" y="287"/>
                      <a:pt x="583" y="287"/>
                      <a:pt x="583" y="287"/>
                    </a:cubicBezTo>
                    <a:cubicBezTo>
                      <a:pt x="547" y="316"/>
                      <a:pt x="547" y="316"/>
                      <a:pt x="547" y="316"/>
                    </a:cubicBezTo>
                    <a:close/>
                    <a:moveTo>
                      <a:pt x="595" y="239"/>
                    </a:moveTo>
                    <a:cubicBezTo>
                      <a:pt x="596" y="238"/>
                      <a:pt x="596" y="238"/>
                      <a:pt x="596" y="238"/>
                    </a:cubicBezTo>
                    <a:cubicBezTo>
                      <a:pt x="598" y="236"/>
                      <a:pt x="599" y="233"/>
                      <a:pt x="599" y="231"/>
                    </a:cubicBezTo>
                    <a:cubicBezTo>
                      <a:pt x="598" y="229"/>
                      <a:pt x="597" y="226"/>
                      <a:pt x="594" y="224"/>
                    </a:cubicBezTo>
                    <a:cubicBezTo>
                      <a:pt x="591" y="221"/>
                      <a:pt x="588" y="220"/>
                      <a:pt x="586" y="220"/>
                    </a:cubicBezTo>
                    <a:cubicBezTo>
                      <a:pt x="583" y="220"/>
                      <a:pt x="581" y="222"/>
                      <a:pt x="579" y="225"/>
                    </a:cubicBezTo>
                    <a:cubicBezTo>
                      <a:pt x="595" y="239"/>
                      <a:pt x="595" y="239"/>
                      <a:pt x="595" y="239"/>
                    </a:cubicBezTo>
                    <a:close/>
                    <a:moveTo>
                      <a:pt x="609" y="250"/>
                    </a:moveTo>
                    <a:cubicBezTo>
                      <a:pt x="598" y="241"/>
                      <a:pt x="598" y="241"/>
                      <a:pt x="598" y="241"/>
                    </a:cubicBezTo>
                    <a:cubicBezTo>
                      <a:pt x="599" y="240"/>
                      <a:pt x="599" y="240"/>
                      <a:pt x="599" y="240"/>
                    </a:cubicBezTo>
                    <a:cubicBezTo>
                      <a:pt x="625" y="245"/>
                      <a:pt x="625" y="245"/>
                      <a:pt x="625" y="245"/>
                    </a:cubicBezTo>
                    <a:cubicBezTo>
                      <a:pt x="637" y="230"/>
                      <a:pt x="637" y="230"/>
                      <a:pt x="637" y="230"/>
                    </a:cubicBezTo>
                    <a:cubicBezTo>
                      <a:pt x="636" y="229"/>
                      <a:pt x="636" y="229"/>
                      <a:pt x="636" y="229"/>
                    </a:cubicBezTo>
                    <a:cubicBezTo>
                      <a:pt x="635" y="230"/>
                      <a:pt x="634" y="231"/>
                      <a:pt x="633" y="231"/>
                    </a:cubicBezTo>
                    <a:cubicBezTo>
                      <a:pt x="632" y="231"/>
                      <a:pt x="630" y="231"/>
                      <a:pt x="628" y="231"/>
                    </a:cubicBezTo>
                    <a:cubicBezTo>
                      <a:pt x="608" y="227"/>
                      <a:pt x="608" y="227"/>
                      <a:pt x="608" y="227"/>
                    </a:cubicBezTo>
                    <a:cubicBezTo>
                      <a:pt x="609" y="224"/>
                      <a:pt x="609" y="221"/>
                      <a:pt x="609" y="218"/>
                    </a:cubicBezTo>
                    <a:cubicBezTo>
                      <a:pt x="608" y="215"/>
                      <a:pt x="607" y="213"/>
                      <a:pt x="604" y="211"/>
                    </a:cubicBezTo>
                    <a:cubicBezTo>
                      <a:pt x="601" y="208"/>
                      <a:pt x="597" y="207"/>
                      <a:pt x="593" y="209"/>
                    </a:cubicBezTo>
                    <a:cubicBezTo>
                      <a:pt x="589" y="210"/>
                      <a:pt x="585" y="213"/>
                      <a:pt x="580" y="218"/>
                    </a:cubicBezTo>
                    <a:cubicBezTo>
                      <a:pt x="562" y="240"/>
                      <a:pt x="562" y="240"/>
                      <a:pt x="562" y="240"/>
                    </a:cubicBezTo>
                    <a:cubicBezTo>
                      <a:pt x="563" y="241"/>
                      <a:pt x="563" y="241"/>
                      <a:pt x="563" y="241"/>
                    </a:cubicBezTo>
                    <a:cubicBezTo>
                      <a:pt x="565" y="240"/>
                      <a:pt x="567" y="239"/>
                      <a:pt x="568" y="239"/>
                    </a:cubicBezTo>
                    <a:cubicBezTo>
                      <a:pt x="569" y="239"/>
                      <a:pt x="571" y="239"/>
                      <a:pt x="573" y="241"/>
                    </a:cubicBezTo>
                    <a:cubicBezTo>
                      <a:pt x="598" y="262"/>
                      <a:pt x="598" y="262"/>
                      <a:pt x="598" y="262"/>
                    </a:cubicBezTo>
                    <a:cubicBezTo>
                      <a:pt x="600" y="264"/>
                      <a:pt x="602" y="266"/>
                      <a:pt x="602" y="267"/>
                    </a:cubicBezTo>
                    <a:cubicBezTo>
                      <a:pt x="602" y="269"/>
                      <a:pt x="601" y="270"/>
                      <a:pt x="600" y="272"/>
                    </a:cubicBezTo>
                    <a:cubicBezTo>
                      <a:pt x="601" y="273"/>
                      <a:pt x="601" y="273"/>
                      <a:pt x="601" y="273"/>
                    </a:cubicBezTo>
                    <a:cubicBezTo>
                      <a:pt x="620" y="251"/>
                      <a:pt x="620" y="251"/>
                      <a:pt x="620" y="251"/>
                    </a:cubicBezTo>
                    <a:cubicBezTo>
                      <a:pt x="619" y="249"/>
                      <a:pt x="619" y="249"/>
                      <a:pt x="619" y="249"/>
                    </a:cubicBezTo>
                    <a:cubicBezTo>
                      <a:pt x="617" y="251"/>
                      <a:pt x="616" y="252"/>
                      <a:pt x="614" y="252"/>
                    </a:cubicBezTo>
                    <a:cubicBezTo>
                      <a:pt x="613" y="253"/>
                      <a:pt x="611" y="252"/>
                      <a:pt x="609" y="250"/>
                    </a:cubicBezTo>
                    <a:cubicBezTo>
                      <a:pt x="609" y="250"/>
                      <a:pt x="609" y="250"/>
                      <a:pt x="609" y="250"/>
                    </a:cubicBezTo>
                    <a:close/>
                    <a:moveTo>
                      <a:pt x="651" y="215"/>
                    </a:moveTo>
                    <a:cubicBezTo>
                      <a:pt x="634" y="206"/>
                      <a:pt x="634" y="206"/>
                      <a:pt x="634" y="206"/>
                    </a:cubicBezTo>
                    <a:cubicBezTo>
                      <a:pt x="635" y="204"/>
                      <a:pt x="635" y="204"/>
                      <a:pt x="635" y="204"/>
                    </a:cubicBezTo>
                    <a:cubicBezTo>
                      <a:pt x="639" y="206"/>
                      <a:pt x="643" y="206"/>
                      <a:pt x="648" y="205"/>
                    </a:cubicBezTo>
                    <a:cubicBezTo>
                      <a:pt x="652" y="203"/>
                      <a:pt x="655" y="200"/>
                      <a:pt x="657" y="196"/>
                    </a:cubicBezTo>
                    <a:cubicBezTo>
                      <a:pt x="659" y="194"/>
                      <a:pt x="659" y="191"/>
                      <a:pt x="659" y="189"/>
                    </a:cubicBezTo>
                    <a:cubicBezTo>
                      <a:pt x="659" y="187"/>
                      <a:pt x="658" y="185"/>
                      <a:pt x="656" y="184"/>
                    </a:cubicBezTo>
                    <a:cubicBezTo>
                      <a:pt x="653" y="183"/>
                      <a:pt x="648" y="185"/>
                      <a:pt x="641" y="190"/>
                    </a:cubicBezTo>
                    <a:cubicBezTo>
                      <a:pt x="640" y="190"/>
                      <a:pt x="640" y="190"/>
                      <a:pt x="640" y="190"/>
                    </a:cubicBezTo>
                    <a:cubicBezTo>
                      <a:pt x="640" y="191"/>
                      <a:pt x="639" y="191"/>
                      <a:pt x="638" y="192"/>
                    </a:cubicBezTo>
                    <a:cubicBezTo>
                      <a:pt x="633" y="196"/>
                      <a:pt x="629" y="198"/>
                      <a:pt x="626" y="198"/>
                    </a:cubicBezTo>
                    <a:cubicBezTo>
                      <a:pt x="625" y="199"/>
                      <a:pt x="623" y="199"/>
                      <a:pt x="622" y="198"/>
                    </a:cubicBezTo>
                    <a:cubicBezTo>
                      <a:pt x="620" y="198"/>
                      <a:pt x="619" y="198"/>
                      <a:pt x="618" y="197"/>
                    </a:cubicBezTo>
                    <a:cubicBezTo>
                      <a:pt x="614" y="195"/>
                      <a:pt x="611" y="191"/>
                      <a:pt x="610" y="186"/>
                    </a:cubicBezTo>
                    <a:cubicBezTo>
                      <a:pt x="609" y="182"/>
                      <a:pt x="610" y="177"/>
                      <a:pt x="613" y="172"/>
                    </a:cubicBezTo>
                    <a:cubicBezTo>
                      <a:pt x="614" y="169"/>
                      <a:pt x="616" y="167"/>
                      <a:pt x="619" y="165"/>
                    </a:cubicBezTo>
                    <a:cubicBezTo>
                      <a:pt x="622" y="162"/>
                      <a:pt x="623" y="161"/>
                      <a:pt x="623" y="161"/>
                    </a:cubicBezTo>
                    <a:cubicBezTo>
                      <a:pt x="624" y="160"/>
                      <a:pt x="624" y="159"/>
                      <a:pt x="623" y="159"/>
                    </a:cubicBezTo>
                    <a:cubicBezTo>
                      <a:pt x="623" y="158"/>
                      <a:pt x="622" y="158"/>
                      <a:pt x="621" y="157"/>
                    </a:cubicBezTo>
                    <a:cubicBezTo>
                      <a:pt x="622" y="155"/>
                      <a:pt x="622" y="155"/>
                      <a:pt x="622" y="155"/>
                    </a:cubicBezTo>
                    <a:cubicBezTo>
                      <a:pt x="637" y="163"/>
                      <a:pt x="637" y="163"/>
                      <a:pt x="637" y="163"/>
                    </a:cubicBezTo>
                    <a:cubicBezTo>
                      <a:pt x="636" y="165"/>
                      <a:pt x="636" y="165"/>
                      <a:pt x="636" y="165"/>
                    </a:cubicBezTo>
                    <a:cubicBezTo>
                      <a:pt x="632" y="163"/>
                      <a:pt x="628" y="163"/>
                      <a:pt x="625" y="165"/>
                    </a:cubicBezTo>
                    <a:cubicBezTo>
                      <a:pt x="621" y="166"/>
                      <a:pt x="618" y="169"/>
                      <a:pt x="616" y="173"/>
                    </a:cubicBezTo>
                    <a:cubicBezTo>
                      <a:pt x="615" y="175"/>
                      <a:pt x="615" y="177"/>
                      <a:pt x="615" y="179"/>
                    </a:cubicBezTo>
                    <a:cubicBezTo>
                      <a:pt x="615" y="181"/>
                      <a:pt x="616" y="182"/>
                      <a:pt x="618" y="183"/>
                    </a:cubicBezTo>
                    <a:cubicBezTo>
                      <a:pt x="620" y="184"/>
                      <a:pt x="624" y="183"/>
                      <a:pt x="630" y="179"/>
                    </a:cubicBezTo>
                    <a:cubicBezTo>
                      <a:pt x="630" y="178"/>
                      <a:pt x="630" y="178"/>
                      <a:pt x="630" y="178"/>
                    </a:cubicBezTo>
                    <a:cubicBezTo>
                      <a:pt x="634" y="175"/>
                      <a:pt x="637" y="173"/>
                      <a:pt x="639" y="172"/>
                    </a:cubicBezTo>
                    <a:cubicBezTo>
                      <a:pt x="641" y="170"/>
                      <a:pt x="643" y="170"/>
                      <a:pt x="644" y="169"/>
                    </a:cubicBezTo>
                    <a:cubicBezTo>
                      <a:pt x="646" y="169"/>
                      <a:pt x="648" y="169"/>
                      <a:pt x="650" y="169"/>
                    </a:cubicBezTo>
                    <a:cubicBezTo>
                      <a:pt x="652" y="169"/>
                      <a:pt x="654" y="170"/>
                      <a:pt x="656" y="171"/>
                    </a:cubicBezTo>
                    <a:cubicBezTo>
                      <a:pt x="660" y="173"/>
                      <a:pt x="663" y="177"/>
                      <a:pt x="664" y="182"/>
                    </a:cubicBezTo>
                    <a:cubicBezTo>
                      <a:pt x="665" y="186"/>
                      <a:pt x="664" y="191"/>
                      <a:pt x="661" y="197"/>
                    </a:cubicBezTo>
                    <a:cubicBezTo>
                      <a:pt x="659" y="199"/>
                      <a:pt x="657" y="202"/>
                      <a:pt x="654" y="205"/>
                    </a:cubicBezTo>
                    <a:cubicBezTo>
                      <a:pt x="652" y="207"/>
                      <a:pt x="650" y="209"/>
                      <a:pt x="650" y="209"/>
                    </a:cubicBezTo>
                    <a:cubicBezTo>
                      <a:pt x="650" y="210"/>
                      <a:pt x="650" y="211"/>
                      <a:pt x="650" y="211"/>
                    </a:cubicBezTo>
                    <a:cubicBezTo>
                      <a:pt x="650" y="212"/>
                      <a:pt x="651" y="213"/>
                      <a:pt x="652" y="213"/>
                    </a:cubicBezTo>
                    <a:cubicBezTo>
                      <a:pt x="651" y="215"/>
                      <a:pt x="651" y="215"/>
                      <a:pt x="651" y="215"/>
                    </a:cubicBezTo>
                    <a:close/>
                    <a:moveTo>
                      <a:pt x="678" y="136"/>
                    </a:moveTo>
                    <a:cubicBezTo>
                      <a:pt x="647" y="124"/>
                      <a:pt x="647" y="124"/>
                      <a:pt x="647" y="124"/>
                    </a:cubicBezTo>
                    <a:cubicBezTo>
                      <a:pt x="644" y="123"/>
                      <a:pt x="643" y="122"/>
                      <a:pt x="642" y="121"/>
                    </a:cubicBezTo>
                    <a:cubicBezTo>
                      <a:pt x="642" y="120"/>
                      <a:pt x="642" y="118"/>
                      <a:pt x="642" y="116"/>
                    </a:cubicBezTo>
                    <a:cubicBezTo>
                      <a:pt x="641" y="115"/>
                      <a:pt x="641" y="115"/>
                      <a:pt x="641" y="115"/>
                    </a:cubicBezTo>
                    <a:cubicBezTo>
                      <a:pt x="630" y="142"/>
                      <a:pt x="630" y="142"/>
                      <a:pt x="630" y="142"/>
                    </a:cubicBezTo>
                    <a:cubicBezTo>
                      <a:pt x="632" y="143"/>
                      <a:pt x="632" y="143"/>
                      <a:pt x="632" y="143"/>
                    </a:cubicBezTo>
                    <a:cubicBezTo>
                      <a:pt x="633" y="141"/>
                      <a:pt x="634" y="139"/>
                      <a:pt x="635" y="139"/>
                    </a:cubicBezTo>
                    <a:cubicBezTo>
                      <a:pt x="637" y="138"/>
                      <a:pt x="639" y="138"/>
                      <a:pt x="641" y="139"/>
                    </a:cubicBezTo>
                    <a:cubicBezTo>
                      <a:pt x="672" y="151"/>
                      <a:pt x="672" y="151"/>
                      <a:pt x="672" y="151"/>
                    </a:cubicBezTo>
                    <a:cubicBezTo>
                      <a:pt x="674" y="152"/>
                      <a:pt x="676" y="153"/>
                      <a:pt x="677" y="154"/>
                    </a:cubicBezTo>
                    <a:cubicBezTo>
                      <a:pt x="677" y="156"/>
                      <a:pt x="677" y="158"/>
                      <a:pt x="676" y="160"/>
                    </a:cubicBezTo>
                    <a:cubicBezTo>
                      <a:pt x="678" y="161"/>
                      <a:pt x="678" y="161"/>
                      <a:pt x="678" y="161"/>
                    </a:cubicBezTo>
                    <a:cubicBezTo>
                      <a:pt x="689" y="133"/>
                      <a:pt x="689" y="133"/>
                      <a:pt x="689" y="133"/>
                    </a:cubicBezTo>
                    <a:cubicBezTo>
                      <a:pt x="687" y="133"/>
                      <a:pt x="687" y="133"/>
                      <a:pt x="687" y="133"/>
                    </a:cubicBezTo>
                    <a:cubicBezTo>
                      <a:pt x="686" y="135"/>
                      <a:pt x="685" y="136"/>
                      <a:pt x="683" y="137"/>
                    </a:cubicBezTo>
                    <a:cubicBezTo>
                      <a:pt x="682" y="137"/>
                      <a:pt x="680" y="137"/>
                      <a:pt x="678" y="136"/>
                    </a:cubicBezTo>
                    <a:cubicBezTo>
                      <a:pt x="678" y="136"/>
                      <a:pt x="678" y="136"/>
                      <a:pt x="678" y="136"/>
                    </a:cubicBezTo>
                    <a:close/>
                    <a:moveTo>
                      <a:pt x="656" y="57"/>
                    </a:moveTo>
                    <a:cubicBezTo>
                      <a:pt x="669" y="60"/>
                      <a:pt x="669" y="60"/>
                      <a:pt x="669" y="60"/>
                    </a:cubicBezTo>
                    <a:cubicBezTo>
                      <a:pt x="668" y="62"/>
                      <a:pt x="668" y="62"/>
                      <a:pt x="668" y="62"/>
                    </a:cubicBezTo>
                    <a:cubicBezTo>
                      <a:pt x="665" y="62"/>
                      <a:pt x="662" y="62"/>
                      <a:pt x="660" y="63"/>
                    </a:cubicBezTo>
                    <a:cubicBezTo>
                      <a:pt x="658" y="64"/>
                      <a:pt x="657" y="67"/>
                      <a:pt x="656" y="70"/>
                    </a:cubicBezTo>
                    <a:cubicBezTo>
                      <a:pt x="655" y="73"/>
                      <a:pt x="655" y="73"/>
                      <a:pt x="655" y="73"/>
                    </a:cubicBezTo>
                    <a:cubicBezTo>
                      <a:pt x="693" y="82"/>
                      <a:pt x="693" y="82"/>
                      <a:pt x="693" y="82"/>
                    </a:cubicBezTo>
                    <a:cubicBezTo>
                      <a:pt x="696" y="83"/>
                      <a:pt x="698" y="83"/>
                      <a:pt x="699" y="82"/>
                    </a:cubicBezTo>
                    <a:cubicBezTo>
                      <a:pt x="700" y="81"/>
                      <a:pt x="701" y="80"/>
                      <a:pt x="702" y="77"/>
                    </a:cubicBezTo>
                    <a:cubicBezTo>
                      <a:pt x="704" y="78"/>
                      <a:pt x="704" y="78"/>
                      <a:pt x="704" y="78"/>
                    </a:cubicBezTo>
                    <a:cubicBezTo>
                      <a:pt x="697" y="106"/>
                      <a:pt x="697" y="106"/>
                      <a:pt x="697" y="106"/>
                    </a:cubicBezTo>
                    <a:cubicBezTo>
                      <a:pt x="695" y="106"/>
                      <a:pt x="695" y="106"/>
                      <a:pt x="695" y="106"/>
                    </a:cubicBezTo>
                    <a:cubicBezTo>
                      <a:pt x="696" y="103"/>
                      <a:pt x="696" y="102"/>
                      <a:pt x="695" y="100"/>
                    </a:cubicBezTo>
                    <a:cubicBezTo>
                      <a:pt x="694" y="99"/>
                      <a:pt x="692" y="98"/>
                      <a:pt x="690" y="98"/>
                    </a:cubicBezTo>
                    <a:cubicBezTo>
                      <a:pt x="652" y="89"/>
                      <a:pt x="652" y="89"/>
                      <a:pt x="652" y="89"/>
                    </a:cubicBezTo>
                    <a:cubicBezTo>
                      <a:pt x="651" y="92"/>
                      <a:pt x="651" y="92"/>
                      <a:pt x="651" y="92"/>
                    </a:cubicBezTo>
                    <a:cubicBezTo>
                      <a:pt x="650" y="96"/>
                      <a:pt x="651" y="98"/>
                      <a:pt x="652" y="100"/>
                    </a:cubicBezTo>
                    <a:cubicBezTo>
                      <a:pt x="653" y="102"/>
                      <a:pt x="655" y="104"/>
                      <a:pt x="658" y="105"/>
                    </a:cubicBezTo>
                    <a:cubicBezTo>
                      <a:pt x="658" y="107"/>
                      <a:pt x="658" y="107"/>
                      <a:pt x="658" y="107"/>
                    </a:cubicBezTo>
                    <a:cubicBezTo>
                      <a:pt x="645" y="104"/>
                      <a:pt x="645" y="104"/>
                      <a:pt x="645" y="104"/>
                    </a:cubicBezTo>
                    <a:cubicBezTo>
                      <a:pt x="656" y="57"/>
                      <a:pt x="656" y="57"/>
                      <a:pt x="656" y="57"/>
                    </a:cubicBezTo>
                    <a:close/>
                    <a:moveTo>
                      <a:pt x="684" y="17"/>
                    </a:moveTo>
                    <a:cubicBezTo>
                      <a:pt x="699" y="18"/>
                      <a:pt x="699" y="18"/>
                      <a:pt x="699" y="18"/>
                    </a:cubicBezTo>
                    <a:cubicBezTo>
                      <a:pt x="701" y="18"/>
                      <a:pt x="703" y="17"/>
                      <a:pt x="704" y="16"/>
                    </a:cubicBezTo>
                    <a:cubicBezTo>
                      <a:pt x="705" y="15"/>
                      <a:pt x="706" y="13"/>
                      <a:pt x="706" y="11"/>
                    </a:cubicBezTo>
                    <a:cubicBezTo>
                      <a:pt x="708" y="11"/>
                      <a:pt x="708" y="11"/>
                      <a:pt x="708" y="11"/>
                    </a:cubicBezTo>
                    <a:cubicBezTo>
                      <a:pt x="708" y="40"/>
                      <a:pt x="708" y="40"/>
                      <a:pt x="708" y="40"/>
                    </a:cubicBezTo>
                    <a:cubicBezTo>
                      <a:pt x="706" y="40"/>
                      <a:pt x="706" y="40"/>
                      <a:pt x="706" y="40"/>
                    </a:cubicBezTo>
                    <a:cubicBezTo>
                      <a:pt x="706" y="38"/>
                      <a:pt x="705" y="36"/>
                      <a:pt x="704" y="35"/>
                    </a:cubicBezTo>
                    <a:cubicBezTo>
                      <a:pt x="703" y="34"/>
                      <a:pt x="701" y="34"/>
                      <a:pt x="698" y="34"/>
                    </a:cubicBezTo>
                    <a:cubicBezTo>
                      <a:pt x="687" y="33"/>
                      <a:pt x="687" y="33"/>
                      <a:pt x="687" y="33"/>
                    </a:cubicBezTo>
                    <a:cubicBezTo>
                      <a:pt x="663" y="46"/>
                      <a:pt x="663" y="46"/>
                      <a:pt x="663" y="46"/>
                    </a:cubicBezTo>
                    <a:cubicBezTo>
                      <a:pt x="661" y="47"/>
                      <a:pt x="660" y="48"/>
                      <a:pt x="659" y="49"/>
                    </a:cubicBezTo>
                    <a:cubicBezTo>
                      <a:pt x="658" y="50"/>
                      <a:pt x="658" y="51"/>
                      <a:pt x="658" y="53"/>
                    </a:cubicBezTo>
                    <a:cubicBezTo>
                      <a:pt x="656" y="53"/>
                      <a:pt x="656" y="53"/>
                      <a:pt x="656" y="53"/>
                    </a:cubicBezTo>
                    <a:cubicBezTo>
                      <a:pt x="656" y="26"/>
                      <a:pt x="656" y="26"/>
                      <a:pt x="656" y="26"/>
                    </a:cubicBezTo>
                    <a:cubicBezTo>
                      <a:pt x="658" y="26"/>
                      <a:pt x="658" y="26"/>
                      <a:pt x="658" y="26"/>
                    </a:cubicBezTo>
                    <a:cubicBezTo>
                      <a:pt x="658" y="27"/>
                      <a:pt x="658" y="28"/>
                      <a:pt x="659" y="29"/>
                    </a:cubicBezTo>
                    <a:cubicBezTo>
                      <a:pt x="659" y="29"/>
                      <a:pt x="660" y="30"/>
                      <a:pt x="660" y="30"/>
                    </a:cubicBezTo>
                    <a:cubicBezTo>
                      <a:pt x="661" y="30"/>
                      <a:pt x="661" y="30"/>
                      <a:pt x="661" y="30"/>
                    </a:cubicBezTo>
                    <a:cubicBezTo>
                      <a:pt x="662" y="29"/>
                      <a:pt x="662" y="29"/>
                      <a:pt x="662" y="29"/>
                    </a:cubicBezTo>
                    <a:cubicBezTo>
                      <a:pt x="681" y="20"/>
                      <a:pt x="681" y="20"/>
                      <a:pt x="681" y="20"/>
                    </a:cubicBezTo>
                    <a:cubicBezTo>
                      <a:pt x="664" y="10"/>
                      <a:pt x="664" y="10"/>
                      <a:pt x="664" y="10"/>
                    </a:cubicBezTo>
                    <a:cubicBezTo>
                      <a:pt x="663" y="10"/>
                      <a:pt x="663" y="10"/>
                      <a:pt x="663" y="10"/>
                    </a:cubicBezTo>
                    <a:cubicBezTo>
                      <a:pt x="662" y="9"/>
                      <a:pt x="662" y="9"/>
                      <a:pt x="661" y="9"/>
                    </a:cubicBezTo>
                    <a:cubicBezTo>
                      <a:pt x="660" y="9"/>
                      <a:pt x="660" y="10"/>
                      <a:pt x="659" y="11"/>
                    </a:cubicBezTo>
                    <a:cubicBezTo>
                      <a:pt x="659" y="11"/>
                      <a:pt x="659" y="13"/>
                      <a:pt x="659" y="14"/>
                    </a:cubicBezTo>
                    <a:cubicBezTo>
                      <a:pt x="659" y="15"/>
                      <a:pt x="659" y="15"/>
                      <a:pt x="659" y="15"/>
                    </a:cubicBezTo>
                    <a:cubicBezTo>
                      <a:pt x="657" y="15"/>
                      <a:pt x="657" y="15"/>
                      <a:pt x="657" y="15"/>
                    </a:cubicBezTo>
                    <a:cubicBezTo>
                      <a:pt x="657" y="0"/>
                      <a:pt x="657" y="0"/>
                      <a:pt x="657" y="0"/>
                    </a:cubicBezTo>
                    <a:cubicBezTo>
                      <a:pt x="659" y="0"/>
                      <a:pt x="659" y="0"/>
                      <a:pt x="659" y="0"/>
                    </a:cubicBezTo>
                    <a:cubicBezTo>
                      <a:pt x="659" y="1"/>
                      <a:pt x="659" y="1"/>
                      <a:pt x="659" y="1"/>
                    </a:cubicBezTo>
                    <a:cubicBezTo>
                      <a:pt x="659" y="1"/>
                      <a:pt x="659" y="2"/>
                      <a:pt x="660" y="3"/>
                    </a:cubicBezTo>
                    <a:cubicBezTo>
                      <a:pt x="660" y="4"/>
                      <a:pt x="661" y="5"/>
                      <a:pt x="663" y="6"/>
                    </a:cubicBezTo>
                    <a:lnTo>
                      <a:pt x="684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5" name="íṣ1ïďè"/>
              <p:cNvSpPr/>
              <p:nvPr/>
            </p:nvSpPr>
            <p:spPr bwMode="auto">
              <a:xfrm>
                <a:off x="2840038" y="4119563"/>
                <a:ext cx="493713" cy="128588"/>
              </a:xfrm>
              <a:custGeom>
                <a:avLst/>
                <a:gdLst>
                  <a:gd name="T0" fmla="*/ 0 w 150"/>
                  <a:gd name="T1" fmla="*/ 36 h 39"/>
                  <a:gd name="T2" fmla="*/ 9 w 150"/>
                  <a:gd name="T3" fmla="*/ 33 h 39"/>
                  <a:gd name="T4" fmla="*/ 8 w 150"/>
                  <a:gd name="T5" fmla="*/ 7 h 39"/>
                  <a:gd name="T6" fmla="*/ 3 w 150"/>
                  <a:gd name="T7" fmla="*/ 7 h 39"/>
                  <a:gd name="T8" fmla="*/ 1 w 150"/>
                  <a:gd name="T9" fmla="*/ 5 h 39"/>
                  <a:gd name="T10" fmla="*/ 17 w 150"/>
                  <a:gd name="T11" fmla="*/ 0 h 39"/>
                  <a:gd name="T12" fmla="*/ 19 w 150"/>
                  <a:gd name="T13" fmla="*/ 33 h 39"/>
                  <a:gd name="T14" fmla="*/ 28 w 150"/>
                  <a:gd name="T15" fmla="*/ 36 h 39"/>
                  <a:gd name="T16" fmla="*/ 21 w 150"/>
                  <a:gd name="T17" fmla="*/ 38 h 39"/>
                  <a:gd name="T18" fmla="*/ 6 w 150"/>
                  <a:gd name="T19" fmla="*/ 38 h 39"/>
                  <a:gd name="T20" fmla="*/ 0 w 150"/>
                  <a:gd name="T21" fmla="*/ 38 h 39"/>
                  <a:gd name="T22" fmla="*/ 46 w 150"/>
                  <a:gd name="T23" fmla="*/ 24 h 39"/>
                  <a:gd name="T24" fmla="*/ 48 w 150"/>
                  <a:gd name="T25" fmla="*/ 34 h 39"/>
                  <a:gd name="T26" fmla="*/ 61 w 150"/>
                  <a:gd name="T27" fmla="*/ 34 h 39"/>
                  <a:gd name="T28" fmla="*/ 60 w 150"/>
                  <a:gd name="T29" fmla="*/ 25 h 39"/>
                  <a:gd name="T30" fmla="*/ 51 w 150"/>
                  <a:gd name="T31" fmla="*/ 21 h 39"/>
                  <a:gd name="T32" fmla="*/ 60 w 150"/>
                  <a:gd name="T33" fmla="*/ 12 h 39"/>
                  <a:gd name="T34" fmla="*/ 59 w 150"/>
                  <a:gd name="T35" fmla="*/ 4 h 39"/>
                  <a:gd name="T36" fmla="*/ 48 w 150"/>
                  <a:gd name="T37" fmla="*/ 4 h 39"/>
                  <a:gd name="T38" fmla="*/ 49 w 150"/>
                  <a:gd name="T39" fmla="*/ 11 h 39"/>
                  <a:gd name="T40" fmla="*/ 56 w 150"/>
                  <a:gd name="T41" fmla="*/ 15 h 39"/>
                  <a:gd name="T42" fmla="*/ 41 w 150"/>
                  <a:gd name="T43" fmla="*/ 15 h 39"/>
                  <a:gd name="T44" fmla="*/ 43 w 150"/>
                  <a:gd name="T45" fmla="*/ 3 h 39"/>
                  <a:gd name="T46" fmla="*/ 65 w 150"/>
                  <a:gd name="T47" fmla="*/ 3 h 39"/>
                  <a:gd name="T48" fmla="*/ 67 w 150"/>
                  <a:gd name="T49" fmla="*/ 13 h 39"/>
                  <a:gd name="T50" fmla="*/ 68 w 150"/>
                  <a:gd name="T51" fmla="*/ 21 h 39"/>
                  <a:gd name="T52" fmla="*/ 66 w 150"/>
                  <a:gd name="T53" fmla="*/ 36 h 39"/>
                  <a:gd name="T54" fmla="*/ 41 w 150"/>
                  <a:gd name="T55" fmla="*/ 36 h 39"/>
                  <a:gd name="T56" fmla="*/ 39 w 150"/>
                  <a:gd name="T57" fmla="*/ 23 h 39"/>
                  <a:gd name="T58" fmla="*/ 47 w 150"/>
                  <a:gd name="T59" fmla="*/ 19 h 39"/>
                  <a:gd name="T60" fmla="*/ 80 w 150"/>
                  <a:gd name="T61" fmla="*/ 33 h 39"/>
                  <a:gd name="T62" fmla="*/ 87 w 150"/>
                  <a:gd name="T63" fmla="*/ 36 h 39"/>
                  <a:gd name="T64" fmla="*/ 100 w 150"/>
                  <a:gd name="T65" fmla="*/ 20 h 39"/>
                  <a:gd name="T66" fmla="*/ 95 w 150"/>
                  <a:gd name="T67" fmla="*/ 25 h 39"/>
                  <a:gd name="T68" fmla="*/ 79 w 150"/>
                  <a:gd name="T69" fmla="*/ 23 h 39"/>
                  <a:gd name="T70" fmla="*/ 81 w 150"/>
                  <a:gd name="T71" fmla="*/ 4 h 39"/>
                  <a:gd name="T72" fmla="*/ 105 w 150"/>
                  <a:gd name="T73" fmla="*/ 5 h 39"/>
                  <a:gd name="T74" fmla="*/ 108 w 150"/>
                  <a:gd name="T75" fmla="*/ 26 h 39"/>
                  <a:gd name="T76" fmla="*/ 96 w 150"/>
                  <a:gd name="T77" fmla="*/ 38 h 39"/>
                  <a:gd name="T78" fmla="*/ 81 w 150"/>
                  <a:gd name="T79" fmla="*/ 38 h 39"/>
                  <a:gd name="T80" fmla="*/ 77 w 150"/>
                  <a:gd name="T81" fmla="*/ 36 h 39"/>
                  <a:gd name="T82" fmla="*/ 98 w 150"/>
                  <a:gd name="T83" fmla="*/ 19 h 39"/>
                  <a:gd name="T84" fmla="*/ 98 w 150"/>
                  <a:gd name="T85" fmla="*/ 6 h 39"/>
                  <a:gd name="T86" fmla="*/ 87 w 150"/>
                  <a:gd name="T87" fmla="*/ 6 h 39"/>
                  <a:gd name="T88" fmla="*/ 88 w 150"/>
                  <a:gd name="T89" fmla="*/ 19 h 39"/>
                  <a:gd name="T90" fmla="*/ 93 w 150"/>
                  <a:gd name="T91" fmla="*/ 21 h 39"/>
                  <a:gd name="T92" fmla="*/ 128 w 150"/>
                  <a:gd name="T93" fmla="*/ 20 h 39"/>
                  <a:gd name="T94" fmla="*/ 129 w 150"/>
                  <a:gd name="T95" fmla="*/ 33 h 39"/>
                  <a:gd name="T96" fmla="*/ 139 w 150"/>
                  <a:gd name="T97" fmla="*/ 34 h 39"/>
                  <a:gd name="T98" fmla="*/ 139 w 150"/>
                  <a:gd name="T99" fmla="*/ 21 h 39"/>
                  <a:gd name="T100" fmla="*/ 133 w 150"/>
                  <a:gd name="T101" fmla="*/ 18 h 39"/>
                  <a:gd name="T102" fmla="*/ 146 w 150"/>
                  <a:gd name="T103" fmla="*/ 6 h 39"/>
                  <a:gd name="T104" fmla="*/ 139 w 150"/>
                  <a:gd name="T105" fmla="*/ 4 h 39"/>
                  <a:gd name="T106" fmla="*/ 126 w 150"/>
                  <a:gd name="T107" fmla="*/ 19 h 39"/>
                  <a:gd name="T108" fmla="*/ 131 w 150"/>
                  <a:gd name="T109" fmla="*/ 15 h 39"/>
                  <a:gd name="T110" fmla="*/ 147 w 150"/>
                  <a:gd name="T111" fmla="*/ 16 h 39"/>
                  <a:gd name="T112" fmla="*/ 146 w 150"/>
                  <a:gd name="T113" fmla="*/ 35 h 39"/>
                  <a:gd name="T114" fmla="*/ 121 w 150"/>
                  <a:gd name="T115" fmla="*/ 35 h 39"/>
                  <a:gd name="T116" fmla="*/ 118 w 150"/>
                  <a:gd name="T117" fmla="*/ 13 h 39"/>
                  <a:gd name="T118" fmla="*/ 130 w 150"/>
                  <a:gd name="T119" fmla="*/ 2 h 39"/>
                  <a:gd name="T120" fmla="*/ 145 w 150"/>
                  <a:gd name="T121" fmla="*/ 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50" h="39">
                    <a:moveTo>
                      <a:pt x="0" y="38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4" y="36"/>
                      <a:pt x="6" y="36"/>
                      <a:pt x="8" y="35"/>
                    </a:cubicBezTo>
                    <a:cubicBezTo>
                      <a:pt x="9" y="35"/>
                      <a:pt x="9" y="34"/>
                      <a:pt x="9" y="33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9"/>
                      <a:pt x="9" y="8"/>
                      <a:pt x="8" y="7"/>
                    </a:cubicBezTo>
                    <a:cubicBezTo>
                      <a:pt x="8" y="7"/>
                      <a:pt x="7" y="7"/>
                      <a:pt x="5" y="7"/>
                    </a:cubicBezTo>
                    <a:cubicBezTo>
                      <a:pt x="5" y="7"/>
                      <a:pt x="4" y="7"/>
                      <a:pt x="3" y="7"/>
                    </a:cubicBezTo>
                    <a:cubicBezTo>
                      <a:pt x="2" y="7"/>
                      <a:pt x="2" y="7"/>
                      <a:pt x="1" y="7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4" y="4"/>
                      <a:pt x="7" y="4"/>
                      <a:pt x="9" y="3"/>
                    </a:cubicBezTo>
                    <a:cubicBezTo>
                      <a:pt x="12" y="3"/>
                      <a:pt x="14" y="2"/>
                      <a:pt x="17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19" y="34"/>
                      <a:pt x="20" y="35"/>
                      <a:pt x="21" y="35"/>
                    </a:cubicBezTo>
                    <a:cubicBezTo>
                      <a:pt x="22" y="36"/>
                      <a:pt x="24" y="36"/>
                      <a:pt x="28" y="36"/>
                    </a:cubicBezTo>
                    <a:cubicBezTo>
                      <a:pt x="28" y="38"/>
                      <a:pt x="28" y="38"/>
                      <a:pt x="28" y="38"/>
                    </a:cubicBezTo>
                    <a:cubicBezTo>
                      <a:pt x="26" y="38"/>
                      <a:pt x="23" y="38"/>
                      <a:pt x="21" y="38"/>
                    </a:cubicBezTo>
                    <a:cubicBezTo>
                      <a:pt x="19" y="38"/>
                      <a:pt x="16" y="38"/>
                      <a:pt x="14" y="38"/>
                    </a:cubicBezTo>
                    <a:cubicBezTo>
                      <a:pt x="11" y="38"/>
                      <a:pt x="8" y="38"/>
                      <a:pt x="6" y="38"/>
                    </a:cubicBezTo>
                    <a:cubicBezTo>
                      <a:pt x="4" y="38"/>
                      <a:pt x="2" y="38"/>
                      <a:pt x="0" y="38"/>
                    </a:cubicBezTo>
                    <a:cubicBezTo>
                      <a:pt x="0" y="38"/>
                      <a:pt x="0" y="38"/>
                      <a:pt x="0" y="38"/>
                    </a:cubicBezTo>
                    <a:close/>
                    <a:moveTo>
                      <a:pt x="51" y="21"/>
                    </a:moveTo>
                    <a:cubicBezTo>
                      <a:pt x="49" y="22"/>
                      <a:pt x="48" y="23"/>
                      <a:pt x="46" y="24"/>
                    </a:cubicBezTo>
                    <a:cubicBezTo>
                      <a:pt x="45" y="26"/>
                      <a:pt x="45" y="27"/>
                      <a:pt x="45" y="28"/>
                    </a:cubicBezTo>
                    <a:cubicBezTo>
                      <a:pt x="45" y="31"/>
                      <a:pt x="46" y="32"/>
                      <a:pt x="48" y="34"/>
                    </a:cubicBezTo>
                    <a:cubicBezTo>
                      <a:pt x="50" y="35"/>
                      <a:pt x="52" y="36"/>
                      <a:pt x="55" y="36"/>
                    </a:cubicBezTo>
                    <a:cubicBezTo>
                      <a:pt x="57" y="36"/>
                      <a:pt x="59" y="36"/>
                      <a:pt x="61" y="34"/>
                    </a:cubicBezTo>
                    <a:cubicBezTo>
                      <a:pt x="62" y="33"/>
                      <a:pt x="63" y="32"/>
                      <a:pt x="63" y="30"/>
                    </a:cubicBezTo>
                    <a:cubicBezTo>
                      <a:pt x="63" y="28"/>
                      <a:pt x="62" y="27"/>
                      <a:pt x="60" y="25"/>
                    </a:cubicBezTo>
                    <a:cubicBezTo>
                      <a:pt x="58" y="24"/>
                      <a:pt x="55" y="23"/>
                      <a:pt x="51" y="21"/>
                    </a:cubicBezTo>
                    <a:cubicBezTo>
                      <a:pt x="51" y="21"/>
                      <a:pt x="51" y="21"/>
                      <a:pt x="51" y="21"/>
                    </a:cubicBezTo>
                    <a:close/>
                    <a:moveTo>
                      <a:pt x="56" y="15"/>
                    </a:moveTo>
                    <a:cubicBezTo>
                      <a:pt x="58" y="14"/>
                      <a:pt x="59" y="13"/>
                      <a:pt x="60" y="12"/>
                    </a:cubicBezTo>
                    <a:cubicBezTo>
                      <a:pt x="61" y="11"/>
                      <a:pt x="61" y="10"/>
                      <a:pt x="61" y="8"/>
                    </a:cubicBezTo>
                    <a:cubicBezTo>
                      <a:pt x="61" y="7"/>
                      <a:pt x="60" y="5"/>
                      <a:pt x="59" y="4"/>
                    </a:cubicBezTo>
                    <a:cubicBezTo>
                      <a:pt x="57" y="3"/>
                      <a:pt x="56" y="3"/>
                      <a:pt x="53" y="3"/>
                    </a:cubicBezTo>
                    <a:cubicBezTo>
                      <a:pt x="51" y="3"/>
                      <a:pt x="50" y="3"/>
                      <a:pt x="48" y="4"/>
                    </a:cubicBezTo>
                    <a:cubicBezTo>
                      <a:pt x="47" y="5"/>
                      <a:pt x="46" y="6"/>
                      <a:pt x="46" y="7"/>
                    </a:cubicBezTo>
                    <a:cubicBezTo>
                      <a:pt x="46" y="9"/>
                      <a:pt x="47" y="10"/>
                      <a:pt x="49" y="11"/>
                    </a:cubicBezTo>
                    <a:cubicBezTo>
                      <a:pt x="50" y="13"/>
                      <a:pt x="53" y="14"/>
                      <a:pt x="56" y="15"/>
                    </a:cubicBezTo>
                    <a:cubicBezTo>
                      <a:pt x="56" y="15"/>
                      <a:pt x="56" y="15"/>
                      <a:pt x="56" y="15"/>
                    </a:cubicBezTo>
                    <a:close/>
                    <a:moveTo>
                      <a:pt x="47" y="19"/>
                    </a:moveTo>
                    <a:cubicBezTo>
                      <a:pt x="44" y="18"/>
                      <a:pt x="42" y="16"/>
                      <a:pt x="41" y="15"/>
                    </a:cubicBezTo>
                    <a:cubicBezTo>
                      <a:pt x="39" y="13"/>
                      <a:pt x="39" y="12"/>
                      <a:pt x="39" y="10"/>
                    </a:cubicBezTo>
                    <a:cubicBezTo>
                      <a:pt x="39" y="7"/>
                      <a:pt x="40" y="5"/>
                      <a:pt x="43" y="3"/>
                    </a:cubicBezTo>
                    <a:cubicBezTo>
                      <a:pt x="46" y="1"/>
                      <a:pt x="50" y="0"/>
                      <a:pt x="55" y="0"/>
                    </a:cubicBezTo>
                    <a:cubicBezTo>
                      <a:pt x="59" y="0"/>
                      <a:pt x="62" y="1"/>
                      <a:pt x="65" y="3"/>
                    </a:cubicBezTo>
                    <a:cubicBezTo>
                      <a:pt x="67" y="4"/>
                      <a:pt x="69" y="6"/>
                      <a:pt x="69" y="8"/>
                    </a:cubicBezTo>
                    <a:cubicBezTo>
                      <a:pt x="69" y="10"/>
                      <a:pt x="68" y="11"/>
                      <a:pt x="67" y="13"/>
                    </a:cubicBezTo>
                    <a:cubicBezTo>
                      <a:pt x="65" y="14"/>
                      <a:pt x="63" y="15"/>
                      <a:pt x="60" y="17"/>
                    </a:cubicBezTo>
                    <a:cubicBezTo>
                      <a:pt x="64" y="18"/>
                      <a:pt x="66" y="20"/>
                      <a:pt x="68" y="21"/>
                    </a:cubicBezTo>
                    <a:cubicBezTo>
                      <a:pt x="70" y="23"/>
                      <a:pt x="71" y="25"/>
                      <a:pt x="71" y="28"/>
                    </a:cubicBezTo>
                    <a:cubicBezTo>
                      <a:pt x="71" y="31"/>
                      <a:pt x="69" y="34"/>
                      <a:pt x="66" y="36"/>
                    </a:cubicBezTo>
                    <a:cubicBezTo>
                      <a:pt x="63" y="38"/>
                      <a:pt x="59" y="39"/>
                      <a:pt x="54" y="39"/>
                    </a:cubicBezTo>
                    <a:cubicBezTo>
                      <a:pt x="48" y="39"/>
                      <a:pt x="44" y="38"/>
                      <a:pt x="41" y="36"/>
                    </a:cubicBezTo>
                    <a:cubicBezTo>
                      <a:pt x="38" y="34"/>
                      <a:pt x="36" y="32"/>
                      <a:pt x="36" y="29"/>
                    </a:cubicBezTo>
                    <a:cubicBezTo>
                      <a:pt x="36" y="27"/>
                      <a:pt x="37" y="25"/>
                      <a:pt x="39" y="23"/>
                    </a:cubicBezTo>
                    <a:cubicBezTo>
                      <a:pt x="40" y="22"/>
                      <a:pt x="43" y="20"/>
                      <a:pt x="47" y="19"/>
                    </a:cubicBezTo>
                    <a:cubicBezTo>
                      <a:pt x="47" y="19"/>
                      <a:pt x="47" y="19"/>
                      <a:pt x="47" y="19"/>
                    </a:cubicBezTo>
                    <a:close/>
                    <a:moveTo>
                      <a:pt x="77" y="36"/>
                    </a:moveTo>
                    <a:cubicBezTo>
                      <a:pt x="80" y="33"/>
                      <a:pt x="80" y="33"/>
                      <a:pt x="80" y="33"/>
                    </a:cubicBezTo>
                    <a:cubicBezTo>
                      <a:pt x="81" y="34"/>
                      <a:pt x="82" y="35"/>
                      <a:pt x="83" y="35"/>
                    </a:cubicBezTo>
                    <a:cubicBezTo>
                      <a:pt x="85" y="35"/>
                      <a:pt x="86" y="36"/>
                      <a:pt x="87" y="36"/>
                    </a:cubicBezTo>
                    <a:cubicBezTo>
                      <a:pt x="91" y="36"/>
                      <a:pt x="94" y="34"/>
                      <a:pt x="97" y="31"/>
                    </a:cubicBezTo>
                    <a:cubicBezTo>
                      <a:pt x="99" y="28"/>
                      <a:pt x="100" y="25"/>
                      <a:pt x="100" y="20"/>
                    </a:cubicBezTo>
                    <a:cubicBezTo>
                      <a:pt x="100" y="20"/>
                      <a:pt x="100" y="20"/>
                      <a:pt x="100" y="20"/>
                    </a:cubicBezTo>
                    <a:cubicBezTo>
                      <a:pt x="99" y="22"/>
                      <a:pt x="97" y="24"/>
                      <a:pt x="95" y="25"/>
                    </a:cubicBezTo>
                    <a:cubicBezTo>
                      <a:pt x="93" y="26"/>
                      <a:pt x="91" y="26"/>
                      <a:pt x="88" y="26"/>
                    </a:cubicBezTo>
                    <a:cubicBezTo>
                      <a:pt x="85" y="26"/>
                      <a:pt x="82" y="25"/>
                      <a:pt x="79" y="23"/>
                    </a:cubicBezTo>
                    <a:cubicBezTo>
                      <a:pt x="77" y="21"/>
                      <a:pt x="76" y="18"/>
                      <a:pt x="76" y="15"/>
                    </a:cubicBezTo>
                    <a:cubicBezTo>
                      <a:pt x="76" y="11"/>
                      <a:pt x="78" y="7"/>
                      <a:pt x="81" y="4"/>
                    </a:cubicBezTo>
                    <a:cubicBezTo>
                      <a:pt x="84" y="2"/>
                      <a:pt x="88" y="0"/>
                      <a:pt x="93" y="0"/>
                    </a:cubicBezTo>
                    <a:cubicBezTo>
                      <a:pt x="98" y="0"/>
                      <a:pt x="102" y="2"/>
                      <a:pt x="105" y="5"/>
                    </a:cubicBezTo>
                    <a:cubicBezTo>
                      <a:pt x="108" y="8"/>
                      <a:pt x="110" y="12"/>
                      <a:pt x="110" y="17"/>
                    </a:cubicBezTo>
                    <a:cubicBezTo>
                      <a:pt x="110" y="20"/>
                      <a:pt x="109" y="23"/>
                      <a:pt x="108" y="26"/>
                    </a:cubicBezTo>
                    <a:cubicBezTo>
                      <a:pt x="107" y="29"/>
                      <a:pt x="106" y="31"/>
                      <a:pt x="104" y="33"/>
                    </a:cubicBezTo>
                    <a:cubicBezTo>
                      <a:pt x="101" y="35"/>
                      <a:pt x="99" y="36"/>
                      <a:pt x="96" y="38"/>
                    </a:cubicBezTo>
                    <a:cubicBezTo>
                      <a:pt x="93" y="39"/>
                      <a:pt x="91" y="39"/>
                      <a:pt x="87" y="39"/>
                    </a:cubicBezTo>
                    <a:cubicBezTo>
                      <a:pt x="85" y="39"/>
                      <a:pt x="83" y="39"/>
                      <a:pt x="81" y="38"/>
                    </a:cubicBezTo>
                    <a:cubicBezTo>
                      <a:pt x="80" y="38"/>
                      <a:pt x="78" y="37"/>
                      <a:pt x="77" y="36"/>
                    </a:cubicBezTo>
                    <a:cubicBezTo>
                      <a:pt x="77" y="36"/>
                      <a:pt x="77" y="36"/>
                      <a:pt x="77" y="36"/>
                    </a:cubicBezTo>
                    <a:close/>
                    <a:moveTo>
                      <a:pt x="93" y="21"/>
                    </a:moveTo>
                    <a:cubicBezTo>
                      <a:pt x="95" y="21"/>
                      <a:pt x="97" y="21"/>
                      <a:pt x="98" y="19"/>
                    </a:cubicBezTo>
                    <a:cubicBezTo>
                      <a:pt x="99" y="18"/>
                      <a:pt x="100" y="16"/>
                      <a:pt x="100" y="14"/>
                    </a:cubicBezTo>
                    <a:cubicBezTo>
                      <a:pt x="100" y="11"/>
                      <a:pt x="99" y="8"/>
                      <a:pt x="98" y="6"/>
                    </a:cubicBezTo>
                    <a:cubicBezTo>
                      <a:pt x="96" y="4"/>
                      <a:pt x="94" y="3"/>
                      <a:pt x="92" y="3"/>
                    </a:cubicBezTo>
                    <a:cubicBezTo>
                      <a:pt x="90" y="3"/>
                      <a:pt x="88" y="4"/>
                      <a:pt x="87" y="6"/>
                    </a:cubicBezTo>
                    <a:cubicBezTo>
                      <a:pt x="86" y="7"/>
                      <a:pt x="86" y="9"/>
                      <a:pt x="86" y="12"/>
                    </a:cubicBezTo>
                    <a:cubicBezTo>
                      <a:pt x="86" y="15"/>
                      <a:pt x="87" y="17"/>
                      <a:pt x="88" y="19"/>
                    </a:cubicBezTo>
                    <a:cubicBezTo>
                      <a:pt x="89" y="21"/>
                      <a:pt x="91" y="21"/>
                      <a:pt x="93" y="21"/>
                    </a:cubicBezTo>
                    <a:cubicBezTo>
                      <a:pt x="93" y="21"/>
                      <a:pt x="93" y="21"/>
                      <a:pt x="93" y="21"/>
                    </a:cubicBezTo>
                    <a:close/>
                    <a:moveTo>
                      <a:pt x="133" y="18"/>
                    </a:moveTo>
                    <a:cubicBezTo>
                      <a:pt x="131" y="18"/>
                      <a:pt x="130" y="19"/>
                      <a:pt x="128" y="20"/>
                    </a:cubicBezTo>
                    <a:cubicBezTo>
                      <a:pt x="127" y="21"/>
                      <a:pt x="127" y="23"/>
                      <a:pt x="127" y="25"/>
                    </a:cubicBezTo>
                    <a:cubicBezTo>
                      <a:pt x="127" y="29"/>
                      <a:pt x="127" y="31"/>
                      <a:pt x="129" y="33"/>
                    </a:cubicBezTo>
                    <a:cubicBezTo>
                      <a:pt x="130" y="35"/>
                      <a:pt x="132" y="36"/>
                      <a:pt x="134" y="36"/>
                    </a:cubicBezTo>
                    <a:cubicBezTo>
                      <a:pt x="136" y="36"/>
                      <a:pt x="138" y="35"/>
                      <a:pt x="139" y="34"/>
                    </a:cubicBezTo>
                    <a:cubicBezTo>
                      <a:pt x="140" y="33"/>
                      <a:pt x="140" y="31"/>
                      <a:pt x="140" y="28"/>
                    </a:cubicBezTo>
                    <a:cubicBezTo>
                      <a:pt x="140" y="25"/>
                      <a:pt x="140" y="22"/>
                      <a:pt x="139" y="21"/>
                    </a:cubicBezTo>
                    <a:cubicBezTo>
                      <a:pt x="137" y="19"/>
                      <a:pt x="136" y="18"/>
                      <a:pt x="133" y="18"/>
                    </a:cubicBezTo>
                    <a:cubicBezTo>
                      <a:pt x="133" y="18"/>
                      <a:pt x="133" y="18"/>
                      <a:pt x="133" y="18"/>
                    </a:cubicBezTo>
                    <a:close/>
                    <a:moveTo>
                      <a:pt x="150" y="4"/>
                    </a:moveTo>
                    <a:cubicBezTo>
                      <a:pt x="146" y="6"/>
                      <a:pt x="146" y="6"/>
                      <a:pt x="146" y="6"/>
                    </a:cubicBezTo>
                    <a:cubicBezTo>
                      <a:pt x="145" y="5"/>
                      <a:pt x="144" y="5"/>
                      <a:pt x="143" y="5"/>
                    </a:cubicBezTo>
                    <a:cubicBezTo>
                      <a:pt x="142" y="4"/>
                      <a:pt x="141" y="4"/>
                      <a:pt x="139" y="4"/>
                    </a:cubicBezTo>
                    <a:cubicBezTo>
                      <a:pt x="135" y="4"/>
                      <a:pt x="132" y="5"/>
                      <a:pt x="130" y="8"/>
                    </a:cubicBezTo>
                    <a:cubicBezTo>
                      <a:pt x="127" y="11"/>
                      <a:pt x="126" y="15"/>
                      <a:pt x="126" y="19"/>
                    </a:cubicBezTo>
                    <a:cubicBezTo>
                      <a:pt x="126" y="19"/>
                      <a:pt x="126" y="19"/>
                      <a:pt x="126" y="19"/>
                    </a:cubicBezTo>
                    <a:cubicBezTo>
                      <a:pt x="127" y="17"/>
                      <a:pt x="129" y="16"/>
                      <a:pt x="131" y="15"/>
                    </a:cubicBezTo>
                    <a:cubicBezTo>
                      <a:pt x="133" y="14"/>
                      <a:pt x="135" y="13"/>
                      <a:pt x="138" y="13"/>
                    </a:cubicBezTo>
                    <a:cubicBezTo>
                      <a:pt x="142" y="13"/>
                      <a:pt x="145" y="14"/>
                      <a:pt x="147" y="16"/>
                    </a:cubicBezTo>
                    <a:cubicBezTo>
                      <a:pt x="149" y="18"/>
                      <a:pt x="150" y="21"/>
                      <a:pt x="150" y="25"/>
                    </a:cubicBezTo>
                    <a:cubicBezTo>
                      <a:pt x="150" y="29"/>
                      <a:pt x="149" y="32"/>
                      <a:pt x="146" y="35"/>
                    </a:cubicBezTo>
                    <a:cubicBezTo>
                      <a:pt x="143" y="38"/>
                      <a:pt x="139" y="39"/>
                      <a:pt x="134" y="39"/>
                    </a:cubicBezTo>
                    <a:cubicBezTo>
                      <a:pt x="128" y="39"/>
                      <a:pt x="124" y="38"/>
                      <a:pt x="121" y="35"/>
                    </a:cubicBezTo>
                    <a:cubicBezTo>
                      <a:pt x="118" y="32"/>
                      <a:pt x="116" y="27"/>
                      <a:pt x="116" y="22"/>
                    </a:cubicBezTo>
                    <a:cubicBezTo>
                      <a:pt x="116" y="19"/>
                      <a:pt x="117" y="16"/>
                      <a:pt x="118" y="13"/>
                    </a:cubicBezTo>
                    <a:cubicBezTo>
                      <a:pt x="119" y="11"/>
                      <a:pt x="121" y="9"/>
                      <a:pt x="123" y="7"/>
                    </a:cubicBezTo>
                    <a:cubicBezTo>
                      <a:pt x="125" y="5"/>
                      <a:pt x="127" y="3"/>
                      <a:pt x="130" y="2"/>
                    </a:cubicBezTo>
                    <a:cubicBezTo>
                      <a:pt x="133" y="1"/>
                      <a:pt x="136" y="0"/>
                      <a:pt x="139" y="0"/>
                    </a:cubicBezTo>
                    <a:cubicBezTo>
                      <a:pt x="141" y="0"/>
                      <a:pt x="143" y="1"/>
                      <a:pt x="145" y="1"/>
                    </a:cubicBezTo>
                    <a:cubicBezTo>
                      <a:pt x="147" y="2"/>
                      <a:pt x="148" y="3"/>
                      <a:pt x="15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6" name="iṡḷîḑê"/>
              <p:cNvSpPr/>
              <p:nvPr/>
            </p:nvSpPr>
            <p:spPr bwMode="auto">
              <a:xfrm>
                <a:off x="2190751" y="2551113"/>
                <a:ext cx="1754188" cy="1651000"/>
              </a:xfrm>
              <a:custGeom>
                <a:avLst/>
                <a:gdLst>
                  <a:gd name="T0" fmla="*/ 266 w 532"/>
                  <a:gd name="T1" fmla="*/ 0 h 500"/>
                  <a:gd name="T2" fmla="*/ 532 w 532"/>
                  <a:gd name="T3" fmla="*/ 266 h 500"/>
                  <a:gd name="T4" fmla="*/ 395 w 532"/>
                  <a:gd name="T5" fmla="*/ 500 h 500"/>
                  <a:gd name="T6" fmla="*/ 389 w 532"/>
                  <a:gd name="T7" fmla="*/ 489 h 500"/>
                  <a:gd name="T8" fmla="*/ 521 w 532"/>
                  <a:gd name="T9" fmla="*/ 266 h 500"/>
                  <a:gd name="T10" fmla="*/ 266 w 532"/>
                  <a:gd name="T11" fmla="*/ 12 h 500"/>
                  <a:gd name="T12" fmla="*/ 11 w 532"/>
                  <a:gd name="T13" fmla="*/ 266 h 500"/>
                  <a:gd name="T14" fmla="*/ 144 w 532"/>
                  <a:gd name="T15" fmla="*/ 490 h 500"/>
                  <a:gd name="T16" fmla="*/ 139 w 532"/>
                  <a:gd name="T17" fmla="*/ 500 h 500"/>
                  <a:gd name="T18" fmla="*/ 0 w 532"/>
                  <a:gd name="T19" fmla="*/ 266 h 500"/>
                  <a:gd name="T20" fmla="*/ 266 w 532"/>
                  <a:gd name="T21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32" h="500">
                    <a:moveTo>
                      <a:pt x="266" y="0"/>
                    </a:moveTo>
                    <a:cubicBezTo>
                      <a:pt x="413" y="0"/>
                      <a:pt x="532" y="120"/>
                      <a:pt x="532" y="266"/>
                    </a:cubicBezTo>
                    <a:cubicBezTo>
                      <a:pt x="532" y="367"/>
                      <a:pt x="477" y="454"/>
                      <a:pt x="395" y="500"/>
                    </a:cubicBezTo>
                    <a:cubicBezTo>
                      <a:pt x="389" y="489"/>
                      <a:pt x="389" y="489"/>
                      <a:pt x="389" y="489"/>
                    </a:cubicBezTo>
                    <a:cubicBezTo>
                      <a:pt x="468" y="446"/>
                      <a:pt x="521" y="362"/>
                      <a:pt x="521" y="266"/>
                    </a:cubicBezTo>
                    <a:cubicBezTo>
                      <a:pt x="521" y="126"/>
                      <a:pt x="407" y="12"/>
                      <a:pt x="266" y="12"/>
                    </a:cubicBezTo>
                    <a:cubicBezTo>
                      <a:pt x="126" y="12"/>
                      <a:pt x="11" y="126"/>
                      <a:pt x="11" y="266"/>
                    </a:cubicBezTo>
                    <a:cubicBezTo>
                      <a:pt x="11" y="363"/>
                      <a:pt x="65" y="447"/>
                      <a:pt x="144" y="490"/>
                    </a:cubicBezTo>
                    <a:cubicBezTo>
                      <a:pt x="139" y="500"/>
                      <a:pt x="139" y="500"/>
                      <a:pt x="139" y="500"/>
                    </a:cubicBezTo>
                    <a:cubicBezTo>
                      <a:pt x="56" y="455"/>
                      <a:pt x="0" y="367"/>
                      <a:pt x="0" y="266"/>
                    </a:cubicBezTo>
                    <a:cubicBezTo>
                      <a:pt x="0" y="120"/>
                      <a:pt x="120" y="0"/>
                      <a:pt x="26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27" name="ïṡḷíďe"/>
            <p:cNvSpPr/>
            <p:nvPr/>
          </p:nvSpPr>
          <p:spPr bwMode="auto">
            <a:xfrm>
              <a:off x="5203178" y="3897933"/>
              <a:ext cx="4000161" cy="237633"/>
            </a:xfrm>
            <a:custGeom>
              <a:avLst/>
              <a:gdLst>
                <a:gd name="T0" fmla="*/ 2 w 1702"/>
                <a:gd name="T1" fmla="*/ 29 h 101"/>
                <a:gd name="T2" fmla="*/ 49 w 1702"/>
                <a:gd name="T3" fmla="*/ 13 h 101"/>
                <a:gd name="T4" fmla="*/ 59 w 1702"/>
                <a:gd name="T5" fmla="*/ 92 h 101"/>
                <a:gd name="T6" fmla="*/ 87 w 1702"/>
                <a:gd name="T7" fmla="*/ 93 h 101"/>
                <a:gd name="T8" fmla="*/ 110 w 1702"/>
                <a:gd name="T9" fmla="*/ 3 h 101"/>
                <a:gd name="T10" fmla="*/ 133 w 1702"/>
                <a:gd name="T11" fmla="*/ 99 h 101"/>
                <a:gd name="T12" fmla="*/ 235 w 1702"/>
                <a:gd name="T13" fmla="*/ 34 h 101"/>
                <a:gd name="T14" fmla="*/ 240 w 1702"/>
                <a:gd name="T15" fmla="*/ 77 h 101"/>
                <a:gd name="T16" fmla="*/ 254 w 1702"/>
                <a:gd name="T17" fmla="*/ 99 h 101"/>
                <a:gd name="T18" fmla="*/ 263 w 1702"/>
                <a:gd name="T19" fmla="*/ 2 h 101"/>
                <a:gd name="T20" fmla="*/ 326 w 1702"/>
                <a:gd name="T21" fmla="*/ 9 h 101"/>
                <a:gd name="T22" fmla="*/ 354 w 1702"/>
                <a:gd name="T23" fmla="*/ 9 h 101"/>
                <a:gd name="T24" fmla="*/ 318 w 1702"/>
                <a:gd name="T25" fmla="*/ 93 h 101"/>
                <a:gd name="T26" fmla="*/ 299 w 1702"/>
                <a:gd name="T27" fmla="*/ 98 h 101"/>
                <a:gd name="T28" fmla="*/ 377 w 1702"/>
                <a:gd name="T29" fmla="*/ 2 h 101"/>
                <a:gd name="T30" fmla="*/ 415 w 1702"/>
                <a:gd name="T31" fmla="*/ 82 h 101"/>
                <a:gd name="T32" fmla="*/ 454 w 1702"/>
                <a:gd name="T33" fmla="*/ 2 h 101"/>
                <a:gd name="T34" fmla="*/ 398 w 1702"/>
                <a:gd name="T35" fmla="*/ 93 h 101"/>
                <a:gd name="T36" fmla="*/ 510 w 1702"/>
                <a:gd name="T37" fmla="*/ 93 h 101"/>
                <a:gd name="T38" fmla="*/ 528 w 1702"/>
                <a:gd name="T39" fmla="*/ 2 h 101"/>
                <a:gd name="T40" fmla="*/ 534 w 1702"/>
                <a:gd name="T41" fmla="*/ 93 h 101"/>
                <a:gd name="T42" fmla="*/ 669 w 1702"/>
                <a:gd name="T43" fmla="*/ 9 h 101"/>
                <a:gd name="T44" fmla="*/ 680 w 1702"/>
                <a:gd name="T45" fmla="*/ 17 h 101"/>
                <a:gd name="T46" fmla="*/ 598 w 1702"/>
                <a:gd name="T47" fmla="*/ 98 h 101"/>
                <a:gd name="T48" fmla="*/ 607 w 1702"/>
                <a:gd name="T49" fmla="*/ 3 h 101"/>
                <a:gd name="T50" fmla="*/ 793 w 1702"/>
                <a:gd name="T51" fmla="*/ 3 h 101"/>
                <a:gd name="T52" fmla="*/ 827 w 1702"/>
                <a:gd name="T53" fmla="*/ 89 h 101"/>
                <a:gd name="T54" fmla="*/ 860 w 1702"/>
                <a:gd name="T55" fmla="*/ 2 h 101"/>
                <a:gd name="T56" fmla="*/ 781 w 1702"/>
                <a:gd name="T57" fmla="*/ 16 h 101"/>
                <a:gd name="T58" fmla="*/ 981 w 1702"/>
                <a:gd name="T59" fmla="*/ 7 h 101"/>
                <a:gd name="T60" fmla="*/ 914 w 1702"/>
                <a:gd name="T61" fmla="*/ 99 h 101"/>
                <a:gd name="T62" fmla="*/ 882 w 1702"/>
                <a:gd name="T63" fmla="*/ 7 h 101"/>
                <a:gd name="T64" fmla="*/ 1006 w 1702"/>
                <a:gd name="T65" fmla="*/ 91 h 101"/>
                <a:gd name="T66" fmla="*/ 1042 w 1702"/>
                <a:gd name="T67" fmla="*/ 2 h 101"/>
                <a:gd name="T68" fmla="*/ 1020 w 1702"/>
                <a:gd name="T69" fmla="*/ 98 h 101"/>
                <a:gd name="T70" fmla="*/ 1054 w 1702"/>
                <a:gd name="T71" fmla="*/ 2 h 101"/>
                <a:gd name="T72" fmla="*/ 1090 w 1702"/>
                <a:gd name="T73" fmla="*/ 15 h 101"/>
                <a:gd name="T74" fmla="*/ 1137 w 1702"/>
                <a:gd name="T75" fmla="*/ 2 h 101"/>
                <a:gd name="T76" fmla="*/ 1173 w 1702"/>
                <a:gd name="T77" fmla="*/ 91 h 101"/>
                <a:gd name="T78" fmla="*/ 1224 w 1702"/>
                <a:gd name="T79" fmla="*/ 2 h 101"/>
                <a:gd name="T80" fmla="*/ 1210 w 1702"/>
                <a:gd name="T81" fmla="*/ 46 h 101"/>
                <a:gd name="T82" fmla="*/ 1211 w 1702"/>
                <a:gd name="T83" fmla="*/ 52 h 101"/>
                <a:gd name="T84" fmla="*/ 1221 w 1702"/>
                <a:gd name="T85" fmla="*/ 98 h 101"/>
                <a:gd name="T86" fmla="*/ 1267 w 1702"/>
                <a:gd name="T87" fmla="*/ 9 h 101"/>
                <a:gd name="T88" fmla="*/ 1333 w 1702"/>
                <a:gd name="T89" fmla="*/ 40 h 101"/>
                <a:gd name="T90" fmla="*/ 1324 w 1702"/>
                <a:gd name="T91" fmla="*/ 96 h 101"/>
                <a:gd name="T92" fmla="*/ 1302 w 1702"/>
                <a:gd name="T93" fmla="*/ 93 h 101"/>
                <a:gd name="T94" fmla="*/ 1318 w 1702"/>
                <a:gd name="T95" fmla="*/ 28 h 101"/>
                <a:gd name="T96" fmla="*/ 1413 w 1702"/>
                <a:gd name="T97" fmla="*/ 88 h 101"/>
                <a:gd name="T98" fmla="*/ 1431 w 1702"/>
                <a:gd name="T99" fmla="*/ 4 h 101"/>
                <a:gd name="T100" fmla="*/ 1407 w 1702"/>
                <a:gd name="T101" fmla="*/ 38 h 101"/>
                <a:gd name="T102" fmla="*/ 1370 w 1702"/>
                <a:gd name="T103" fmla="*/ 73 h 101"/>
                <a:gd name="T104" fmla="*/ 1465 w 1702"/>
                <a:gd name="T105" fmla="*/ 9 h 101"/>
                <a:gd name="T106" fmla="*/ 1491 w 1702"/>
                <a:gd name="T107" fmla="*/ 16 h 101"/>
                <a:gd name="T108" fmla="*/ 1456 w 1702"/>
                <a:gd name="T109" fmla="*/ 99 h 101"/>
                <a:gd name="T110" fmla="*/ 1517 w 1702"/>
                <a:gd name="T111" fmla="*/ 26 h 101"/>
                <a:gd name="T112" fmla="*/ 1586 w 1702"/>
                <a:gd name="T113" fmla="*/ 13 h 101"/>
                <a:gd name="T114" fmla="*/ 1545 w 1702"/>
                <a:gd name="T115" fmla="*/ 98 h 101"/>
                <a:gd name="T116" fmla="*/ 1656 w 1702"/>
                <a:gd name="T117" fmla="*/ 98 h 101"/>
                <a:gd name="T118" fmla="*/ 1610 w 1702"/>
                <a:gd name="T119" fmla="*/ 7 h 101"/>
                <a:gd name="T120" fmla="*/ 1644 w 1702"/>
                <a:gd name="T121" fmla="*/ 12 h 101"/>
                <a:gd name="T122" fmla="*/ 1688 w 1702"/>
                <a:gd name="T123" fmla="*/ 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702" h="101">
                  <a:moveTo>
                    <a:pt x="1" y="66"/>
                  </a:moveTo>
                  <a:cubicBezTo>
                    <a:pt x="11" y="66"/>
                    <a:pt x="11" y="66"/>
                    <a:pt x="11" y="66"/>
                  </a:cubicBezTo>
                  <a:cubicBezTo>
                    <a:pt x="11" y="75"/>
                    <a:pt x="13" y="81"/>
                    <a:pt x="16" y="85"/>
                  </a:cubicBezTo>
                  <a:cubicBezTo>
                    <a:pt x="20" y="90"/>
                    <a:pt x="25" y="92"/>
                    <a:pt x="32" y="92"/>
                  </a:cubicBezTo>
                  <a:cubicBezTo>
                    <a:pt x="37" y="92"/>
                    <a:pt x="41" y="90"/>
                    <a:pt x="44" y="88"/>
                  </a:cubicBezTo>
                  <a:cubicBezTo>
                    <a:pt x="48" y="85"/>
                    <a:pt x="49" y="82"/>
                    <a:pt x="49" y="77"/>
                  </a:cubicBezTo>
                  <a:cubicBezTo>
                    <a:pt x="49" y="74"/>
                    <a:pt x="48" y="71"/>
                    <a:pt x="46" y="68"/>
                  </a:cubicBezTo>
                  <a:cubicBezTo>
                    <a:pt x="44" y="66"/>
                    <a:pt x="39" y="63"/>
                    <a:pt x="31" y="60"/>
                  </a:cubicBezTo>
                  <a:cubicBezTo>
                    <a:pt x="20" y="55"/>
                    <a:pt x="12" y="51"/>
                    <a:pt x="8" y="46"/>
                  </a:cubicBezTo>
                  <a:cubicBezTo>
                    <a:pt x="4" y="41"/>
                    <a:pt x="2" y="36"/>
                    <a:pt x="2" y="29"/>
                  </a:cubicBezTo>
                  <a:cubicBezTo>
                    <a:pt x="2" y="20"/>
                    <a:pt x="5" y="13"/>
                    <a:pt x="11" y="8"/>
                  </a:cubicBezTo>
                  <a:cubicBezTo>
                    <a:pt x="17" y="2"/>
                    <a:pt x="25" y="0"/>
                    <a:pt x="34" y="0"/>
                  </a:cubicBezTo>
                  <a:cubicBezTo>
                    <a:pt x="38" y="0"/>
                    <a:pt x="42" y="0"/>
                    <a:pt x="47" y="1"/>
                  </a:cubicBezTo>
                  <a:cubicBezTo>
                    <a:pt x="51" y="1"/>
                    <a:pt x="56" y="2"/>
                    <a:pt x="62" y="3"/>
                  </a:cubicBezTo>
                  <a:cubicBezTo>
                    <a:pt x="62" y="4"/>
                    <a:pt x="62" y="4"/>
                    <a:pt x="62" y="4"/>
                  </a:cubicBezTo>
                  <a:cubicBezTo>
                    <a:pt x="62" y="9"/>
                    <a:pt x="62" y="14"/>
                    <a:pt x="62" y="17"/>
                  </a:cubicBezTo>
                  <a:cubicBezTo>
                    <a:pt x="62" y="19"/>
                    <a:pt x="62" y="23"/>
                    <a:pt x="62" y="29"/>
                  </a:cubicBezTo>
                  <a:cubicBezTo>
                    <a:pt x="62" y="29"/>
                    <a:pt x="62" y="29"/>
                    <a:pt x="62" y="29"/>
                  </a:cubicBezTo>
                  <a:cubicBezTo>
                    <a:pt x="54" y="29"/>
                    <a:pt x="54" y="29"/>
                    <a:pt x="54" y="29"/>
                  </a:cubicBezTo>
                  <a:cubicBezTo>
                    <a:pt x="54" y="22"/>
                    <a:pt x="53" y="17"/>
                    <a:pt x="49" y="13"/>
                  </a:cubicBezTo>
                  <a:cubicBezTo>
                    <a:pt x="46" y="10"/>
                    <a:pt x="42" y="8"/>
                    <a:pt x="36" y="8"/>
                  </a:cubicBezTo>
                  <a:cubicBezTo>
                    <a:pt x="31" y="8"/>
                    <a:pt x="27" y="9"/>
                    <a:pt x="25" y="11"/>
                  </a:cubicBezTo>
                  <a:cubicBezTo>
                    <a:pt x="22" y="14"/>
                    <a:pt x="21" y="17"/>
                    <a:pt x="21" y="21"/>
                  </a:cubicBezTo>
                  <a:cubicBezTo>
                    <a:pt x="21" y="24"/>
                    <a:pt x="22" y="27"/>
                    <a:pt x="24" y="30"/>
                  </a:cubicBezTo>
                  <a:cubicBezTo>
                    <a:pt x="26" y="32"/>
                    <a:pt x="31" y="35"/>
                    <a:pt x="39" y="38"/>
                  </a:cubicBezTo>
                  <a:cubicBezTo>
                    <a:pt x="40" y="38"/>
                    <a:pt x="41" y="39"/>
                    <a:pt x="43" y="40"/>
                  </a:cubicBezTo>
                  <a:cubicBezTo>
                    <a:pt x="51" y="43"/>
                    <a:pt x="57" y="46"/>
                    <a:pt x="60" y="49"/>
                  </a:cubicBezTo>
                  <a:cubicBezTo>
                    <a:pt x="63" y="51"/>
                    <a:pt x="65" y="55"/>
                    <a:pt x="66" y="58"/>
                  </a:cubicBezTo>
                  <a:cubicBezTo>
                    <a:pt x="68" y="61"/>
                    <a:pt x="69" y="65"/>
                    <a:pt x="69" y="69"/>
                  </a:cubicBezTo>
                  <a:cubicBezTo>
                    <a:pt x="69" y="79"/>
                    <a:pt x="65" y="86"/>
                    <a:pt x="59" y="92"/>
                  </a:cubicBezTo>
                  <a:cubicBezTo>
                    <a:pt x="53" y="98"/>
                    <a:pt x="44" y="101"/>
                    <a:pt x="33" y="101"/>
                  </a:cubicBezTo>
                  <a:cubicBezTo>
                    <a:pt x="27" y="101"/>
                    <a:pt x="21" y="100"/>
                    <a:pt x="16" y="99"/>
                  </a:cubicBezTo>
                  <a:cubicBezTo>
                    <a:pt x="11" y="98"/>
                    <a:pt x="5" y="96"/>
                    <a:pt x="0" y="93"/>
                  </a:cubicBezTo>
                  <a:cubicBezTo>
                    <a:pt x="1" y="90"/>
                    <a:pt x="1" y="87"/>
                    <a:pt x="1" y="83"/>
                  </a:cubicBezTo>
                  <a:cubicBezTo>
                    <a:pt x="1" y="80"/>
                    <a:pt x="1" y="77"/>
                    <a:pt x="1" y="73"/>
                  </a:cubicBezTo>
                  <a:cubicBezTo>
                    <a:pt x="1" y="71"/>
                    <a:pt x="1" y="70"/>
                    <a:pt x="1" y="69"/>
                  </a:cubicBezTo>
                  <a:cubicBezTo>
                    <a:pt x="1" y="68"/>
                    <a:pt x="1" y="67"/>
                    <a:pt x="1" y="66"/>
                  </a:cubicBezTo>
                  <a:cubicBezTo>
                    <a:pt x="1" y="66"/>
                    <a:pt x="1" y="66"/>
                    <a:pt x="1" y="66"/>
                  </a:cubicBezTo>
                  <a:close/>
                  <a:moveTo>
                    <a:pt x="87" y="99"/>
                  </a:moveTo>
                  <a:cubicBezTo>
                    <a:pt x="87" y="93"/>
                    <a:pt x="87" y="93"/>
                    <a:pt x="87" y="93"/>
                  </a:cubicBezTo>
                  <a:cubicBezTo>
                    <a:pt x="88" y="93"/>
                    <a:pt x="88" y="93"/>
                    <a:pt x="88" y="93"/>
                  </a:cubicBezTo>
                  <a:cubicBezTo>
                    <a:pt x="93" y="93"/>
                    <a:pt x="95" y="92"/>
                    <a:pt x="97" y="91"/>
                  </a:cubicBezTo>
                  <a:cubicBezTo>
                    <a:pt x="98" y="89"/>
                    <a:pt x="99" y="86"/>
                    <a:pt x="99" y="81"/>
                  </a:cubicBezTo>
                  <a:cubicBezTo>
                    <a:pt x="99" y="16"/>
                    <a:pt x="99" y="16"/>
                    <a:pt x="99" y="16"/>
                  </a:cubicBezTo>
                  <a:cubicBezTo>
                    <a:pt x="99" y="13"/>
                    <a:pt x="98" y="11"/>
                    <a:pt x="97" y="9"/>
                  </a:cubicBezTo>
                  <a:cubicBezTo>
                    <a:pt x="95" y="8"/>
                    <a:pt x="93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2"/>
                    <a:pt x="87" y="2"/>
                    <a:pt x="87" y="2"/>
                  </a:cubicBezTo>
                  <a:cubicBezTo>
                    <a:pt x="91" y="2"/>
                    <a:pt x="95" y="2"/>
                    <a:pt x="99" y="2"/>
                  </a:cubicBezTo>
                  <a:cubicBezTo>
                    <a:pt x="103" y="3"/>
                    <a:pt x="107" y="3"/>
                    <a:pt x="110" y="3"/>
                  </a:cubicBezTo>
                  <a:cubicBezTo>
                    <a:pt x="114" y="3"/>
                    <a:pt x="118" y="3"/>
                    <a:pt x="122" y="2"/>
                  </a:cubicBezTo>
                  <a:cubicBezTo>
                    <a:pt x="126" y="2"/>
                    <a:pt x="129" y="2"/>
                    <a:pt x="133" y="2"/>
                  </a:cubicBezTo>
                  <a:cubicBezTo>
                    <a:pt x="133" y="7"/>
                    <a:pt x="133" y="7"/>
                    <a:pt x="133" y="7"/>
                  </a:cubicBezTo>
                  <a:cubicBezTo>
                    <a:pt x="129" y="7"/>
                    <a:pt x="126" y="8"/>
                    <a:pt x="125" y="9"/>
                  </a:cubicBezTo>
                  <a:cubicBezTo>
                    <a:pt x="123" y="10"/>
                    <a:pt x="122" y="12"/>
                    <a:pt x="122" y="16"/>
                  </a:cubicBezTo>
                  <a:cubicBezTo>
                    <a:pt x="122" y="81"/>
                    <a:pt x="122" y="81"/>
                    <a:pt x="122" y="81"/>
                  </a:cubicBezTo>
                  <a:cubicBezTo>
                    <a:pt x="122" y="86"/>
                    <a:pt x="123" y="89"/>
                    <a:pt x="124" y="91"/>
                  </a:cubicBezTo>
                  <a:cubicBezTo>
                    <a:pt x="126" y="92"/>
                    <a:pt x="128" y="93"/>
                    <a:pt x="133" y="93"/>
                  </a:cubicBezTo>
                  <a:cubicBezTo>
                    <a:pt x="133" y="93"/>
                    <a:pt x="133" y="93"/>
                    <a:pt x="133" y="93"/>
                  </a:cubicBezTo>
                  <a:cubicBezTo>
                    <a:pt x="133" y="99"/>
                    <a:pt x="133" y="99"/>
                    <a:pt x="133" y="99"/>
                  </a:cubicBezTo>
                  <a:cubicBezTo>
                    <a:pt x="130" y="98"/>
                    <a:pt x="126" y="98"/>
                    <a:pt x="122" y="98"/>
                  </a:cubicBezTo>
                  <a:cubicBezTo>
                    <a:pt x="118" y="98"/>
                    <a:pt x="114" y="98"/>
                    <a:pt x="110" y="98"/>
                  </a:cubicBezTo>
                  <a:cubicBezTo>
                    <a:pt x="107" y="98"/>
                    <a:pt x="104" y="98"/>
                    <a:pt x="100" y="98"/>
                  </a:cubicBezTo>
                  <a:cubicBezTo>
                    <a:pt x="96" y="98"/>
                    <a:pt x="92" y="98"/>
                    <a:pt x="87" y="99"/>
                  </a:cubicBezTo>
                  <a:cubicBezTo>
                    <a:pt x="87" y="99"/>
                    <a:pt x="87" y="99"/>
                    <a:pt x="87" y="99"/>
                  </a:cubicBezTo>
                  <a:close/>
                  <a:moveTo>
                    <a:pt x="236" y="4"/>
                  </a:moveTo>
                  <a:cubicBezTo>
                    <a:pt x="236" y="8"/>
                    <a:pt x="235" y="11"/>
                    <a:pt x="235" y="14"/>
                  </a:cubicBezTo>
                  <a:cubicBezTo>
                    <a:pt x="235" y="17"/>
                    <a:pt x="235" y="20"/>
                    <a:pt x="235" y="23"/>
                  </a:cubicBezTo>
                  <a:cubicBezTo>
                    <a:pt x="235" y="24"/>
                    <a:pt x="235" y="26"/>
                    <a:pt x="235" y="27"/>
                  </a:cubicBezTo>
                  <a:cubicBezTo>
                    <a:pt x="235" y="29"/>
                    <a:pt x="235" y="31"/>
                    <a:pt x="235" y="34"/>
                  </a:cubicBezTo>
                  <a:cubicBezTo>
                    <a:pt x="227" y="34"/>
                    <a:pt x="227" y="34"/>
                    <a:pt x="227" y="34"/>
                  </a:cubicBezTo>
                  <a:cubicBezTo>
                    <a:pt x="226" y="25"/>
                    <a:pt x="224" y="18"/>
                    <a:pt x="220" y="14"/>
                  </a:cubicBezTo>
                  <a:cubicBezTo>
                    <a:pt x="216" y="10"/>
                    <a:pt x="211" y="7"/>
                    <a:pt x="205" y="7"/>
                  </a:cubicBezTo>
                  <a:cubicBezTo>
                    <a:pt x="195" y="7"/>
                    <a:pt x="188" y="11"/>
                    <a:pt x="183" y="18"/>
                  </a:cubicBezTo>
                  <a:cubicBezTo>
                    <a:pt x="178" y="25"/>
                    <a:pt x="175" y="35"/>
                    <a:pt x="175" y="47"/>
                  </a:cubicBezTo>
                  <a:cubicBezTo>
                    <a:pt x="175" y="60"/>
                    <a:pt x="178" y="71"/>
                    <a:pt x="184" y="78"/>
                  </a:cubicBezTo>
                  <a:cubicBezTo>
                    <a:pt x="189" y="86"/>
                    <a:pt x="197" y="90"/>
                    <a:pt x="206" y="90"/>
                  </a:cubicBezTo>
                  <a:cubicBezTo>
                    <a:pt x="211" y="90"/>
                    <a:pt x="216" y="89"/>
                    <a:pt x="220" y="86"/>
                  </a:cubicBezTo>
                  <a:cubicBezTo>
                    <a:pt x="224" y="83"/>
                    <a:pt x="229" y="79"/>
                    <a:pt x="233" y="73"/>
                  </a:cubicBezTo>
                  <a:cubicBezTo>
                    <a:pt x="240" y="77"/>
                    <a:pt x="240" y="77"/>
                    <a:pt x="240" y="77"/>
                  </a:cubicBezTo>
                  <a:cubicBezTo>
                    <a:pt x="234" y="85"/>
                    <a:pt x="229" y="91"/>
                    <a:pt x="222" y="95"/>
                  </a:cubicBezTo>
                  <a:cubicBezTo>
                    <a:pt x="215" y="99"/>
                    <a:pt x="208" y="101"/>
                    <a:pt x="199" y="101"/>
                  </a:cubicBezTo>
                  <a:cubicBezTo>
                    <a:pt x="184" y="101"/>
                    <a:pt x="172" y="96"/>
                    <a:pt x="164" y="87"/>
                  </a:cubicBezTo>
                  <a:cubicBezTo>
                    <a:pt x="155" y="78"/>
                    <a:pt x="151" y="66"/>
                    <a:pt x="151" y="50"/>
                  </a:cubicBezTo>
                  <a:cubicBezTo>
                    <a:pt x="151" y="35"/>
                    <a:pt x="156" y="23"/>
                    <a:pt x="165" y="14"/>
                  </a:cubicBezTo>
                  <a:cubicBezTo>
                    <a:pt x="175" y="4"/>
                    <a:pt x="187" y="0"/>
                    <a:pt x="203" y="0"/>
                  </a:cubicBezTo>
                  <a:cubicBezTo>
                    <a:pt x="209" y="0"/>
                    <a:pt x="218" y="1"/>
                    <a:pt x="233" y="4"/>
                  </a:cubicBezTo>
                  <a:cubicBezTo>
                    <a:pt x="234" y="4"/>
                    <a:pt x="235" y="4"/>
                    <a:pt x="236" y="4"/>
                  </a:cubicBezTo>
                  <a:cubicBezTo>
                    <a:pt x="236" y="4"/>
                    <a:pt x="236" y="4"/>
                    <a:pt x="236" y="4"/>
                  </a:cubicBezTo>
                  <a:close/>
                  <a:moveTo>
                    <a:pt x="254" y="99"/>
                  </a:moveTo>
                  <a:cubicBezTo>
                    <a:pt x="254" y="93"/>
                    <a:pt x="254" y="93"/>
                    <a:pt x="254" y="93"/>
                  </a:cubicBezTo>
                  <a:cubicBezTo>
                    <a:pt x="255" y="93"/>
                    <a:pt x="255" y="93"/>
                    <a:pt x="255" y="93"/>
                  </a:cubicBezTo>
                  <a:cubicBezTo>
                    <a:pt x="259" y="93"/>
                    <a:pt x="262" y="92"/>
                    <a:pt x="263" y="91"/>
                  </a:cubicBezTo>
                  <a:cubicBezTo>
                    <a:pt x="265" y="89"/>
                    <a:pt x="265" y="86"/>
                    <a:pt x="265" y="81"/>
                  </a:cubicBezTo>
                  <a:cubicBezTo>
                    <a:pt x="265" y="16"/>
                    <a:pt x="265" y="16"/>
                    <a:pt x="265" y="16"/>
                  </a:cubicBezTo>
                  <a:cubicBezTo>
                    <a:pt x="265" y="13"/>
                    <a:pt x="265" y="11"/>
                    <a:pt x="263" y="9"/>
                  </a:cubicBezTo>
                  <a:cubicBezTo>
                    <a:pt x="262" y="8"/>
                    <a:pt x="259" y="7"/>
                    <a:pt x="256" y="7"/>
                  </a:cubicBezTo>
                  <a:cubicBezTo>
                    <a:pt x="254" y="7"/>
                    <a:pt x="254" y="7"/>
                    <a:pt x="254" y="7"/>
                  </a:cubicBezTo>
                  <a:cubicBezTo>
                    <a:pt x="254" y="2"/>
                    <a:pt x="254" y="2"/>
                    <a:pt x="254" y="2"/>
                  </a:cubicBezTo>
                  <a:cubicBezTo>
                    <a:pt x="257" y="2"/>
                    <a:pt x="260" y="2"/>
                    <a:pt x="263" y="2"/>
                  </a:cubicBezTo>
                  <a:cubicBezTo>
                    <a:pt x="267" y="3"/>
                    <a:pt x="271" y="3"/>
                    <a:pt x="277" y="3"/>
                  </a:cubicBezTo>
                  <a:cubicBezTo>
                    <a:pt x="282" y="3"/>
                    <a:pt x="286" y="3"/>
                    <a:pt x="290" y="2"/>
                  </a:cubicBezTo>
                  <a:cubicBezTo>
                    <a:pt x="294" y="2"/>
                    <a:pt x="297" y="2"/>
                    <a:pt x="299" y="2"/>
                  </a:cubicBezTo>
                  <a:cubicBezTo>
                    <a:pt x="299" y="7"/>
                    <a:pt x="299" y="7"/>
                    <a:pt x="299" y="7"/>
                  </a:cubicBezTo>
                  <a:cubicBezTo>
                    <a:pt x="295" y="7"/>
                    <a:pt x="292" y="8"/>
                    <a:pt x="291" y="9"/>
                  </a:cubicBezTo>
                  <a:cubicBezTo>
                    <a:pt x="289" y="10"/>
                    <a:pt x="288" y="12"/>
                    <a:pt x="288" y="16"/>
                  </a:cubicBezTo>
                  <a:cubicBezTo>
                    <a:pt x="288" y="43"/>
                    <a:pt x="288" y="43"/>
                    <a:pt x="288" y="43"/>
                  </a:cubicBezTo>
                  <a:cubicBezTo>
                    <a:pt x="329" y="43"/>
                    <a:pt x="329" y="43"/>
                    <a:pt x="329" y="43"/>
                  </a:cubicBezTo>
                  <a:cubicBezTo>
                    <a:pt x="329" y="16"/>
                    <a:pt x="329" y="16"/>
                    <a:pt x="329" y="16"/>
                  </a:cubicBezTo>
                  <a:cubicBezTo>
                    <a:pt x="329" y="13"/>
                    <a:pt x="328" y="10"/>
                    <a:pt x="326" y="9"/>
                  </a:cubicBezTo>
                  <a:cubicBezTo>
                    <a:pt x="325" y="8"/>
                    <a:pt x="322" y="7"/>
                    <a:pt x="318" y="7"/>
                  </a:cubicBezTo>
                  <a:cubicBezTo>
                    <a:pt x="317" y="7"/>
                    <a:pt x="317" y="7"/>
                    <a:pt x="317" y="7"/>
                  </a:cubicBezTo>
                  <a:cubicBezTo>
                    <a:pt x="317" y="2"/>
                    <a:pt x="317" y="2"/>
                    <a:pt x="317" y="2"/>
                  </a:cubicBezTo>
                  <a:cubicBezTo>
                    <a:pt x="321" y="2"/>
                    <a:pt x="324" y="2"/>
                    <a:pt x="328" y="2"/>
                  </a:cubicBezTo>
                  <a:cubicBezTo>
                    <a:pt x="331" y="3"/>
                    <a:pt x="336" y="3"/>
                    <a:pt x="340" y="3"/>
                  </a:cubicBezTo>
                  <a:cubicBezTo>
                    <a:pt x="345" y="3"/>
                    <a:pt x="349" y="3"/>
                    <a:pt x="352" y="2"/>
                  </a:cubicBezTo>
                  <a:cubicBezTo>
                    <a:pt x="356" y="2"/>
                    <a:pt x="359" y="2"/>
                    <a:pt x="362" y="2"/>
                  </a:cubicBezTo>
                  <a:cubicBezTo>
                    <a:pt x="362" y="7"/>
                    <a:pt x="362" y="7"/>
                    <a:pt x="362" y="7"/>
                  </a:cubicBezTo>
                  <a:cubicBezTo>
                    <a:pt x="361" y="7"/>
                    <a:pt x="361" y="7"/>
                    <a:pt x="361" y="7"/>
                  </a:cubicBezTo>
                  <a:cubicBezTo>
                    <a:pt x="357" y="7"/>
                    <a:pt x="355" y="8"/>
                    <a:pt x="354" y="9"/>
                  </a:cubicBezTo>
                  <a:cubicBezTo>
                    <a:pt x="352" y="11"/>
                    <a:pt x="351" y="13"/>
                    <a:pt x="351" y="16"/>
                  </a:cubicBezTo>
                  <a:cubicBezTo>
                    <a:pt x="351" y="81"/>
                    <a:pt x="351" y="81"/>
                    <a:pt x="351" y="81"/>
                  </a:cubicBezTo>
                  <a:cubicBezTo>
                    <a:pt x="351" y="86"/>
                    <a:pt x="352" y="89"/>
                    <a:pt x="354" y="90"/>
                  </a:cubicBezTo>
                  <a:cubicBezTo>
                    <a:pt x="355" y="92"/>
                    <a:pt x="358" y="93"/>
                    <a:pt x="362" y="93"/>
                  </a:cubicBezTo>
                  <a:cubicBezTo>
                    <a:pt x="362" y="99"/>
                    <a:pt x="362" y="99"/>
                    <a:pt x="362" y="99"/>
                  </a:cubicBezTo>
                  <a:cubicBezTo>
                    <a:pt x="358" y="98"/>
                    <a:pt x="354" y="98"/>
                    <a:pt x="350" y="98"/>
                  </a:cubicBezTo>
                  <a:cubicBezTo>
                    <a:pt x="346" y="98"/>
                    <a:pt x="343" y="98"/>
                    <a:pt x="340" y="98"/>
                  </a:cubicBezTo>
                  <a:cubicBezTo>
                    <a:pt x="338" y="98"/>
                    <a:pt x="336" y="98"/>
                    <a:pt x="332" y="98"/>
                  </a:cubicBezTo>
                  <a:cubicBezTo>
                    <a:pt x="328" y="98"/>
                    <a:pt x="323" y="98"/>
                    <a:pt x="318" y="99"/>
                  </a:cubicBezTo>
                  <a:cubicBezTo>
                    <a:pt x="318" y="93"/>
                    <a:pt x="318" y="93"/>
                    <a:pt x="318" y="93"/>
                  </a:cubicBezTo>
                  <a:cubicBezTo>
                    <a:pt x="318" y="93"/>
                    <a:pt x="318" y="93"/>
                    <a:pt x="318" y="93"/>
                  </a:cubicBezTo>
                  <a:cubicBezTo>
                    <a:pt x="323" y="93"/>
                    <a:pt x="325" y="92"/>
                    <a:pt x="327" y="91"/>
                  </a:cubicBezTo>
                  <a:cubicBezTo>
                    <a:pt x="328" y="89"/>
                    <a:pt x="329" y="86"/>
                    <a:pt x="329" y="81"/>
                  </a:cubicBezTo>
                  <a:cubicBezTo>
                    <a:pt x="329" y="50"/>
                    <a:pt x="329" y="50"/>
                    <a:pt x="329" y="50"/>
                  </a:cubicBezTo>
                  <a:cubicBezTo>
                    <a:pt x="288" y="50"/>
                    <a:pt x="288" y="50"/>
                    <a:pt x="288" y="50"/>
                  </a:cubicBezTo>
                  <a:cubicBezTo>
                    <a:pt x="288" y="81"/>
                    <a:pt x="288" y="81"/>
                    <a:pt x="288" y="81"/>
                  </a:cubicBezTo>
                  <a:cubicBezTo>
                    <a:pt x="288" y="86"/>
                    <a:pt x="289" y="89"/>
                    <a:pt x="290" y="91"/>
                  </a:cubicBezTo>
                  <a:cubicBezTo>
                    <a:pt x="292" y="92"/>
                    <a:pt x="294" y="93"/>
                    <a:pt x="299" y="93"/>
                  </a:cubicBezTo>
                  <a:cubicBezTo>
                    <a:pt x="299" y="93"/>
                    <a:pt x="299" y="93"/>
                    <a:pt x="299" y="93"/>
                  </a:cubicBezTo>
                  <a:cubicBezTo>
                    <a:pt x="299" y="98"/>
                    <a:pt x="299" y="98"/>
                    <a:pt x="299" y="98"/>
                  </a:cubicBezTo>
                  <a:cubicBezTo>
                    <a:pt x="294" y="98"/>
                    <a:pt x="290" y="98"/>
                    <a:pt x="286" y="98"/>
                  </a:cubicBezTo>
                  <a:cubicBezTo>
                    <a:pt x="282" y="98"/>
                    <a:pt x="279" y="98"/>
                    <a:pt x="277" y="98"/>
                  </a:cubicBezTo>
                  <a:cubicBezTo>
                    <a:pt x="273" y="98"/>
                    <a:pt x="270" y="98"/>
                    <a:pt x="266" y="98"/>
                  </a:cubicBezTo>
                  <a:cubicBezTo>
                    <a:pt x="262" y="98"/>
                    <a:pt x="258" y="98"/>
                    <a:pt x="254" y="99"/>
                  </a:cubicBezTo>
                  <a:cubicBezTo>
                    <a:pt x="254" y="99"/>
                    <a:pt x="254" y="99"/>
                    <a:pt x="254" y="99"/>
                  </a:cubicBezTo>
                  <a:close/>
                  <a:moveTo>
                    <a:pt x="388" y="16"/>
                  </a:moveTo>
                  <a:cubicBezTo>
                    <a:pt x="388" y="13"/>
                    <a:pt x="387" y="11"/>
                    <a:pt x="386" y="9"/>
                  </a:cubicBezTo>
                  <a:cubicBezTo>
                    <a:pt x="384" y="8"/>
                    <a:pt x="382" y="7"/>
                    <a:pt x="378" y="7"/>
                  </a:cubicBezTo>
                  <a:cubicBezTo>
                    <a:pt x="377" y="7"/>
                    <a:pt x="377" y="7"/>
                    <a:pt x="377" y="7"/>
                  </a:cubicBezTo>
                  <a:cubicBezTo>
                    <a:pt x="377" y="2"/>
                    <a:pt x="377" y="2"/>
                    <a:pt x="377" y="2"/>
                  </a:cubicBezTo>
                  <a:cubicBezTo>
                    <a:pt x="382" y="2"/>
                    <a:pt x="386" y="2"/>
                    <a:pt x="390" y="3"/>
                  </a:cubicBezTo>
                  <a:cubicBezTo>
                    <a:pt x="393" y="3"/>
                    <a:pt x="397" y="3"/>
                    <a:pt x="400" y="3"/>
                  </a:cubicBezTo>
                  <a:cubicBezTo>
                    <a:pt x="403" y="3"/>
                    <a:pt x="406" y="3"/>
                    <a:pt x="410" y="3"/>
                  </a:cubicBezTo>
                  <a:cubicBezTo>
                    <a:pt x="414" y="2"/>
                    <a:pt x="418" y="2"/>
                    <a:pt x="423" y="2"/>
                  </a:cubicBezTo>
                  <a:cubicBezTo>
                    <a:pt x="423" y="7"/>
                    <a:pt x="423" y="7"/>
                    <a:pt x="423" y="7"/>
                  </a:cubicBezTo>
                  <a:cubicBezTo>
                    <a:pt x="418" y="7"/>
                    <a:pt x="415" y="8"/>
                    <a:pt x="414" y="9"/>
                  </a:cubicBezTo>
                  <a:cubicBezTo>
                    <a:pt x="412" y="10"/>
                    <a:pt x="411" y="12"/>
                    <a:pt x="411" y="16"/>
                  </a:cubicBezTo>
                  <a:cubicBezTo>
                    <a:pt x="411" y="60"/>
                    <a:pt x="411" y="60"/>
                    <a:pt x="411" y="60"/>
                  </a:cubicBezTo>
                  <a:cubicBezTo>
                    <a:pt x="411" y="67"/>
                    <a:pt x="412" y="72"/>
                    <a:pt x="412" y="75"/>
                  </a:cubicBezTo>
                  <a:cubicBezTo>
                    <a:pt x="413" y="78"/>
                    <a:pt x="414" y="80"/>
                    <a:pt x="415" y="82"/>
                  </a:cubicBezTo>
                  <a:cubicBezTo>
                    <a:pt x="417" y="84"/>
                    <a:pt x="420" y="86"/>
                    <a:pt x="423" y="88"/>
                  </a:cubicBezTo>
                  <a:cubicBezTo>
                    <a:pt x="426" y="89"/>
                    <a:pt x="430" y="89"/>
                    <a:pt x="434" y="89"/>
                  </a:cubicBezTo>
                  <a:cubicBezTo>
                    <a:pt x="442" y="89"/>
                    <a:pt x="448" y="87"/>
                    <a:pt x="452" y="83"/>
                  </a:cubicBezTo>
                  <a:cubicBezTo>
                    <a:pt x="456" y="78"/>
                    <a:pt x="457" y="70"/>
                    <a:pt x="457" y="60"/>
                  </a:cubicBezTo>
                  <a:cubicBezTo>
                    <a:pt x="457" y="59"/>
                    <a:pt x="457" y="59"/>
                    <a:pt x="457" y="59"/>
                  </a:cubicBezTo>
                  <a:cubicBezTo>
                    <a:pt x="457" y="18"/>
                    <a:pt x="457" y="18"/>
                    <a:pt x="457" y="18"/>
                  </a:cubicBezTo>
                  <a:cubicBezTo>
                    <a:pt x="457" y="14"/>
                    <a:pt x="457" y="11"/>
                    <a:pt x="455" y="9"/>
                  </a:cubicBezTo>
                  <a:cubicBezTo>
                    <a:pt x="454" y="8"/>
                    <a:pt x="451" y="7"/>
                    <a:pt x="446" y="7"/>
                  </a:cubicBezTo>
                  <a:cubicBezTo>
                    <a:pt x="446" y="2"/>
                    <a:pt x="446" y="2"/>
                    <a:pt x="446" y="2"/>
                  </a:cubicBezTo>
                  <a:cubicBezTo>
                    <a:pt x="449" y="2"/>
                    <a:pt x="452" y="2"/>
                    <a:pt x="454" y="2"/>
                  </a:cubicBezTo>
                  <a:cubicBezTo>
                    <a:pt x="456" y="2"/>
                    <a:pt x="458" y="3"/>
                    <a:pt x="460" y="3"/>
                  </a:cubicBezTo>
                  <a:cubicBezTo>
                    <a:pt x="462" y="3"/>
                    <a:pt x="465" y="2"/>
                    <a:pt x="467" y="2"/>
                  </a:cubicBezTo>
                  <a:cubicBezTo>
                    <a:pt x="469" y="2"/>
                    <a:pt x="472" y="2"/>
                    <a:pt x="474" y="2"/>
                  </a:cubicBezTo>
                  <a:cubicBezTo>
                    <a:pt x="474" y="7"/>
                    <a:pt x="474" y="7"/>
                    <a:pt x="474" y="7"/>
                  </a:cubicBezTo>
                  <a:cubicBezTo>
                    <a:pt x="471" y="7"/>
                    <a:pt x="469" y="8"/>
                    <a:pt x="468" y="9"/>
                  </a:cubicBezTo>
                  <a:cubicBezTo>
                    <a:pt x="467" y="10"/>
                    <a:pt x="466" y="13"/>
                    <a:pt x="466" y="18"/>
                  </a:cubicBezTo>
                  <a:cubicBezTo>
                    <a:pt x="465" y="62"/>
                    <a:pt x="465" y="62"/>
                    <a:pt x="465" y="62"/>
                  </a:cubicBezTo>
                  <a:cubicBezTo>
                    <a:pt x="465" y="76"/>
                    <a:pt x="462" y="86"/>
                    <a:pt x="456" y="92"/>
                  </a:cubicBezTo>
                  <a:cubicBezTo>
                    <a:pt x="450" y="98"/>
                    <a:pt x="440" y="101"/>
                    <a:pt x="427" y="101"/>
                  </a:cubicBezTo>
                  <a:cubicBezTo>
                    <a:pt x="414" y="101"/>
                    <a:pt x="405" y="98"/>
                    <a:pt x="398" y="93"/>
                  </a:cubicBezTo>
                  <a:cubicBezTo>
                    <a:pt x="391" y="87"/>
                    <a:pt x="388" y="79"/>
                    <a:pt x="388" y="69"/>
                  </a:cubicBezTo>
                  <a:cubicBezTo>
                    <a:pt x="388" y="16"/>
                    <a:pt x="388" y="16"/>
                    <a:pt x="388" y="16"/>
                  </a:cubicBezTo>
                  <a:close/>
                  <a:moveTo>
                    <a:pt x="524" y="27"/>
                  </a:moveTo>
                  <a:cubicBezTo>
                    <a:pt x="511" y="60"/>
                    <a:pt x="511" y="60"/>
                    <a:pt x="511" y="60"/>
                  </a:cubicBezTo>
                  <a:cubicBezTo>
                    <a:pt x="536" y="60"/>
                    <a:pt x="536" y="60"/>
                    <a:pt x="536" y="60"/>
                  </a:cubicBezTo>
                  <a:cubicBezTo>
                    <a:pt x="524" y="27"/>
                    <a:pt x="524" y="27"/>
                    <a:pt x="524" y="27"/>
                  </a:cubicBezTo>
                  <a:close/>
                  <a:moveTo>
                    <a:pt x="501" y="84"/>
                  </a:moveTo>
                  <a:cubicBezTo>
                    <a:pt x="500" y="85"/>
                    <a:pt x="500" y="86"/>
                    <a:pt x="500" y="86"/>
                  </a:cubicBezTo>
                  <a:cubicBezTo>
                    <a:pt x="500" y="87"/>
                    <a:pt x="500" y="88"/>
                    <a:pt x="500" y="88"/>
                  </a:cubicBezTo>
                  <a:cubicBezTo>
                    <a:pt x="500" y="91"/>
                    <a:pt x="503" y="92"/>
                    <a:pt x="510" y="93"/>
                  </a:cubicBezTo>
                  <a:cubicBezTo>
                    <a:pt x="510" y="93"/>
                    <a:pt x="510" y="93"/>
                    <a:pt x="510" y="93"/>
                  </a:cubicBezTo>
                  <a:cubicBezTo>
                    <a:pt x="510" y="99"/>
                    <a:pt x="510" y="99"/>
                    <a:pt x="510" y="99"/>
                  </a:cubicBezTo>
                  <a:cubicBezTo>
                    <a:pt x="507" y="98"/>
                    <a:pt x="505" y="98"/>
                    <a:pt x="502" y="98"/>
                  </a:cubicBezTo>
                  <a:cubicBezTo>
                    <a:pt x="499" y="98"/>
                    <a:pt x="497" y="98"/>
                    <a:pt x="495" y="98"/>
                  </a:cubicBezTo>
                  <a:cubicBezTo>
                    <a:pt x="493" y="98"/>
                    <a:pt x="492" y="98"/>
                    <a:pt x="490" y="98"/>
                  </a:cubicBezTo>
                  <a:cubicBezTo>
                    <a:pt x="488" y="98"/>
                    <a:pt x="484" y="98"/>
                    <a:pt x="480" y="99"/>
                  </a:cubicBezTo>
                  <a:cubicBezTo>
                    <a:pt x="480" y="93"/>
                    <a:pt x="480" y="93"/>
                    <a:pt x="480" y="93"/>
                  </a:cubicBezTo>
                  <a:cubicBezTo>
                    <a:pt x="483" y="92"/>
                    <a:pt x="485" y="91"/>
                    <a:pt x="487" y="90"/>
                  </a:cubicBezTo>
                  <a:cubicBezTo>
                    <a:pt x="489" y="88"/>
                    <a:pt x="491" y="85"/>
                    <a:pt x="493" y="81"/>
                  </a:cubicBezTo>
                  <a:cubicBezTo>
                    <a:pt x="528" y="2"/>
                    <a:pt x="528" y="2"/>
                    <a:pt x="528" y="2"/>
                  </a:cubicBezTo>
                  <a:cubicBezTo>
                    <a:pt x="537" y="2"/>
                    <a:pt x="537" y="2"/>
                    <a:pt x="537" y="2"/>
                  </a:cubicBezTo>
                  <a:cubicBezTo>
                    <a:pt x="568" y="86"/>
                    <a:pt x="568" y="86"/>
                    <a:pt x="568" y="86"/>
                  </a:cubicBezTo>
                  <a:cubicBezTo>
                    <a:pt x="569" y="89"/>
                    <a:pt x="571" y="90"/>
                    <a:pt x="572" y="91"/>
                  </a:cubicBezTo>
                  <a:cubicBezTo>
                    <a:pt x="574" y="92"/>
                    <a:pt x="576" y="93"/>
                    <a:pt x="579" y="93"/>
                  </a:cubicBezTo>
                  <a:cubicBezTo>
                    <a:pt x="579" y="99"/>
                    <a:pt x="579" y="99"/>
                    <a:pt x="579" y="99"/>
                  </a:cubicBezTo>
                  <a:cubicBezTo>
                    <a:pt x="575" y="98"/>
                    <a:pt x="571" y="98"/>
                    <a:pt x="567" y="98"/>
                  </a:cubicBezTo>
                  <a:cubicBezTo>
                    <a:pt x="564" y="98"/>
                    <a:pt x="560" y="98"/>
                    <a:pt x="557" y="98"/>
                  </a:cubicBezTo>
                  <a:cubicBezTo>
                    <a:pt x="554" y="98"/>
                    <a:pt x="551" y="98"/>
                    <a:pt x="547" y="98"/>
                  </a:cubicBezTo>
                  <a:cubicBezTo>
                    <a:pt x="543" y="98"/>
                    <a:pt x="538" y="98"/>
                    <a:pt x="534" y="99"/>
                  </a:cubicBezTo>
                  <a:cubicBezTo>
                    <a:pt x="534" y="93"/>
                    <a:pt x="534" y="93"/>
                    <a:pt x="534" y="93"/>
                  </a:cubicBezTo>
                  <a:cubicBezTo>
                    <a:pt x="539" y="93"/>
                    <a:pt x="542" y="92"/>
                    <a:pt x="543" y="92"/>
                  </a:cubicBezTo>
                  <a:cubicBezTo>
                    <a:pt x="545" y="91"/>
                    <a:pt x="545" y="90"/>
                    <a:pt x="545" y="88"/>
                  </a:cubicBezTo>
                  <a:cubicBezTo>
                    <a:pt x="545" y="88"/>
                    <a:pt x="545" y="87"/>
                    <a:pt x="545" y="87"/>
                  </a:cubicBezTo>
                  <a:cubicBezTo>
                    <a:pt x="545" y="86"/>
                    <a:pt x="545" y="86"/>
                    <a:pt x="545" y="85"/>
                  </a:cubicBezTo>
                  <a:cubicBezTo>
                    <a:pt x="538" y="67"/>
                    <a:pt x="538" y="67"/>
                    <a:pt x="538" y="67"/>
                  </a:cubicBezTo>
                  <a:cubicBezTo>
                    <a:pt x="508" y="67"/>
                    <a:pt x="508" y="67"/>
                    <a:pt x="508" y="67"/>
                  </a:cubicBezTo>
                  <a:cubicBezTo>
                    <a:pt x="501" y="84"/>
                    <a:pt x="501" y="84"/>
                    <a:pt x="501" y="84"/>
                  </a:cubicBezTo>
                  <a:close/>
                  <a:moveTo>
                    <a:pt x="672" y="64"/>
                  </a:moveTo>
                  <a:cubicBezTo>
                    <a:pt x="672" y="17"/>
                    <a:pt x="672" y="17"/>
                    <a:pt x="672" y="17"/>
                  </a:cubicBezTo>
                  <a:cubicBezTo>
                    <a:pt x="672" y="13"/>
                    <a:pt x="671" y="10"/>
                    <a:pt x="669" y="9"/>
                  </a:cubicBezTo>
                  <a:cubicBezTo>
                    <a:pt x="668" y="8"/>
                    <a:pt x="664" y="7"/>
                    <a:pt x="659" y="7"/>
                  </a:cubicBezTo>
                  <a:cubicBezTo>
                    <a:pt x="659" y="2"/>
                    <a:pt x="659" y="2"/>
                    <a:pt x="659" y="2"/>
                  </a:cubicBezTo>
                  <a:cubicBezTo>
                    <a:pt x="661" y="2"/>
                    <a:pt x="664" y="2"/>
                    <a:pt x="666" y="2"/>
                  </a:cubicBezTo>
                  <a:cubicBezTo>
                    <a:pt x="669" y="2"/>
                    <a:pt x="672" y="2"/>
                    <a:pt x="675" y="2"/>
                  </a:cubicBezTo>
                  <a:cubicBezTo>
                    <a:pt x="678" y="2"/>
                    <a:pt x="680" y="2"/>
                    <a:pt x="683" y="2"/>
                  </a:cubicBezTo>
                  <a:cubicBezTo>
                    <a:pt x="685" y="2"/>
                    <a:pt x="688" y="2"/>
                    <a:pt x="690" y="2"/>
                  </a:cubicBezTo>
                  <a:cubicBezTo>
                    <a:pt x="690" y="7"/>
                    <a:pt x="690" y="7"/>
                    <a:pt x="690" y="7"/>
                  </a:cubicBezTo>
                  <a:cubicBezTo>
                    <a:pt x="689" y="7"/>
                    <a:pt x="689" y="7"/>
                    <a:pt x="689" y="7"/>
                  </a:cubicBezTo>
                  <a:cubicBezTo>
                    <a:pt x="686" y="7"/>
                    <a:pt x="683" y="8"/>
                    <a:pt x="682" y="9"/>
                  </a:cubicBezTo>
                  <a:cubicBezTo>
                    <a:pt x="681" y="11"/>
                    <a:pt x="680" y="13"/>
                    <a:pt x="680" y="17"/>
                  </a:cubicBezTo>
                  <a:cubicBezTo>
                    <a:pt x="680" y="99"/>
                    <a:pt x="680" y="99"/>
                    <a:pt x="680" y="99"/>
                  </a:cubicBezTo>
                  <a:cubicBezTo>
                    <a:pt x="671" y="99"/>
                    <a:pt x="671" y="99"/>
                    <a:pt x="671" y="99"/>
                  </a:cubicBezTo>
                  <a:cubicBezTo>
                    <a:pt x="610" y="20"/>
                    <a:pt x="610" y="20"/>
                    <a:pt x="610" y="20"/>
                  </a:cubicBezTo>
                  <a:cubicBezTo>
                    <a:pt x="610" y="81"/>
                    <a:pt x="610" y="81"/>
                    <a:pt x="610" y="81"/>
                  </a:cubicBezTo>
                  <a:cubicBezTo>
                    <a:pt x="610" y="86"/>
                    <a:pt x="611" y="89"/>
                    <a:pt x="612" y="91"/>
                  </a:cubicBezTo>
                  <a:cubicBezTo>
                    <a:pt x="614" y="92"/>
                    <a:pt x="617" y="93"/>
                    <a:pt x="623" y="93"/>
                  </a:cubicBezTo>
                  <a:cubicBezTo>
                    <a:pt x="623" y="99"/>
                    <a:pt x="623" y="99"/>
                    <a:pt x="623" y="99"/>
                  </a:cubicBezTo>
                  <a:cubicBezTo>
                    <a:pt x="620" y="98"/>
                    <a:pt x="617" y="98"/>
                    <a:pt x="614" y="98"/>
                  </a:cubicBezTo>
                  <a:cubicBezTo>
                    <a:pt x="611" y="98"/>
                    <a:pt x="608" y="98"/>
                    <a:pt x="605" y="98"/>
                  </a:cubicBezTo>
                  <a:cubicBezTo>
                    <a:pt x="603" y="98"/>
                    <a:pt x="600" y="98"/>
                    <a:pt x="598" y="98"/>
                  </a:cubicBezTo>
                  <a:cubicBezTo>
                    <a:pt x="595" y="98"/>
                    <a:pt x="592" y="98"/>
                    <a:pt x="590" y="99"/>
                  </a:cubicBezTo>
                  <a:cubicBezTo>
                    <a:pt x="590" y="93"/>
                    <a:pt x="590" y="93"/>
                    <a:pt x="590" y="93"/>
                  </a:cubicBezTo>
                  <a:cubicBezTo>
                    <a:pt x="595" y="93"/>
                    <a:pt x="598" y="92"/>
                    <a:pt x="599" y="91"/>
                  </a:cubicBezTo>
                  <a:cubicBezTo>
                    <a:pt x="601" y="89"/>
                    <a:pt x="602" y="86"/>
                    <a:pt x="602" y="81"/>
                  </a:cubicBezTo>
                  <a:cubicBezTo>
                    <a:pt x="602" y="17"/>
                    <a:pt x="602" y="17"/>
                    <a:pt x="602" y="17"/>
                  </a:cubicBezTo>
                  <a:cubicBezTo>
                    <a:pt x="602" y="13"/>
                    <a:pt x="601" y="11"/>
                    <a:pt x="599" y="9"/>
                  </a:cubicBezTo>
                  <a:cubicBezTo>
                    <a:pt x="598" y="8"/>
                    <a:pt x="595" y="8"/>
                    <a:pt x="591" y="7"/>
                  </a:cubicBezTo>
                  <a:cubicBezTo>
                    <a:pt x="591" y="2"/>
                    <a:pt x="591" y="2"/>
                    <a:pt x="591" y="2"/>
                  </a:cubicBezTo>
                  <a:cubicBezTo>
                    <a:pt x="595" y="2"/>
                    <a:pt x="599" y="2"/>
                    <a:pt x="601" y="2"/>
                  </a:cubicBezTo>
                  <a:cubicBezTo>
                    <a:pt x="603" y="2"/>
                    <a:pt x="605" y="3"/>
                    <a:pt x="607" y="3"/>
                  </a:cubicBezTo>
                  <a:cubicBezTo>
                    <a:pt x="609" y="3"/>
                    <a:pt x="612" y="2"/>
                    <a:pt x="614" y="2"/>
                  </a:cubicBezTo>
                  <a:cubicBezTo>
                    <a:pt x="617" y="2"/>
                    <a:pt x="620" y="2"/>
                    <a:pt x="623" y="2"/>
                  </a:cubicBezTo>
                  <a:cubicBezTo>
                    <a:pt x="672" y="64"/>
                    <a:pt x="672" y="64"/>
                    <a:pt x="672" y="64"/>
                  </a:cubicBezTo>
                  <a:close/>
                  <a:moveTo>
                    <a:pt x="781" y="16"/>
                  </a:moveTo>
                  <a:cubicBezTo>
                    <a:pt x="781" y="13"/>
                    <a:pt x="780" y="11"/>
                    <a:pt x="779" y="9"/>
                  </a:cubicBezTo>
                  <a:cubicBezTo>
                    <a:pt x="777" y="8"/>
                    <a:pt x="775" y="7"/>
                    <a:pt x="771" y="7"/>
                  </a:cubicBezTo>
                  <a:cubicBezTo>
                    <a:pt x="770" y="7"/>
                    <a:pt x="770" y="7"/>
                    <a:pt x="770" y="7"/>
                  </a:cubicBezTo>
                  <a:cubicBezTo>
                    <a:pt x="770" y="2"/>
                    <a:pt x="770" y="2"/>
                    <a:pt x="770" y="2"/>
                  </a:cubicBezTo>
                  <a:cubicBezTo>
                    <a:pt x="775" y="2"/>
                    <a:pt x="779" y="2"/>
                    <a:pt x="782" y="3"/>
                  </a:cubicBezTo>
                  <a:cubicBezTo>
                    <a:pt x="786" y="3"/>
                    <a:pt x="790" y="3"/>
                    <a:pt x="793" y="3"/>
                  </a:cubicBezTo>
                  <a:cubicBezTo>
                    <a:pt x="796" y="3"/>
                    <a:pt x="799" y="3"/>
                    <a:pt x="803" y="3"/>
                  </a:cubicBezTo>
                  <a:cubicBezTo>
                    <a:pt x="807" y="2"/>
                    <a:pt x="811" y="2"/>
                    <a:pt x="815" y="2"/>
                  </a:cubicBezTo>
                  <a:cubicBezTo>
                    <a:pt x="815" y="7"/>
                    <a:pt x="815" y="7"/>
                    <a:pt x="815" y="7"/>
                  </a:cubicBezTo>
                  <a:cubicBezTo>
                    <a:pt x="811" y="7"/>
                    <a:pt x="808" y="8"/>
                    <a:pt x="807" y="9"/>
                  </a:cubicBezTo>
                  <a:cubicBezTo>
                    <a:pt x="805" y="10"/>
                    <a:pt x="804" y="12"/>
                    <a:pt x="804" y="16"/>
                  </a:cubicBezTo>
                  <a:cubicBezTo>
                    <a:pt x="804" y="60"/>
                    <a:pt x="804" y="60"/>
                    <a:pt x="804" y="60"/>
                  </a:cubicBezTo>
                  <a:cubicBezTo>
                    <a:pt x="804" y="67"/>
                    <a:pt x="805" y="72"/>
                    <a:pt x="805" y="75"/>
                  </a:cubicBezTo>
                  <a:cubicBezTo>
                    <a:pt x="806" y="78"/>
                    <a:pt x="807" y="80"/>
                    <a:pt x="808" y="82"/>
                  </a:cubicBezTo>
                  <a:cubicBezTo>
                    <a:pt x="810" y="84"/>
                    <a:pt x="813" y="86"/>
                    <a:pt x="816" y="88"/>
                  </a:cubicBezTo>
                  <a:cubicBezTo>
                    <a:pt x="819" y="89"/>
                    <a:pt x="822" y="89"/>
                    <a:pt x="827" y="89"/>
                  </a:cubicBezTo>
                  <a:cubicBezTo>
                    <a:pt x="835" y="89"/>
                    <a:pt x="841" y="87"/>
                    <a:pt x="845" y="83"/>
                  </a:cubicBezTo>
                  <a:cubicBezTo>
                    <a:pt x="848" y="78"/>
                    <a:pt x="850" y="70"/>
                    <a:pt x="850" y="60"/>
                  </a:cubicBezTo>
                  <a:cubicBezTo>
                    <a:pt x="850" y="59"/>
                    <a:pt x="850" y="59"/>
                    <a:pt x="850" y="59"/>
                  </a:cubicBezTo>
                  <a:cubicBezTo>
                    <a:pt x="850" y="18"/>
                    <a:pt x="850" y="18"/>
                    <a:pt x="850" y="18"/>
                  </a:cubicBezTo>
                  <a:cubicBezTo>
                    <a:pt x="850" y="14"/>
                    <a:pt x="849" y="11"/>
                    <a:pt x="848" y="9"/>
                  </a:cubicBezTo>
                  <a:cubicBezTo>
                    <a:pt x="847" y="8"/>
                    <a:pt x="844" y="7"/>
                    <a:pt x="839" y="7"/>
                  </a:cubicBezTo>
                  <a:cubicBezTo>
                    <a:pt x="839" y="2"/>
                    <a:pt x="839" y="2"/>
                    <a:pt x="839" y="2"/>
                  </a:cubicBezTo>
                  <a:cubicBezTo>
                    <a:pt x="842" y="2"/>
                    <a:pt x="845" y="2"/>
                    <a:pt x="847" y="2"/>
                  </a:cubicBezTo>
                  <a:cubicBezTo>
                    <a:pt x="849" y="2"/>
                    <a:pt x="851" y="3"/>
                    <a:pt x="853" y="3"/>
                  </a:cubicBezTo>
                  <a:cubicBezTo>
                    <a:pt x="855" y="3"/>
                    <a:pt x="857" y="2"/>
                    <a:pt x="860" y="2"/>
                  </a:cubicBezTo>
                  <a:cubicBezTo>
                    <a:pt x="862" y="2"/>
                    <a:pt x="865" y="2"/>
                    <a:pt x="867" y="2"/>
                  </a:cubicBezTo>
                  <a:cubicBezTo>
                    <a:pt x="867" y="7"/>
                    <a:pt x="867" y="7"/>
                    <a:pt x="867" y="7"/>
                  </a:cubicBezTo>
                  <a:cubicBezTo>
                    <a:pt x="864" y="7"/>
                    <a:pt x="862" y="8"/>
                    <a:pt x="861" y="9"/>
                  </a:cubicBezTo>
                  <a:cubicBezTo>
                    <a:pt x="860" y="10"/>
                    <a:pt x="859" y="13"/>
                    <a:pt x="859" y="18"/>
                  </a:cubicBezTo>
                  <a:cubicBezTo>
                    <a:pt x="858" y="62"/>
                    <a:pt x="858" y="62"/>
                    <a:pt x="858" y="62"/>
                  </a:cubicBezTo>
                  <a:cubicBezTo>
                    <a:pt x="858" y="76"/>
                    <a:pt x="855" y="86"/>
                    <a:pt x="849" y="92"/>
                  </a:cubicBezTo>
                  <a:cubicBezTo>
                    <a:pt x="843" y="98"/>
                    <a:pt x="833" y="101"/>
                    <a:pt x="820" y="101"/>
                  </a:cubicBezTo>
                  <a:cubicBezTo>
                    <a:pt x="807" y="101"/>
                    <a:pt x="797" y="98"/>
                    <a:pt x="791" y="93"/>
                  </a:cubicBezTo>
                  <a:cubicBezTo>
                    <a:pt x="784" y="87"/>
                    <a:pt x="781" y="79"/>
                    <a:pt x="781" y="69"/>
                  </a:cubicBezTo>
                  <a:cubicBezTo>
                    <a:pt x="781" y="16"/>
                    <a:pt x="781" y="16"/>
                    <a:pt x="781" y="16"/>
                  </a:cubicBezTo>
                  <a:close/>
                  <a:moveTo>
                    <a:pt x="963" y="64"/>
                  </a:moveTo>
                  <a:cubicBezTo>
                    <a:pt x="963" y="17"/>
                    <a:pt x="963" y="17"/>
                    <a:pt x="963" y="17"/>
                  </a:cubicBezTo>
                  <a:cubicBezTo>
                    <a:pt x="963" y="13"/>
                    <a:pt x="962" y="10"/>
                    <a:pt x="961" y="9"/>
                  </a:cubicBezTo>
                  <a:cubicBezTo>
                    <a:pt x="959" y="8"/>
                    <a:pt x="956" y="7"/>
                    <a:pt x="950" y="7"/>
                  </a:cubicBezTo>
                  <a:cubicBezTo>
                    <a:pt x="950" y="2"/>
                    <a:pt x="950" y="2"/>
                    <a:pt x="950" y="2"/>
                  </a:cubicBezTo>
                  <a:cubicBezTo>
                    <a:pt x="953" y="2"/>
                    <a:pt x="955" y="2"/>
                    <a:pt x="958" y="2"/>
                  </a:cubicBezTo>
                  <a:cubicBezTo>
                    <a:pt x="960" y="2"/>
                    <a:pt x="963" y="2"/>
                    <a:pt x="966" y="2"/>
                  </a:cubicBezTo>
                  <a:cubicBezTo>
                    <a:pt x="969" y="2"/>
                    <a:pt x="972" y="2"/>
                    <a:pt x="974" y="2"/>
                  </a:cubicBezTo>
                  <a:cubicBezTo>
                    <a:pt x="977" y="2"/>
                    <a:pt x="979" y="2"/>
                    <a:pt x="981" y="2"/>
                  </a:cubicBezTo>
                  <a:cubicBezTo>
                    <a:pt x="981" y="7"/>
                    <a:pt x="981" y="7"/>
                    <a:pt x="981" y="7"/>
                  </a:cubicBezTo>
                  <a:cubicBezTo>
                    <a:pt x="980" y="7"/>
                    <a:pt x="980" y="7"/>
                    <a:pt x="980" y="7"/>
                  </a:cubicBezTo>
                  <a:cubicBezTo>
                    <a:pt x="977" y="7"/>
                    <a:pt x="975" y="8"/>
                    <a:pt x="973" y="9"/>
                  </a:cubicBezTo>
                  <a:cubicBezTo>
                    <a:pt x="972" y="11"/>
                    <a:pt x="971" y="13"/>
                    <a:pt x="971" y="17"/>
                  </a:cubicBezTo>
                  <a:cubicBezTo>
                    <a:pt x="971" y="99"/>
                    <a:pt x="971" y="99"/>
                    <a:pt x="971" y="99"/>
                  </a:cubicBezTo>
                  <a:cubicBezTo>
                    <a:pt x="963" y="99"/>
                    <a:pt x="963" y="99"/>
                    <a:pt x="963" y="99"/>
                  </a:cubicBezTo>
                  <a:cubicBezTo>
                    <a:pt x="901" y="20"/>
                    <a:pt x="901" y="20"/>
                    <a:pt x="901" y="20"/>
                  </a:cubicBezTo>
                  <a:cubicBezTo>
                    <a:pt x="901" y="81"/>
                    <a:pt x="901" y="81"/>
                    <a:pt x="901" y="81"/>
                  </a:cubicBezTo>
                  <a:cubicBezTo>
                    <a:pt x="901" y="86"/>
                    <a:pt x="902" y="89"/>
                    <a:pt x="904" y="91"/>
                  </a:cubicBezTo>
                  <a:cubicBezTo>
                    <a:pt x="905" y="92"/>
                    <a:pt x="909" y="93"/>
                    <a:pt x="914" y="93"/>
                  </a:cubicBezTo>
                  <a:cubicBezTo>
                    <a:pt x="914" y="99"/>
                    <a:pt x="914" y="99"/>
                    <a:pt x="914" y="99"/>
                  </a:cubicBezTo>
                  <a:cubicBezTo>
                    <a:pt x="911" y="98"/>
                    <a:pt x="908" y="98"/>
                    <a:pt x="905" y="98"/>
                  </a:cubicBezTo>
                  <a:cubicBezTo>
                    <a:pt x="902" y="98"/>
                    <a:pt x="900" y="98"/>
                    <a:pt x="897" y="98"/>
                  </a:cubicBezTo>
                  <a:cubicBezTo>
                    <a:pt x="894" y="98"/>
                    <a:pt x="892" y="98"/>
                    <a:pt x="889" y="98"/>
                  </a:cubicBezTo>
                  <a:cubicBezTo>
                    <a:pt x="886" y="98"/>
                    <a:pt x="884" y="98"/>
                    <a:pt x="881" y="99"/>
                  </a:cubicBezTo>
                  <a:cubicBezTo>
                    <a:pt x="881" y="93"/>
                    <a:pt x="881" y="93"/>
                    <a:pt x="881" y="93"/>
                  </a:cubicBezTo>
                  <a:cubicBezTo>
                    <a:pt x="886" y="93"/>
                    <a:pt x="889" y="92"/>
                    <a:pt x="891" y="91"/>
                  </a:cubicBezTo>
                  <a:cubicBezTo>
                    <a:pt x="892" y="89"/>
                    <a:pt x="893" y="86"/>
                    <a:pt x="893" y="81"/>
                  </a:cubicBezTo>
                  <a:cubicBezTo>
                    <a:pt x="893" y="17"/>
                    <a:pt x="893" y="17"/>
                    <a:pt x="893" y="17"/>
                  </a:cubicBezTo>
                  <a:cubicBezTo>
                    <a:pt x="893" y="13"/>
                    <a:pt x="892" y="11"/>
                    <a:pt x="891" y="9"/>
                  </a:cubicBezTo>
                  <a:cubicBezTo>
                    <a:pt x="889" y="8"/>
                    <a:pt x="886" y="8"/>
                    <a:pt x="882" y="7"/>
                  </a:cubicBezTo>
                  <a:cubicBezTo>
                    <a:pt x="882" y="2"/>
                    <a:pt x="882" y="2"/>
                    <a:pt x="882" y="2"/>
                  </a:cubicBezTo>
                  <a:cubicBezTo>
                    <a:pt x="887" y="2"/>
                    <a:pt x="890" y="2"/>
                    <a:pt x="892" y="2"/>
                  </a:cubicBezTo>
                  <a:cubicBezTo>
                    <a:pt x="895" y="2"/>
                    <a:pt x="897" y="3"/>
                    <a:pt x="899" y="3"/>
                  </a:cubicBezTo>
                  <a:cubicBezTo>
                    <a:pt x="901" y="3"/>
                    <a:pt x="903" y="2"/>
                    <a:pt x="906" y="2"/>
                  </a:cubicBezTo>
                  <a:cubicBezTo>
                    <a:pt x="908" y="2"/>
                    <a:pt x="911" y="2"/>
                    <a:pt x="915" y="2"/>
                  </a:cubicBezTo>
                  <a:cubicBezTo>
                    <a:pt x="963" y="64"/>
                    <a:pt x="963" y="64"/>
                    <a:pt x="963" y="64"/>
                  </a:cubicBezTo>
                  <a:close/>
                  <a:moveTo>
                    <a:pt x="997" y="99"/>
                  </a:moveTo>
                  <a:cubicBezTo>
                    <a:pt x="997" y="93"/>
                    <a:pt x="997" y="93"/>
                    <a:pt x="997" y="93"/>
                  </a:cubicBezTo>
                  <a:cubicBezTo>
                    <a:pt x="997" y="93"/>
                    <a:pt x="997" y="93"/>
                    <a:pt x="997" y="93"/>
                  </a:cubicBezTo>
                  <a:cubicBezTo>
                    <a:pt x="1002" y="93"/>
                    <a:pt x="1005" y="92"/>
                    <a:pt x="1006" y="91"/>
                  </a:cubicBezTo>
                  <a:cubicBezTo>
                    <a:pt x="1007" y="89"/>
                    <a:pt x="1008" y="86"/>
                    <a:pt x="1008" y="81"/>
                  </a:cubicBezTo>
                  <a:cubicBezTo>
                    <a:pt x="1008" y="16"/>
                    <a:pt x="1008" y="16"/>
                    <a:pt x="1008" y="16"/>
                  </a:cubicBezTo>
                  <a:cubicBezTo>
                    <a:pt x="1008" y="13"/>
                    <a:pt x="1007" y="11"/>
                    <a:pt x="1006" y="9"/>
                  </a:cubicBezTo>
                  <a:cubicBezTo>
                    <a:pt x="1004" y="8"/>
                    <a:pt x="1002" y="7"/>
                    <a:pt x="998" y="7"/>
                  </a:cubicBezTo>
                  <a:cubicBezTo>
                    <a:pt x="997" y="7"/>
                    <a:pt x="997" y="7"/>
                    <a:pt x="997" y="7"/>
                  </a:cubicBezTo>
                  <a:cubicBezTo>
                    <a:pt x="997" y="2"/>
                    <a:pt x="997" y="2"/>
                    <a:pt x="997" y="2"/>
                  </a:cubicBezTo>
                  <a:cubicBezTo>
                    <a:pt x="1001" y="2"/>
                    <a:pt x="1004" y="2"/>
                    <a:pt x="1008" y="2"/>
                  </a:cubicBezTo>
                  <a:cubicBezTo>
                    <a:pt x="1012" y="3"/>
                    <a:pt x="1016" y="3"/>
                    <a:pt x="1020" y="3"/>
                  </a:cubicBezTo>
                  <a:cubicBezTo>
                    <a:pt x="1023" y="3"/>
                    <a:pt x="1027" y="3"/>
                    <a:pt x="1031" y="2"/>
                  </a:cubicBezTo>
                  <a:cubicBezTo>
                    <a:pt x="1035" y="2"/>
                    <a:pt x="1039" y="2"/>
                    <a:pt x="1042" y="2"/>
                  </a:cubicBezTo>
                  <a:cubicBezTo>
                    <a:pt x="1042" y="7"/>
                    <a:pt x="1042" y="7"/>
                    <a:pt x="1042" y="7"/>
                  </a:cubicBezTo>
                  <a:cubicBezTo>
                    <a:pt x="1038" y="7"/>
                    <a:pt x="1035" y="8"/>
                    <a:pt x="1034" y="9"/>
                  </a:cubicBezTo>
                  <a:cubicBezTo>
                    <a:pt x="1032" y="10"/>
                    <a:pt x="1031" y="12"/>
                    <a:pt x="1031" y="16"/>
                  </a:cubicBezTo>
                  <a:cubicBezTo>
                    <a:pt x="1031" y="81"/>
                    <a:pt x="1031" y="81"/>
                    <a:pt x="1031" y="81"/>
                  </a:cubicBezTo>
                  <a:cubicBezTo>
                    <a:pt x="1031" y="86"/>
                    <a:pt x="1032" y="89"/>
                    <a:pt x="1033" y="91"/>
                  </a:cubicBezTo>
                  <a:cubicBezTo>
                    <a:pt x="1035" y="92"/>
                    <a:pt x="1038" y="93"/>
                    <a:pt x="1042" y="93"/>
                  </a:cubicBezTo>
                  <a:cubicBezTo>
                    <a:pt x="1042" y="93"/>
                    <a:pt x="1042" y="93"/>
                    <a:pt x="1042" y="93"/>
                  </a:cubicBezTo>
                  <a:cubicBezTo>
                    <a:pt x="1042" y="99"/>
                    <a:pt x="1042" y="99"/>
                    <a:pt x="1042" y="99"/>
                  </a:cubicBezTo>
                  <a:cubicBezTo>
                    <a:pt x="1039" y="98"/>
                    <a:pt x="1035" y="98"/>
                    <a:pt x="1031" y="98"/>
                  </a:cubicBezTo>
                  <a:cubicBezTo>
                    <a:pt x="1027" y="98"/>
                    <a:pt x="1024" y="98"/>
                    <a:pt x="1020" y="98"/>
                  </a:cubicBezTo>
                  <a:cubicBezTo>
                    <a:pt x="1016" y="98"/>
                    <a:pt x="1013" y="98"/>
                    <a:pt x="1009" y="98"/>
                  </a:cubicBezTo>
                  <a:cubicBezTo>
                    <a:pt x="1005" y="98"/>
                    <a:pt x="1001" y="98"/>
                    <a:pt x="997" y="99"/>
                  </a:cubicBezTo>
                  <a:cubicBezTo>
                    <a:pt x="997" y="99"/>
                    <a:pt x="997" y="99"/>
                    <a:pt x="997" y="99"/>
                  </a:cubicBezTo>
                  <a:close/>
                  <a:moveTo>
                    <a:pt x="1107" y="100"/>
                  </a:moveTo>
                  <a:cubicBezTo>
                    <a:pt x="1097" y="100"/>
                    <a:pt x="1097" y="100"/>
                    <a:pt x="1097" y="100"/>
                  </a:cubicBezTo>
                  <a:cubicBezTo>
                    <a:pt x="1066" y="16"/>
                    <a:pt x="1066" y="16"/>
                    <a:pt x="1066" y="16"/>
                  </a:cubicBezTo>
                  <a:cubicBezTo>
                    <a:pt x="1065" y="13"/>
                    <a:pt x="1064" y="11"/>
                    <a:pt x="1062" y="9"/>
                  </a:cubicBezTo>
                  <a:cubicBezTo>
                    <a:pt x="1060" y="8"/>
                    <a:pt x="1058" y="7"/>
                    <a:pt x="1055" y="7"/>
                  </a:cubicBezTo>
                  <a:cubicBezTo>
                    <a:pt x="1054" y="7"/>
                    <a:pt x="1054" y="7"/>
                    <a:pt x="1054" y="7"/>
                  </a:cubicBezTo>
                  <a:cubicBezTo>
                    <a:pt x="1054" y="2"/>
                    <a:pt x="1054" y="2"/>
                    <a:pt x="1054" y="2"/>
                  </a:cubicBezTo>
                  <a:cubicBezTo>
                    <a:pt x="1058" y="2"/>
                    <a:pt x="1062" y="2"/>
                    <a:pt x="1066" y="2"/>
                  </a:cubicBezTo>
                  <a:cubicBezTo>
                    <a:pt x="1070" y="2"/>
                    <a:pt x="1073" y="3"/>
                    <a:pt x="1076" y="3"/>
                  </a:cubicBezTo>
                  <a:cubicBezTo>
                    <a:pt x="1079" y="3"/>
                    <a:pt x="1081" y="2"/>
                    <a:pt x="1085" y="2"/>
                  </a:cubicBezTo>
                  <a:cubicBezTo>
                    <a:pt x="1088" y="2"/>
                    <a:pt x="1093" y="2"/>
                    <a:pt x="1100" y="2"/>
                  </a:cubicBezTo>
                  <a:cubicBezTo>
                    <a:pt x="1100" y="7"/>
                    <a:pt x="1100" y="7"/>
                    <a:pt x="1100" y="7"/>
                  </a:cubicBezTo>
                  <a:cubicBezTo>
                    <a:pt x="1099" y="7"/>
                    <a:pt x="1099" y="7"/>
                    <a:pt x="1099" y="7"/>
                  </a:cubicBezTo>
                  <a:cubicBezTo>
                    <a:pt x="1095" y="7"/>
                    <a:pt x="1093" y="8"/>
                    <a:pt x="1092" y="8"/>
                  </a:cubicBezTo>
                  <a:cubicBezTo>
                    <a:pt x="1090" y="9"/>
                    <a:pt x="1089" y="11"/>
                    <a:pt x="1089" y="12"/>
                  </a:cubicBezTo>
                  <a:cubicBezTo>
                    <a:pt x="1089" y="13"/>
                    <a:pt x="1089" y="13"/>
                    <a:pt x="1090" y="14"/>
                  </a:cubicBezTo>
                  <a:cubicBezTo>
                    <a:pt x="1090" y="14"/>
                    <a:pt x="1090" y="15"/>
                    <a:pt x="1090" y="15"/>
                  </a:cubicBezTo>
                  <a:cubicBezTo>
                    <a:pt x="1110" y="74"/>
                    <a:pt x="1110" y="74"/>
                    <a:pt x="1110" y="74"/>
                  </a:cubicBezTo>
                  <a:cubicBezTo>
                    <a:pt x="1133" y="16"/>
                    <a:pt x="1133" y="16"/>
                    <a:pt x="1133" y="16"/>
                  </a:cubicBezTo>
                  <a:cubicBezTo>
                    <a:pt x="1134" y="14"/>
                    <a:pt x="1134" y="14"/>
                    <a:pt x="1134" y="13"/>
                  </a:cubicBezTo>
                  <a:cubicBezTo>
                    <a:pt x="1134" y="12"/>
                    <a:pt x="1135" y="11"/>
                    <a:pt x="1135" y="11"/>
                  </a:cubicBezTo>
                  <a:cubicBezTo>
                    <a:pt x="1135" y="9"/>
                    <a:pt x="1134" y="9"/>
                    <a:pt x="1132" y="8"/>
                  </a:cubicBezTo>
                  <a:cubicBezTo>
                    <a:pt x="1131" y="7"/>
                    <a:pt x="1128" y="7"/>
                    <a:pt x="1125" y="7"/>
                  </a:cubicBezTo>
                  <a:cubicBezTo>
                    <a:pt x="1124" y="7"/>
                    <a:pt x="1124" y="7"/>
                    <a:pt x="1124" y="7"/>
                  </a:cubicBezTo>
                  <a:cubicBezTo>
                    <a:pt x="1124" y="2"/>
                    <a:pt x="1124" y="2"/>
                    <a:pt x="1124" y="2"/>
                  </a:cubicBezTo>
                  <a:cubicBezTo>
                    <a:pt x="1126" y="2"/>
                    <a:pt x="1128" y="2"/>
                    <a:pt x="1130" y="2"/>
                  </a:cubicBezTo>
                  <a:cubicBezTo>
                    <a:pt x="1132" y="2"/>
                    <a:pt x="1135" y="2"/>
                    <a:pt x="1137" y="2"/>
                  </a:cubicBezTo>
                  <a:cubicBezTo>
                    <a:pt x="1140" y="2"/>
                    <a:pt x="1143" y="2"/>
                    <a:pt x="1145" y="2"/>
                  </a:cubicBezTo>
                  <a:cubicBezTo>
                    <a:pt x="1147" y="2"/>
                    <a:pt x="1149" y="2"/>
                    <a:pt x="1151" y="2"/>
                  </a:cubicBezTo>
                  <a:cubicBezTo>
                    <a:pt x="1152" y="7"/>
                    <a:pt x="1152" y="7"/>
                    <a:pt x="1152" y="7"/>
                  </a:cubicBezTo>
                  <a:cubicBezTo>
                    <a:pt x="1149" y="7"/>
                    <a:pt x="1148" y="8"/>
                    <a:pt x="1146" y="9"/>
                  </a:cubicBezTo>
                  <a:cubicBezTo>
                    <a:pt x="1145" y="10"/>
                    <a:pt x="1144" y="12"/>
                    <a:pt x="1143" y="15"/>
                  </a:cubicBezTo>
                  <a:cubicBezTo>
                    <a:pt x="1107" y="100"/>
                    <a:pt x="1107" y="100"/>
                    <a:pt x="1107" y="100"/>
                  </a:cubicBezTo>
                  <a:close/>
                  <a:moveTo>
                    <a:pt x="1163" y="99"/>
                  </a:moveTo>
                  <a:cubicBezTo>
                    <a:pt x="1163" y="93"/>
                    <a:pt x="1163" y="93"/>
                    <a:pt x="1163" y="93"/>
                  </a:cubicBezTo>
                  <a:cubicBezTo>
                    <a:pt x="1165" y="93"/>
                    <a:pt x="1165" y="93"/>
                    <a:pt x="1165" y="93"/>
                  </a:cubicBezTo>
                  <a:cubicBezTo>
                    <a:pt x="1168" y="93"/>
                    <a:pt x="1171" y="92"/>
                    <a:pt x="1173" y="91"/>
                  </a:cubicBezTo>
                  <a:cubicBezTo>
                    <a:pt x="1174" y="89"/>
                    <a:pt x="1175" y="87"/>
                    <a:pt x="1175" y="84"/>
                  </a:cubicBezTo>
                  <a:cubicBezTo>
                    <a:pt x="1175" y="16"/>
                    <a:pt x="1175" y="16"/>
                    <a:pt x="1175" y="16"/>
                  </a:cubicBezTo>
                  <a:cubicBezTo>
                    <a:pt x="1175" y="13"/>
                    <a:pt x="1174" y="11"/>
                    <a:pt x="1173" y="10"/>
                  </a:cubicBezTo>
                  <a:cubicBezTo>
                    <a:pt x="1171" y="8"/>
                    <a:pt x="1168" y="7"/>
                    <a:pt x="1165" y="7"/>
                  </a:cubicBezTo>
                  <a:cubicBezTo>
                    <a:pt x="1163" y="7"/>
                    <a:pt x="1163" y="7"/>
                    <a:pt x="1163" y="7"/>
                  </a:cubicBezTo>
                  <a:cubicBezTo>
                    <a:pt x="1163" y="2"/>
                    <a:pt x="1163" y="2"/>
                    <a:pt x="1163" y="2"/>
                  </a:cubicBezTo>
                  <a:cubicBezTo>
                    <a:pt x="1166" y="2"/>
                    <a:pt x="1170" y="2"/>
                    <a:pt x="1174" y="2"/>
                  </a:cubicBezTo>
                  <a:cubicBezTo>
                    <a:pt x="1178" y="2"/>
                    <a:pt x="1184" y="2"/>
                    <a:pt x="1193" y="2"/>
                  </a:cubicBezTo>
                  <a:cubicBezTo>
                    <a:pt x="1207" y="2"/>
                    <a:pt x="1207" y="2"/>
                    <a:pt x="1207" y="2"/>
                  </a:cubicBezTo>
                  <a:cubicBezTo>
                    <a:pt x="1214" y="2"/>
                    <a:pt x="1219" y="2"/>
                    <a:pt x="1224" y="2"/>
                  </a:cubicBezTo>
                  <a:cubicBezTo>
                    <a:pt x="1228" y="2"/>
                    <a:pt x="1232" y="2"/>
                    <a:pt x="1236" y="2"/>
                  </a:cubicBezTo>
                  <a:cubicBezTo>
                    <a:pt x="1236" y="5"/>
                    <a:pt x="1236" y="9"/>
                    <a:pt x="1236" y="13"/>
                  </a:cubicBezTo>
                  <a:cubicBezTo>
                    <a:pt x="1236" y="16"/>
                    <a:pt x="1237" y="21"/>
                    <a:pt x="1237" y="25"/>
                  </a:cubicBezTo>
                  <a:cubicBezTo>
                    <a:pt x="1231" y="25"/>
                    <a:pt x="1231" y="25"/>
                    <a:pt x="1231" y="25"/>
                  </a:cubicBezTo>
                  <a:cubicBezTo>
                    <a:pt x="1230" y="19"/>
                    <a:pt x="1228" y="15"/>
                    <a:pt x="1225" y="12"/>
                  </a:cubicBezTo>
                  <a:cubicBezTo>
                    <a:pt x="1222" y="10"/>
                    <a:pt x="1216" y="9"/>
                    <a:pt x="1208" y="9"/>
                  </a:cubicBezTo>
                  <a:cubicBezTo>
                    <a:pt x="1204" y="9"/>
                    <a:pt x="1201" y="9"/>
                    <a:pt x="1200" y="10"/>
                  </a:cubicBezTo>
                  <a:cubicBezTo>
                    <a:pt x="1198" y="10"/>
                    <a:pt x="1198" y="12"/>
                    <a:pt x="1198" y="13"/>
                  </a:cubicBezTo>
                  <a:cubicBezTo>
                    <a:pt x="1198" y="46"/>
                    <a:pt x="1198" y="46"/>
                    <a:pt x="1198" y="46"/>
                  </a:cubicBezTo>
                  <a:cubicBezTo>
                    <a:pt x="1210" y="46"/>
                    <a:pt x="1210" y="46"/>
                    <a:pt x="1210" y="46"/>
                  </a:cubicBezTo>
                  <a:cubicBezTo>
                    <a:pt x="1214" y="46"/>
                    <a:pt x="1217" y="45"/>
                    <a:pt x="1219" y="42"/>
                  </a:cubicBezTo>
                  <a:cubicBezTo>
                    <a:pt x="1221" y="40"/>
                    <a:pt x="1222" y="37"/>
                    <a:pt x="1222" y="32"/>
                  </a:cubicBezTo>
                  <a:cubicBezTo>
                    <a:pt x="1227" y="32"/>
                    <a:pt x="1227" y="32"/>
                    <a:pt x="1227" y="32"/>
                  </a:cubicBezTo>
                  <a:cubicBezTo>
                    <a:pt x="1227" y="35"/>
                    <a:pt x="1227" y="38"/>
                    <a:pt x="1227" y="40"/>
                  </a:cubicBezTo>
                  <a:cubicBezTo>
                    <a:pt x="1227" y="43"/>
                    <a:pt x="1227" y="46"/>
                    <a:pt x="1227" y="49"/>
                  </a:cubicBezTo>
                  <a:cubicBezTo>
                    <a:pt x="1227" y="52"/>
                    <a:pt x="1227" y="54"/>
                    <a:pt x="1227" y="57"/>
                  </a:cubicBezTo>
                  <a:cubicBezTo>
                    <a:pt x="1227" y="60"/>
                    <a:pt x="1227" y="63"/>
                    <a:pt x="1227" y="65"/>
                  </a:cubicBezTo>
                  <a:cubicBezTo>
                    <a:pt x="1222" y="65"/>
                    <a:pt x="1222" y="65"/>
                    <a:pt x="1222" y="65"/>
                  </a:cubicBezTo>
                  <a:cubicBezTo>
                    <a:pt x="1222" y="60"/>
                    <a:pt x="1221" y="57"/>
                    <a:pt x="1219" y="55"/>
                  </a:cubicBezTo>
                  <a:cubicBezTo>
                    <a:pt x="1218" y="53"/>
                    <a:pt x="1215" y="52"/>
                    <a:pt x="1211" y="52"/>
                  </a:cubicBezTo>
                  <a:cubicBezTo>
                    <a:pt x="1198" y="52"/>
                    <a:pt x="1198" y="52"/>
                    <a:pt x="1198" y="52"/>
                  </a:cubicBezTo>
                  <a:cubicBezTo>
                    <a:pt x="1198" y="85"/>
                    <a:pt x="1198" y="85"/>
                    <a:pt x="1198" y="85"/>
                  </a:cubicBezTo>
                  <a:cubicBezTo>
                    <a:pt x="1198" y="87"/>
                    <a:pt x="1198" y="88"/>
                    <a:pt x="1199" y="89"/>
                  </a:cubicBezTo>
                  <a:cubicBezTo>
                    <a:pt x="1201" y="90"/>
                    <a:pt x="1202" y="90"/>
                    <a:pt x="1205" y="90"/>
                  </a:cubicBezTo>
                  <a:cubicBezTo>
                    <a:pt x="1216" y="90"/>
                    <a:pt x="1224" y="89"/>
                    <a:pt x="1229" y="86"/>
                  </a:cubicBezTo>
                  <a:cubicBezTo>
                    <a:pt x="1233" y="83"/>
                    <a:pt x="1236" y="78"/>
                    <a:pt x="1238" y="71"/>
                  </a:cubicBezTo>
                  <a:cubicBezTo>
                    <a:pt x="1244" y="71"/>
                    <a:pt x="1244" y="71"/>
                    <a:pt x="1244" y="71"/>
                  </a:cubicBezTo>
                  <a:cubicBezTo>
                    <a:pt x="1243" y="76"/>
                    <a:pt x="1242" y="80"/>
                    <a:pt x="1241" y="85"/>
                  </a:cubicBezTo>
                  <a:cubicBezTo>
                    <a:pt x="1240" y="90"/>
                    <a:pt x="1239" y="94"/>
                    <a:pt x="1239" y="99"/>
                  </a:cubicBezTo>
                  <a:cubicBezTo>
                    <a:pt x="1233" y="98"/>
                    <a:pt x="1228" y="98"/>
                    <a:pt x="1221" y="98"/>
                  </a:cubicBezTo>
                  <a:cubicBezTo>
                    <a:pt x="1215" y="98"/>
                    <a:pt x="1208" y="98"/>
                    <a:pt x="1201" y="98"/>
                  </a:cubicBezTo>
                  <a:cubicBezTo>
                    <a:pt x="1193" y="98"/>
                    <a:pt x="1186" y="98"/>
                    <a:pt x="1180" y="98"/>
                  </a:cubicBezTo>
                  <a:cubicBezTo>
                    <a:pt x="1174" y="98"/>
                    <a:pt x="1168" y="98"/>
                    <a:pt x="1163" y="99"/>
                  </a:cubicBezTo>
                  <a:cubicBezTo>
                    <a:pt x="1163" y="99"/>
                    <a:pt x="1163" y="99"/>
                    <a:pt x="1163" y="99"/>
                  </a:cubicBezTo>
                  <a:close/>
                  <a:moveTo>
                    <a:pt x="1259" y="99"/>
                  </a:moveTo>
                  <a:cubicBezTo>
                    <a:pt x="1259" y="93"/>
                    <a:pt x="1259" y="93"/>
                    <a:pt x="1259" y="93"/>
                  </a:cubicBezTo>
                  <a:cubicBezTo>
                    <a:pt x="1263" y="93"/>
                    <a:pt x="1266" y="92"/>
                    <a:pt x="1267" y="91"/>
                  </a:cubicBezTo>
                  <a:cubicBezTo>
                    <a:pt x="1269" y="89"/>
                    <a:pt x="1270" y="86"/>
                    <a:pt x="1270" y="81"/>
                  </a:cubicBezTo>
                  <a:cubicBezTo>
                    <a:pt x="1270" y="16"/>
                    <a:pt x="1270" y="16"/>
                    <a:pt x="1270" y="16"/>
                  </a:cubicBezTo>
                  <a:cubicBezTo>
                    <a:pt x="1270" y="13"/>
                    <a:pt x="1269" y="11"/>
                    <a:pt x="1267" y="9"/>
                  </a:cubicBezTo>
                  <a:cubicBezTo>
                    <a:pt x="1266" y="8"/>
                    <a:pt x="1263" y="7"/>
                    <a:pt x="1260" y="7"/>
                  </a:cubicBezTo>
                  <a:cubicBezTo>
                    <a:pt x="1259" y="7"/>
                    <a:pt x="1259" y="7"/>
                    <a:pt x="1259" y="7"/>
                  </a:cubicBezTo>
                  <a:cubicBezTo>
                    <a:pt x="1259" y="2"/>
                    <a:pt x="1259" y="2"/>
                    <a:pt x="1259" y="2"/>
                  </a:cubicBezTo>
                  <a:cubicBezTo>
                    <a:pt x="1262" y="2"/>
                    <a:pt x="1265" y="2"/>
                    <a:pt x="1268" y="2"/>
                  </a:cubicBezTo>
                  <a:cubicBezTo>
                    <a:pt x="1271" y="2"/>
                    <a:pt x="1274" y="3"/>
                    <a:pt x="1277" y="3"/>
                  </a:cubicBezTo>
                  <a:cubicBezTo>
                    <a:pt x="1281" y="3"/>
                    <a:pt x="1286" y="2"/>
                    <a:pt x="1292" y="2"/>
                  </a:cubicBezTo>
                  <a:cubicBezTo>
                    <a:pt x="1298" y="2"/>
                    <a:pt x="1302" y="2"/>
                    <a:pt x="1305" y="2"/>
                  </a:cubicBezTo>
                  <a:cubicBezTo>
                    <a:pt x="1316" y="2"/>
                    <a:pt x="1325" y="4"/>
                    <a:pt x="1330" y="7"/>
                  </a:cubicBezTo>
                  <a:cubicBezTo>
                    <a:pt x="1336" y="11"/>
                    <a:pt x="1339" y="17"/>
                    <a:pt x="1339" y="24"/>
                  </a:cubicBezTo>
                  <a:cubicBezTo>
                    <a:pt x="1339" y="30"/>
                    <a:pt x="1337" y="36"/>
                    <a:pt x="1333" y="40"/>
                  </a:cubicBezTo>
                  <a:cubicBezTo>
                    <a:pt x="1329" y="45"/>
                    <a:pt x="1323" y="49"/>
                    <a:pt x="1316" y="51"/>
                  </a:cubicBezTo>
                  <a:cubicBezTo>
                    <a:pt x="1320" y="53"/>
                    <a:pt x="1324" y="56"/>
                    <a:pt x="1328" y="61"/>
                  </a:cubicBezTo>
                  <a:cubicBezTo>
                    <a:pt x="1332" y="66"/>
                    <a:pt x="1336" y="73"/>
                    <a:pt x="1341" y="82"/>
                  </a:cubicBezTo>
                  <a:cubicBezTo>
                    <a:pt x="1341" y="83"/>
                    <a:pt x="1341" y="84"/>
                    <a:pt x="1342" y="85"/>
                  </a:cubicBezTo>
                  <a:cubicBezTo>
                    <a:pt x="1345" y="92"/>
                    <a:pt x="1348" y="95"/>
                    <a:pt x="1351" y="95"/>
                  </a:cubicBezTo>
                  <a:cubicBezTo>
                    <a:pt x="1352" y="95"/>
                    <a:pt x="1352" y="95"/>
                    <a:pt x="1352" y="95"/>
                  </a:cubicBezTo>
                  <a:cubicBezTo>
                    <a:pt x="1352" y="100"/>
                    <a:pt x="1352" y="100"/>
                    <a:pt x="1352" y="100"/>
                  </a:cubicBezTo>
                  <a:cubicBezTo>
                    <a:pt x="1347" y="99"/>
                    <a:pt x="1341" y="99"/>
                    <a:pt x="1334" y="98"/>
                  </a:cubicBezTo>
                  <a:cubicBezTo>
                    <a:pt x="1333" y="98"/>
                    <a:pt x="1333" y="98"/>
                    <a:pt x="1332" y="98"/>
                  </a:cubicBezTo>
                  <a:cubicBezTo>
                    <a:pt x="1328" y="98"/>
                    <a:pt x="1326" y="97"/>
                    <a:pt x="1324" y="96"/>
                  </a:cubicBezTo>
                  <a:cubicBezTo>
                    <a:pt x="1322" y="94"/>
                    <a:pt x="1320" y="91"/>
                    <a:pt x="1318" y="86"/>
                  </a:cubicBezTo>
                  <a:cubicBezTo>
                    <a:pt x="1317" y="83"/>
                    <a:pt x="1316" y="80"/>
                    <a:pt x="1314" y="75"/>
                  </a:cubicBezTo>
                  <a:cubicBezTo>
                    <a:pt x="1310" y="64"/>
                    <a:pt x="1307" y="58"/>
                    <a:pt x="1304" y="56"/>
                  </a:cubicBezTo>
                  <a:cubicBezTo>
                    <a:pt x="1303" y="56"/>
                    <a:pt x="1302" y="55"/>
                    <a:pt x="1301" y="55"/>
                  </a:cubicBezTo>
                  <a:cubicBezTo>
                    <a:pt x="1300" y="55"/>
                    <a:pt x="1298" y="55"/>
                    <a:pt x="1296" y="55"/>
                  </a:cubicBezTo>
                  <a:cubicBezTo>
                    <a:pt x="1296" y="55"/>
                    <a:pt x="1295" y="55"/>
                    <a:pt x="1295" y="55"/>
                  </a:cubicBezTo>
                  <a:cubicBezTo>
                    <a:pt x="1294" y="55"/>
                    <a:pt x="1293" y="55"/>
                    <a:pt x="1292" y="55"/>
                  </a:cubicBezTo>
                  <a:cubicBezTo>
                    <a:pt x="1292" y="81"/>
                    <a:pt x="1292" y="81"/>
                    <a:pt x="1292" y="81"/>
                  </a:cubicBezTo>
                  <a:cubicBezTo>
                    <a:pt x="1292" y="86"/>
                    <a:pt x="1293" y="89"/>
                    <a:pt x="1294" y="90"/>
                  </a:cubicBezTo>
                  <a:cubicBezTo>
                    <a:pt x="1295" y="92"/>
                    <a:pt x="1298" y="93"/>
                    <a:pt x="1302" y="93"/>
                  </a:cubicBezTo>
                  <a:cubicBezTo>
                    <a:pt x="1302" y="99"/>
                    <a:pt x="1302" y="99"/>
                    <a:pt x="1302" y="99"/>
                  </a:cubicBezTo>
                  <a:cubicBezTo>
                    <a:pt x="1297" y="98"/>
                    <a:pt x="1292" y="98"/>
                    <a:pt x="1289" y="98"/>
                  </a:cubicBezTo>
                  <a:cubicBezTo>
                    <a:pt x="1285" y="98"/>
                    <a:pt x="1282" y="98"/>
                    <a:pt x="1281" y="98"/>
                  </a:cubicBezTo>
                  <a:cubicBezTo>
                    <a:pt x="1277" y="98"/>
                    <a:pt x="1274" y="98"/>
                    <a:pt x="1270" y="98"/>
                  </a:cubicBezTo>
                  <a:cubicBezTo>
                    <a:pt x="1267" y="98"/>
                    <a:pt x="1263" y="98"/>
                    <a:pt x="1259" y="99"/>
                  </a:cubicBezTo>
                  <a:cubicBezTo>
                    <a:pt x="1259" y="99"/>
                    <a:pt x="1259" y="99"/>
                    <a:pt x="1259" y="99"/>
                  </a:cubicBezTo>
                  <a:close/>
                  <a:moveTo>
                    <a:pt x="1292" y="48"/>
                  </a:moveTo>
                  <a:cubicBezTo>
                    <a:pt x="1298" y="48"/>
                    <a:pt x="1298" y="48"/>
                    <a:pt x="1298" y="48"/>
                  </a:cubicBezTo>
                  <a:cubicBezTo>
                    <a:pt x="1305" y="48"/>
                    <a:pt x="1310" y="46"/>
                    <a:pt x="1313" y="43"/>
                  </a:cubicBezTo>
                  <a:cubicBezTo>
                    <a:pt x="1316" y="40"/>
                    <a:pt x="1318" y="35"/>
                    <a:pt x="1318" y="28"/>
                  </a:cubicBezTo>
                  <a:cubicBezTo>
                    <a:pt x="1318" y="21"/>
                    <a:pt x="1316" y="16"/>
                    <a:pt x="1313" y="13"/>
                  </a:cubicBezTo>
                  <a:cubicBezTo>
                    <a:pt x="1309" y="10"/>
                    <a:pt x="1304" y="8"/>
                    <a:pt x="1297" y="8"/>
                  </a:cubicBezTo>
                  <a:cubicBezTo>
                    <a:pt x="1295" y="8"/>
                    <a:pt x="1295" y="8"/>
                    <a:pt x="1294" y="8"/>
                  </a:cubicBezTo>
                  <a:cubicBezTo>
                    <a:pt x="1293" y="9"/>
                    <a:pt x="1293" y="9"/>
                    <a:pt x="1292" y="9"/>
                  </a:cubicBezTo>
                  <a:cubicBezTo>
                    <a:pt x="1292" y="48"/>
                    <a:pt x="1292" y="48"/>
                    <a:pt x="1292" y="48"/>
                  </a:cubicBezTo>
                  <a:close/>
                  <a:moveTo>
                    <a:pt x="1370" y="66"/>
                  </a:moveTo>
                  <a:cubicBezTo>
                    <a:pt x="1380" y="66"/>
                    <a:pt x="1380" y="66"/>
                    <a:pt x="1380" y="66"/>
                  </a:cubicBezTo>
                  <a:cubicBezTo>
                    <a:pt x="1380" y="75"/>
                    <a:pt x="1382" y="81"/>
                    <a:pt x="1385" y="85"/>
                  </a:cubicBezTo>
                  <a:cubicBezTo>
                    <a:pt x="1389" y="90"/>
                    <a:pt x="1394" y="92"/>
                    <a:pt x="1400" y="92"/>
                  </a:cubicBezTo>
                  <a:cubicBezTo>
                    <a:pt x="1406" y="92"/>
                    <a:pt x="1410" y="90"/>
                    <a:pt x="1413" y="88"/>
                  </a:cubicBezTo>
                  <a:cubicBezTo>
                    <a:pt x="1416" y="85"/>
                    <a:pt x="1418" y="82"/>
                    <a:pt x="1418" y="77"/>
                  </a:cubicBezTo>
                  <a:cubicBezTo>
                    <a:pt x="1418" y="74"/>
                    <a:pt x="1417" y="71"/>
                    <a:pt x="1415" y="68"/>
                  </a:cubicBezTo>
                  <a:cubicBezTo>
                    <a:pt x="1413" y="66"/>
                    <a:pt x="1408" y="63"/>
                    <a:pt x="1400" y="60"/>
                  </a:cubicBezTo>
                  <a:cubicBezTo>
                    <a:pt x="1389" y="55"/>
                    <a:pt x="1381" y="51"/>
                    <a:pt x="1377" y="46"/>
                  </a:cubicBezTo>
                  <a:cubicBezTo>
                    <a:pt x="1373" y="41"/>
                    <a:pt x="1371" y="36"/>
                    <a:pt x="1371" y="29"/>
                  </a:cubicBezTo>
                  <a:cubicBezTo>
                    <a:pt x="1371" y="20"/>
                    <a:pt x="1374" y="13"/>
                    <a:pt x="1380" y="8"/>
                  </a:cubicBezTo>
                  <a:cubicBezTo>
                    <a:pt x="1386" y="2"/>
                    <a:pt x="1393" y="0"/>
                    <a:pt x="1403" y="0"/>
                  </a:cubicBezTo>
                  <a:cubicBezTo>
                    <a:pt x="1407" y="0"/>
                    <a:pt x="1411" y="0"/>
                    <a:pt x="1415" y="1"/>
                  </a:cubicBezTo>
                  <a:cubicBezTo>
                    <a:pt x="1420" y="1"/>
                    <a:pt x="1425" y="2"/>
                    <a:pt x="1431" y="3"/>
                  </a:cubicBezTo>
                  <a:cubicBezTo>
                    <a:pt x="1431" y="4"/>
                    <a:pt x="1431" y="4"/>
                    <a:pt x="1431" y="4"/>
                  </a:cubicBezTo>
                  <a:cubicBezTo>
                    <a:pt x="1431" y="9"/>
                    <a:pt x="1431" y="14"/>
                    <a:pt x="1431" y="17"/>
                  </a:cubicBezTo>
                  <a:cubicBezTo>
                    <a:pt x="1431" y="19"/>
                    <a:pt x="1431" y="23"/>
                    <a:pt x="1431" y="29"/>
                  </a:cubicBezTo>
                  <a:cubicBezTo>
                    <a:pt x="1431" y="29"/>
                    <a:pt x="1431" y="29"/>
                    <a:pt x="1431" y="29"/>
                  </a:cubicBezTo>
                  <a:cubicBezTo>
                    <a:pt x="1423" y="29"/>
                    <a:pt x="1423" y="29"/>
                    <a:pt x="1423" y="29"/>
                  </a:cubicBezTo>
                  <a:cubicBezTo>
                    <a:pt x="1423" y="22"/>
                    <a:pt x="1421" y="17"/>
                    <a:pt x="1418" y="13"/>
                  </a:cubicBezTo>
                  <a:cubicBezTo>
                    <a:pt x="1415" y="10"/>
                    <a:pt x="1410" y="8"/>
                    <a:pt x="1404" y="8"/>
                  </a:cubicBezTo>
                  <a:cubicBezTo>
                    <a:pt x="1400" y="8"/>
                    <a:pt x="1396" y="9"/>
                    <a:pt x="1393" y="11"/>
                  </a:cubicBezTo>
                  <a:cubicBezTo>
                    <a:pt x="1391" y="14"/>
                    <a:pt x="1389" y="17"/>
                    <a:pt x="1389" y="21"/>
                  </a:cubicBezTo>
                  <a:cubicBezTo>
                    <a:pt x="1389" y="24"/>
                    <a:pt x="1390" y="27"/>
                    <a:pt x="1392" y="30"/>
                  </a:cubicBezTo>
                  <a:cubicBezTo>
                    <a:pt x="1395" y="32"/>
                    <a:pt x="1400" y="35"/>
                    <a:pt x="1407" y="38"/>
                  </a:cubicBezTo>
                  <a:cubicBezTo>
                    <a:pt x="1408" y="38"/>
                    <a:pt x="1410" y="39"/>
                    <a:pt x="1412" y="40"/>
                  </a:cubicBezTo>
                  <a:cubicBezTo>
                    <a:pt x="1420" y="43"/>
                    <a:pt x="1426" y="46"/>
                    <a:pt x="1429" y="49"/>
                  </a:cubicBezTo>
                  <a:cubicBezTo>
                    <a:pt x="1432" y="51"/>
                    <a:pt x="1434" y="55"/>
                    <a:pt x="1435" y="58"/>
                  </a:cubicBezTo>
                  <a:cubicBezTo>
                    <a:pt x="1437" y="61"/>
                    <a:pt x="1437" y="65"/>
                    <a:pt x="1437" y="69"/>
                  </a:cubicBezTo>
                  <a:cubicBezTo>
                    <a:pt x="1437" y="79"/>
                    <a:pt x="1434" y="86"/>
                    <a:pt x="1428" y="92"/>
                  </a:cubicBezTo>
                  <a:cubicBezTo>
                    <a:pt x="1421" y="98"/>
                    <a:pt x="1413" y="101"/>
                    <a:pt x="1402" y="101"/>
                  </a:cubicBezTo>
                  <a:cubicBezTo>
                    <a:pt x="1396" y="101"/>
                    <a:pt x="1390" y="100"/>
                    <a:pt x="1385" y="99"/>
                  </a:cubicBezTo>
                  <a:cubicBezTo>
                    <a:pt x="1379" y="98"/>
                    <a:pt x="1374" y="96"/>
                    <a:pt x="1369" y="93"/>
                  </a:cubicBezTo>
                  <a:cubicBezTo>
                    <a:pt x="1370" y="90"/>
                    <a:pt x="1370" y="87"/>
                    <a:pt x="1370" y="83"/>
                  </a:cubicBezTo>
                  <a:cubicBezTo>
                    <a:pt x="1370" y="80"/>
                    <a:pt x="1370" y="77"/>
                    <a:pt x="1370" y="73"/>
                  </a:cubicBezTo>
                  <a:cubicBezTo>
                    <a:pt x="1370" y="71"/>
                    <a:pt x="1370" y="70"/>
                    <a:pt x="1370" y="69"/>
                  </a:cubicBezTo>
                  <a:cubicBezTo>
                    <a:pt x="1370" y="68"/>
                    <a:pt x="1370" y="67"/>
                    <a:pt x="1370" y="66"/>
                  </a:cubicBezTo>
                  <a:cubicBezTo>
                    <a:pt x="1370" y="66"/>
                    <a:pt x="1370" y="66"/>
                    <a:pt x="1370" y="66"/>
                  </a:cubicBezTo>
                  <a:close/>
                  <a:moveTo>
                    <a:pt x="1456" y="99"/>
                  </a:moveTo>
                  <a:cubicBezTo>
                    <a:pt x="1456" y="93"/>
                    <a:pt x="1456" y="93"/>
                    <a:pt x="1456" y="93"/>
                  </a:cubicBezTo>
                  <a:cubicBezTo>
                    <a:pt x="1457" y="93"/>
                    <a:pt x="1457" y="93"/>
                    <a:pt x="1457" y="93"/>
                  </a:cubicBezTo>
                  <a:cubicBezTo>
                    <a:pt x="1461" y="93"/>
                    <a:pt x="1464" y="92"/>
                    <a:pt x="1466" y="91"/>
                  </a:cubicBezTo>
                  <a:cubicBezTo>
                    <a:pt x="1467" y="89"/>
                    <a:pt x="1468" y="86"/>
                    <a:pt x="1468" y="81"/>
                  </a:cubicBezTo>
                  <a:cubicBezTo>
                    <a:pt x="1468" y="16"/>
                    <a:pt x="1468" y="16"/>
                    <a:pt x="1468" y="16"/>
                  </a:cubicBezTo>
                  <a:cubicBezTo>
                    <a:pt x="1468" y="13"/>
                    <a:pt x="1467" y="11"/>
                    <a:pt x="1465" y="9"/>
                  </a:cubicBezTo>
                  <a:cubicBezTo>
                    <a:pt x="1464" y="8"/>
                    <a:pt x="1461" y="7"/>
                    <a:pt x="1458" y="7"/>
                  </a:cubicBezTo>
                  <a:cubicBezTo>
                    <a:pt x="1456" y="7"/>
                    <a:pt x="1456" y="7"/>
                    <a:pt x="1456" y="7"/>
                  </a:cubicBezTo>
                  <a:cubicBezTo>
                    <a:pt x="1456" y="2"/>
                    <a:pt x="1456" y="2"/>
                    <a:pt x="1456" y="2"/>
                  </a:cubicBezTo>
                  <a:cubicBezTo>
                    <a:pt x="1460" y="2"/>
                    <a:pt x="1464" y="2"/>
                    <a:pt x="1468" y="2"/>
                  </a:cubicBezTo>
                  <a:cubicBezTo>
                    <a:pt x="1472" y="3"/>
                    <a:pt x="1475" y="3"/>
                    <a:pt x="1479" y="3"/>
                  </a:cubicBezTo>
                  <a:cubicBezTo>
                    <a:pt x="1483" y="3"/>
                    <a:pt x="1487" y="3"/>
                    <a:pt x="1491" y="2"/>
                  </a:cubicBezTo>
                  <a:cubicBezTo>
                    <a:pt x="1494" y="2"/>
                    <a:pt x="1498" y="2"/>
                    <a:pt x="1502" y="2"/>
                  </a:cubicBezTo>
                  <a:cubicBezTo>
                    <a:pt x="1502" y="7"/>
                    <a:pt x="1502" y="7"/>
                    <a:pt x="1502" y="7"/>
                  </a:cubicBezTo>
                  <a:cubicBezTo>
                    <a:pt x="1498" y="7"/>
                    <a:pt x="1495" y="8"/>
                    <a:pt x="1493" y="9"/>
                  </a:cubicBezTo>
                  <a:cubicBezTo>
                    <a:pt x="1492" y="10"/>
                    <a:pt x="1491" y="12"/>
                    <a:pt x="1491" y="16"/>
                  </a:cubicBezTo>
                  <a:cubicBezTo>
                    <a:pt x="1491" y="81"/>
                    <a:pt x="1491" y="81"/>
                    <a:pt x="1491" y="81"/>
                  </a:cubicBezTo>
                  <a:cubicBezTo>
                    <a:pt x="1491" y="86"/>
                    <a:pt x="1492" y="89"/>
                    <a:pt x="1493" y="91"/>
                  </a:cubicBezTo>
                  <a:cubicBezTo>
                    <a:pt x="1494" y="92"/>
                    <a:pt x="1497" y="93"/>
                    <a:pt x="1501" y="93"/>
                  </a:cubicBezTo>
                  <a:cubicBezTo>
                    <a:pt x="1502" y="93"/>
                    <a:pt x="1502" y="93"/>
                    <a:pt x="1502" y="93"/>
                  </a:cubicBezTo>
                  <a:cubicBezTo>
                    <a:pt x="1502" y="99"/>
                    <a:pt x="1502" y="99"/>
                    <a:pt x="1502" y="99"/>
                  </a:cubicBezTo>
                  <a:cubicBezTo>
                    <a:pt x="1498" y="98"/>
                    <a:pt x="1495" y="98"/>
                    <a:pt x="1491" y="98"/>
                  </a:cubicBezTo>
                  <a:cubicBezTo>
                    <a:pt x="1487" y="98"/>
                    <a:pt x="1483" y="98"/>
                    <a:pt x="1479" y="98"/>
                  </a:cubicBezTo>
                  <a:cubicBezTo>
                    <a:pt x="1476" y="98"/>
                    <a:pt x="1472" y="98"/>
                    <a:pt x="1469" y="98"/>
                  </a:cubicBezTo>
                  <a:cubicBezTo>
                    <a:pt x="1465" y="98"/>
                    <a:pt x="1461" y="98"/>
                    <a:pt x="1456" y="99"/>
                  </a:cubicBezTo>
                  <a:cubicBezTo>
                    <a:pt x="1456" y="99"/>
                    <a:pt x="1456" y="99"/>
                    <a:pt x="1456" y="99"/>
                  </a:cubicBezTo>
                  <a:close/>
                  <a:moveTo>
                    <a:pt x="1533" y="99"/>
                  </a:moveTo>
                  <a:cubicBezTo>
                    <a:pt x="1533" y="93"/>
                    <a:pt x="1533" y="93"/>
                    <a:pt x="1533" y="93"/>
                  </a:cubicBezTo>
                  <a:cubicBezTo>
                    <a:pt x="1535" y="93"/>
                    <a:pt x="1535" y="93"/>
                    <a:pt x="1535" y="93"/>
                  </a:cubicBezTo>
                  <a:cubicBezTo>
                    <a:pt x="1539" y="93"/>
                    <a:pt x="1542" y="92"/>
                    <a:pt x="1543" y="91"/>
                  </a:cubicBezTo>
                  <a:cubicBezTo>
                    <a:pt x="1545" y="89"/>
                    <a:pt x="1546" y="87"/>
                    <a:pt x="1546" y="84"/>
                  </a:cubicBezTo>
                  <a:cubicBezTo>
                    <a:pt x="1546" y="9"/>
                    <a:pt x="1546" y="9"/>
                    <a:pt x="1546" y="9"/>
                  </a:cubicBezTo>
                  <a:cubicBezTo>
                    <a:pt x="1543" y="9"/>
                    <a:pt x="1543" y="9"/>
                    <a:pt x="1543" y="9"/>
                  </a:cubicBezTo>
                  <a:cubicBezTo>
                    <a:pt x="1537" y="9"/>
                    <a:pt x="1532" y="10"/>
                    <a:pt x="1528" y="13"/>
                  </a:cubicBezTo>
                  <a:cubicBezTo>
                    <a:pt x="1525" y="16"/>
                    <a:pt x="1523" y="20"/>
                    <a:pt x="1522" y="26"/>
                  </a:cubicBezTo>
                  <a:cubicBezTo>
                    <a:pt x="1517" y="26"/>
                    <a:pt x="1517" y="26"/>
                    <a:pt x="1517" y="26"/>
                  </a:cubicBezTo>
                  <a:cubicBezTo>
                    <a:pt x="1518" y="2"/>
                    <a:pt x="1518" y="2"/>
                    <a:pt x="1518" y="2"/>
                  </a:cubicBezTo>
                  <a:cubicBezTo>
                    <a:pt x="1520" y="2"/>
                    <a:pt x="1522" y="2"/>
                    <a:pt x="1524" y="2"/>
                  </a:cubicBezTo>
                  <a:cubicBezTo>
                    <a:pt x="1527" y="2"/>
                    <a:pt x="1531" y="2"/>
                    <a:pt x="1536" y="2"/>
                  </a:cubicBezTo>
                  <a:cubicBezTo>
                    <a:pt x="1557" y="2"/>
                    <a:pt x="1557" y="2"/>
                    <a:pt x="1557" y="2"/>
                  </a:cubicBezTo>
                  <a:cubicBezTo>
                    <a:pt x="1578" y="2"/>
                    <a:pt x="1578" y="2"/>
                    <a:pt x="1578" y="2"/>
                  </a:cubicBezTo>
                  <a:cubicBezTo>
                    <a:pt x="1584" y="2"/>
                    <a:pt x="1588" y="2"/>
                    <a:pt x="1591" y="2"/>
                  </a:cubicBezTo>
                  <a:cubicBezTo>
                    <a:pt x="1593" y="2"/>
                    <a:pt x="1595" y="2"/>
                    <a:pt x="1597" y="2"/>
                  </a:cubicBezTo>
                  <a:cubicBezTo>
                    <a:pt x="1598" y="26"/>
                    <a:pt x="1598" y="26"/>
                    <a:pt x="1598" y="26"/>
                  </a:cubicBezTo>
                  <a:cubicBezTo>
                    <a:pt x="1593" y="26"/>
                    <a:pt x="1593" y="26"/>
                    <a:pt x="1593" y="26"/>
                  </a:cubicBezTo>
                  <a:cubicBezTo>
                    <a:pt x="1592" y="20"/>
                    <a:pt x="1590" y="16"/>
                    <a:pt x="1586" y="13"/>
                  </a:cubicBezTo>
                  <a:cubicBezTo>
                    <a:pt x="1583" y="10"/>
                    <a:pt x="1578" y="9"/>
                    <a:pt x="1572" y="9"/>
                  </a:cubicBezTo>
                  <a:cubicBezTo>
                    <a:pt x="1569" y="9"/>
                    <a:pt x="1569" y="9"/>
                    <a:pt x="1569" y="9"/>
                  </a:cubicBezTo>
                  <a:cubicBezTo>
                    <a:pt x="1569" y="83"/>
                    <a:pt x="1569" y="83"/>
                    <a:pt x="1569" y="83"/>
                  </a:cubicBezTo>
                  <a:cubicBezTo>
                    <a:pt x="1569" y="87"/>
                    <a:pt x="1570" y="89"/>
                    <a:pt x="1571" y="91"/>
                  </a:cubicBezTo>
                  <a:cubicBezTo>
                    <a:pt x="1573" y="92"/>
                    <a:pt x="1576" y="93"/>
                    <a:pt x="1580" y="93"/>
                  </a:cubicBezTo>
                  <a:cubicBezTo>
                    <a:pt x="1581" y="93"/>
                    <a:pt x="1581" y="93"/>
                    <a:pt x="1581" y="93"/>
                  </a:cubicBezTo>
                  <a:cubicBezTo>
                    <a:pt x="1581" y="99"/>
                    <a:pt x="1581" y="99"/>
                    <a:pt x="1581" y="99"/>
                  </a:cubicBezTo>
                  <a:cubicBezTo>
                    <a:pt x="1576" y="98"/>
                    <a:pt x="1571" y="98"/>
                    <a:pt x="1567" y="98"/>
                  </a:cubicBezTo>
                  <a:cubicBezTo>
                    <a:pt x="1563" y="98"/>
                    <a:pt x="1560" y="98"/>
                    <a:pt x="1557" y="98"/>
                  </a:cubicBezTo>
                  <a:cubicBezTo>
                    <a:pt x="1553" y="98"/>
                    <a:pt x="1549" y="98"/>
                    <a:pt x="1545" y="98"/>
                  </a:cubicBezTo>
                  <a:cubicBezTo>
                    <a:pt x="1541" y="98"/>
                    <a:pt x="1537" y="98"/>
                    <a:pt x="1533" y="99"/>
                  </a:cubicBezTo>
                  <a:cubicBezTo>
                    <a:pt x="1533" y="99"/>
                    <a:pt x="1533" y="99"/>
                    <a:pt x="1533" y="99"/>
                  </a:cubicBezTo>
                  <a:close/>
                  <a:moveTo>
                    <a:pt x="1666" y="56"/>
                  </a:moveTo>
                  <a:cubicBezTo>
                    <a:pt x="1666" y="81"/>
                    <a:pt x="1666" y="81"/>
                    <a:pt x="1666" y="81"/>
                  </a:cubicBezTo>
                  <a:cubicBezTo>
                    <a:pt x="1666" y="86"/>
                    <a:pt x="1667" y="89"/>
                    <a:pt x="1669" y="91"/>
                  </a:cubicBezTo>
                  <a:cubicBezTo>
                    <a:pt x="1670" y="92"/>
                    <a:pt x="1673" y="93"/>
                    <a:pt x="1678" y="93"/>
                  </a:cubicBezTo>
                  <a:cubicBezTo>
                    <a:pt x="1680" y="93"/>
                    <a:pt x="1680" y="93"/>
                    <a:pt x="1680" y="93"/>
                  </a:cubicBezTo>
                  <a:cubicBezTo>
                    <a:pt x="1680" y="99"/>
                    <a:pt x="1680" y="99"/>
                    <a:pt x="1680" y="99"/>
                  </a:cubicBezTo>
                  <a:cubicBezTo>
                    <a:pt x="1675" y="98"/>
                    <a:pt x="1670" y="98"/>
                    <a:pt x="1666" y="98"/>
                  </a:cubicBezTo>
                  <a:cubicBezTo>
                    <a:pt x="1661" y="98"/>
                    <a:pt x="1658" y="98"/>
                    <a:pt x="1656" y="98"/>
                  </a:cubicBezTo>
                  <a:cubicBezTo>
                    <a:pt x="1653" y="98"/>
                    <a:pt x="1649" y="98"/>
                    <a:pt x="1645" y="98"/>
                  </a:cubicBezTo>
                  <a:cubicBezTo>
                    <a:pt x="1640" y="98"/>
                    <a:pt x="1635" y="98"/>
                    <a:pt x="1630" y="99"/>
                  </a:cubicBezTo>
                  <a:cubicBezTo>
                    <a:pt x="1630" y="93"/>
                    <a:pt x="1630" y="93"/>
                    <a:pt x="1630" y="93"/>
                  </a:cubicBezTo>
                  <a:cubicBezTo>
                    <a:pt x="1633" y="93"/>
                    <a:pt x="1633" y="93"/>
                    <a:pt x="1633" y="93"/>
                  </a:cubicBezTo>
                  <a:cubicBezTo>
                    <a:pt x="1638" y="93"/>
                    <a:pt x="1641" y="92"/>
                    <a:pt x="1642" y="91"/>
                  </a:cubicBezTo>
                  <a:cubicBezTo>
                    <a:pt x="1644" y="89"/>
                    <a:pt x="1644" y="86"/>
                    <a:pt x="1644" y="81"/>
                  </a:cubicBezTo>
                  <a:cubicBezTo>
                    <a:pt x="1644" y="56"/>
                    <a:pt x="1644" y="56"/>
                    <a:pt x="1644" y="56"/>
                  </a:cubicBezTo>
                  <a:cubicBezTo>
                    <a:pt x="1619" y="14"/>
                    <a:pt x="1619" y="14"/>
                    <a:pt x="1619" y="14"/>
                  </a:cubicBezTo>
                  <a:cubicBezTo>
                    <a:pt x="1619" y="14"/>
                    <a:pt x="1619" y="14"/>
                    <a:pt x="1619" y="14"/>
                  </a:cubicBezTo>
                  <a:cubicBezTo>
                    <a:pt x="1616" y="10"/>
                    <a:pt x="1613" y="7"/>
                    <a:pt x="1610" y="7"/>
                  </a:cubicBezTo>
                  <a:cubicBezTo>
                    <a:pt x="1608" y="7"/>
                    <a:pt x="1608" y="7"/>
                    <a:pt x="1608" y="7"/>
                  </a:cubicBezTo>
                  <a:cubicBezTo>
                    <a:pt x="1608" y="2"/>
                    <a:pt x="1608" y="2"/>
                    <a:pt x="1608" y="2"/>
                  </a:cubicBezTo>
                  <a:cubicBezTo>
                    <a:pt x="1612" y="2"/>
                    <a:pt x="1616" y="2"/>
                    <a:pt x="1620" y="2"/>
                  </a:cubicBezTo>
                  <a:cubicBezTo>
                    <a:pt x="1623" y="2"/>
                    <a:pt x="1627" y="3"/>
                    <a:pt x="1631" y="3"/>
                  </a:cubicBezTo>
                  <a:cubicBezTo>
                    <a:pt x="1636" y="3"/>
                    <a:pt x="1640" y="2"/>
                    <a:pt x="1644" y="2"/>
                  </a:cubicBezTo>
                  <a:cubicBezTo>
                    <a:pt x="1648" y="2"/>
                    <a:pt x="1651" y="2"/>
                    <a:pt x="1654" y="2"/>
                  </a:cubicBezTo>
                  <a:cubicBezTo>
                    <a:pt x="1654" y="7"/>
                    <a:pt x="1654" y="7"/>
                    <a:pt x="1654" y="7"/>
                  </a:cubicBezTo>
                  <a:cubicBezTo>
                    <a:pt x="1650" y="7"/>
                    <a:pt x="1647" y="7"/>
                    <a:pt x="1646" y="8"/>
                  </a:cubicBezTo>
                  <a:cubicBezTo>
                    <a:pt x="1644" y="9"/>
                    <a:pt x="1644" y="9"/>
                    <a:pt x="1644" y="11"/>
                  </a:cubicBezTo>
                  <a:cubicBezTo>
                    <a:pt x="1644" y="11"/>
                    <a:pt x="1644" y="11"/>
                    <a:pt x="1644" y="12"/>
                  </a:cubicBezTo>
                  <a:cubicBezTo>
                    <a:pt x="1644" y="12"/>
                    <a:pt x="1644" y="13"/>
                    <a:pt x="1644" y="13"/>
                  </a:cubicBezTo>
                  <a:cubicBezTo>
                    <a:pt x="1664" y="48"/>
                    <a:pt x="1664" y="48"/>
                    <a:pt x="1664" y="48"/>
                  </a:cubicBezTo>
                  <a:cubicBezTo>
                    <a:pt x="1683" y="13"/>
                    <a:pt x="1683" y="13"/>
                    <a:pt x="1683" y="13"/>
                  </a:cubicBezTo>
                  <a:cubicBezTo>
                    <a:pt x="1683" y="12"/>
                    <a:pt x="1683" y="12"/>
                    <a:pt x="1683" y="11"/>
                  </a:cubicBezTo>
                  <a:cubicBezTo>
                    <a:pt x="1683" y="11"/>
                    <a:pt x="1683" y="11"/>
                    <a:pt x="1683" y="10"/>
                  </a:cubicBezTo>
                  <a:cubicBezTo>
                    <a:pt x="1683" y="9"/>
                    <a:pt x="1683" y="8"/>
                    <a:pt x="1681" y="8"/>
                  </a:cubicBezTo>
                  <a:cubicBezTo>
                    <a:pt x="1679" y="7"/>
                    <a:pt x="1677" y="7"/>
                    <a:pt x="1673" y="7"/>
                  </a:cubicBezTo>
                  <a:cubicBezTo>
                    <a:pt x="1673" y="2"/>
                    <a:pt x="1673" y="2"/>
                    <a:pt x="1673" y="2"/>
                  </a:cubicBezTo>
                  <a:cubicBezTo>
                    <a:pt x="1676" y="2"/>
                    <a:pt x="1679" y="2"/>
                    <a:pt x="1682" y="2"/>
                  </a:cubicBezTo>
                  <a:cubicBezTo>
                    <a:pt x="1684" y="2"/>
                    <a:pt x="1686" y="3"/>
                    <a:pt x="1688" y="3"/>
                  </a:cubicBezTo>
                  <a:cubicBezTo>
                    <a:pt x="1691" y="3"/>
                    <a:pt x="1693" y="2"/>
                    <a:pt x="1695" y="2"/>
                  </a:cubicBezTo>
                  <a:cubicBezTo>
                    <a:pt x="1698" y="2"/>
                    <a:pt x="1700" y="2"/>
                    <a:pt x="1702" y="2"/>
                  </a:cubicBezTo>
                  <a:cubicBezTo>
                    <a:pt x="1702" y="7"/>
                    <a:pt x="1702" y="7"/>
                    <a:pt x="1702" y="7"/>
                  </a:cubicBezTo>
                  <a:cubicBezTo>
                    <a:pt x="1699" y="7"/>
                    <a:pt x="1697" y="8"/>
                    <a:pt x="1696" y="8"/>
                  </a:cubicBezTo>
                  <a:cubicBezTo>
                    <a:pt x="1695" y="9"/>
                    <a:pt x="1694" y="10"/>
                    <a:pt x="1692" y="13"/>
                  </a:cubicBezTo>
                  <a:lnTo>
                    <a:pt x="1666" y="5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28" name="ïṩḷïḓè"/>
            <p:cNvGrpSpPr/>
            <p:nvPr/>
          </p:nvGrpSpPr>
          <p:grpSpPr>
            <a:xfrm>
              <a:off x="5388759" y="2716555"/>
              <a:ext cx="3612028" cy="965242"/>
              <a:chOff x="5102226" y="2428875"/>
              <a:chExt cx="5067300" cy="1354138"/>
            </a:xfrm>
            <a:grpFill/>
          </p:grpSpPr>
          <p:sp>
            <p:nvSpPr>
              <p:cNvPr id="29" name="i$ḻïďè"/>
              <p:cNvSpPr/>
              <p:nvPr/>
            </p:nvSpPr>
            <p:spPr bwMode="auto">
              <a:xfrm>
                <a:off x="5102226" y="2884488"/>
                <a:ext cx="1347788" cy="673100"/>
              </a:xfrm>
              <a:custGeom>
                <a:avLst/>
                <a:gdLst>
                  <a:gd name="T0" fmla="*/ 62 w 409"/>
                  <a:gd name="T1" fmla="*/ 79 h 204"/>
                  <a:gd name="T2" fmla="*/ 47 w 409"/>
                  <a:gd name="T3" fmla="*/ 55 h 204"/>
                  <a:gd name="T4" fmla="*/ 23 w 409"/>
                  <a:gd name="T5" fmla="*/ 49 h 204"/>
                  <a:gd name="T6" fmla="*/ 0 w 409"/>
                  <a:gd name="T7" fmla="*/ 87 h 204"/>
                  <a:gd name="T8" fmla="*/ 34 w 409"/>
                  <a:gd name="T9" fmla="*/ 193 h 204"/>
                  <a:gd name="T10" fmla="*/ 70 w 409"/>
                  <a:gd name="T11" fmla="*/ 186 h 204"/>
                  <a:gd name="T12" fmla="*/ 65 w 409"/>
                  <a:gd name="T13" fmla="*/ 129 h 204"/>
                  <a:gd name="T14" fmla="*/ 132 w 409"/>
                  <a:gd name="T15" fmla="*/ 63 h 204"/>
                  <a:gd name="T16" fmla="*/ 219 w 409"/>
                  <a:gd name="T17" fmla="*/ 42 h 204"/>
                  <a:gd name="T18" fmla="*/ 223 w 409"/>
                  <a:gd name="T19" fmla="*/ 63 h 204"/>
                  <a:gd name="T20" fmla="*/ 191 w 409"/>
                  <a:gd name="T21" fmla="*/ 105 h 204"/>
                  <a:gd name="T22" fmla="*/ 179 w 409"/>
                  <a:gd name="T23" fmla="*/ 103 h 204"/>
                  <a:gd name="T24" fmla="*/ 166 w 409"/>
                  <a:gd name="T25" fmla="*/ 77 h 204"/>
                  <a:gd name="T26" fmla="*/ 141 w 409"/>
                  <a:gd name="T27" fmla="*/ 85 h 204"/>
                  <a:gd name="T28" fmla="*/ 150 w 409"/>
                  <a:gd name="T29" fmla="*/ 113 h 204"/>
                  <a:gd name="T30" fmla="*/ 156 w 409"/>
                  <a:gd name="T31" fmla="*/ 127 h 204"/>
                  <a:gd name="T32" fmla="*/ 126 w 409"/>
                  <a:gd name="T33" fmla="*/ 142 h 204"/>
                  <a:gd name="T34" fmla="*/ 108 w 409"/>
                  <a:gd name="T35" fmla="*/ 153 h 204"/>
                  <a:gd name="T36" fmla="*/ 122 w 409"/>
                  <a:gd name="T37" fmla="*/ 177 h 204"/>
                  <a:gd name="T38" fmla="*/ 160 w 409"/>
                  <a:gd name="T39" fmla="*/ 156 h 204"/>
                  <a:gd name="T40" fmla="*/ 202 w 409"/>
                  <a:gd name="T41" fmla="*/ 149 h 204"/>
                  <a:gd name="T42" fmla="*/ 225 w 409"/>
                  <a:gd name="T43" fmla="*/ 169 h 204"/>
                  <a:gd name="T44" fmla="*/ 280 w 409"/>
                  <a:gd name="T45" fmla="*/ 173 h 204"/>
                  <a:gd name="T46" fmla="*/ 369 w 409"/>
                  <a:gd name="T47" fmla="*/ 139 h 204"/>
                  <a:gd name="T48" fmla="*/ 404 w 409"/>
                  <a:gd name="T49" fmla="*/ 129 h 204"/>
                  <a:gd name="T50" fmla="*/ 337 w 409"/>
                  <a:gd name="T51" fmla="*/ 21 h 204"/>
                  <a:gd name="T52" fmla="*/ 193 w 409"/>
                  <a:gd name="T53" fmla="*/ 12 h 204"/>
                  <a:gd name="T54" fmla="*/ 93 w 409"/>
                  <a:gd name="T55" fmla="*/ 54 h 204"/>
                  <a:gd name="T56" fmla="*/ 62 w 409"/>
                  <a:gd name="T57" fmla="*/ 79 h 204"/>
                  <a:gd name="T58" fmla="*/ 62 w 409"/>
                  <a:gd name="T59" fmla="*/ 79 h 204"/>
                  <a:gd name="T60" fmla="*/ 204 w 409"/>
                  <a:gd name="T61" fmla="*/ 125 h 204"/>
                  <a:gd name="T62" fmla="*/ 194 w 409"/>
                  <a:gd name="T63" fmla="*/ 124 h 204"/>
                  <a:gd name="T64" fmla="*/ 244 w 409"/>
                  <a:gd name="T65" fmla="*/ 90 h 204"/>
                  <a:gd name="T66" fmla="*/ 245 w 409"/>
                  <a:gd name="T67" fmla="*/ 60 h 204"/>
                  <a:gd name="T68" fmla="*/ 234 w 409"/>
                  <a:gd name="T69" fmla="*/ 45 h 204"/>
                  <a:gd name="T70" fmla="*/ 284 w 409"/>
                  <a:gd name="T71" fmla="*/ 43 h 204"/>
                  <a:gd name="T72" fmla="*/ 357 w 409"/>
                  <a:gd name="T73" fmla="*/ 75 h 204"/>
                  <a:gd name="T74" fmla="*/ 307 w 409"/>
                  <a:gd name="T75" fmla="*/ 112 h 204"/>
                  <a:gd name="T76" fmla="*/ 249 w 409"/>
                  <a:gd name="T77" fmla="*/ 142 h 204"/>
                  <a:gd name="T78" fmla="*/ 229 w 409"/>
                  <a:gd name="T79" fmla="*/ 127 h 204"/>
                  <a:gd name="T80" fmla="*/ 204 w 409"/>
                  <a:gd name="T81" fmla="*/ 125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409" h="204">
                    <a:moveTo>
                      <a:pt x="62" y="79"/>
                    </a:moveTo>
                    <a:cubicBezTo>
                      <a:pt x="56" y="77"/>
                      <a:pt x="57" y="61"/>
                      <a:pt x="47" y="55"/>
                    </a:cubicBezTo>
                    <a:cubicBezTo>
                      <a:pt x="38" y="49"/>
                      <a:pt x="30" y="49"/>
                      <a:pt x="23" y="49"/>
                    </a:cubicBezTo>
                    <a:cubicBezTo>
                      <a:pt x="16" y="50"/>
                      <a:pt x="1" y="62"/>
                      <a:pt x="0" y="87"/>
                    </a:cubicBezTo>
                    <a:cubicBezTo>
                      <a:pt x="0" y="112"/>
                      <a:pt x="25" y="181"/>
                      <a:pt x="34" y="193"/>
                    </a:cubicBezTo>
                    <a:cubicBezTo>
                      <a:pt x="43" y="204"/>
                      <a:pt x="74" y="198"/>
                      <a:pt x="70" y="186"/>
                    </a:cubicBezTo>
                    <a:cubicBezTo>
                      <a:pt x="65" y="175"/>
                      <a:pt x="57" y="144"/>
                      <a:pt x="65" y="129"/>
                    </a:cubicBezTo>
                    <a:cubicBezTo>
                      <a:pt x="73" y="115"/>
                      <a:pt x="88" y="89"/>
                      <a:pt x="132" y="63"/>
                    </a:cubicBezTo>
                    <a:cubicBezTo>
                      <a:pt x="177" y="38"/>
                      <a:pt x="211" y="39"/>
                      <a:pt x="219" y="42"/>
                    </a:cubicBezTo>
                    <a:cubicBezTo>
                      <a:pt x="227" y="45"/>
                      <a:pt x="224" y="59"/>
                      <a:pt x="223" y="63"/>
                    </a:cubicBezTo>
                    <a:cubicBezTo>
                      <a:pt x="221" y="67"/>
                      <a:pt x="191" y="102"/>
                      <a:pt x="191" y="105"/>
                    </a:cubicBezTo>
                    <a:cubicBezTo>
                      <a:pt x="190" y="108"/>
                      <a:pt x="180" y="114"/>
                      <a:pt x="179" y="103"/>
                    </a:cubicBezTo>
                    <a:cubicBezTo>
                      <a:pt x="179" y="92"/>
                      <a:pt x="177" y="81"/>
                      <a:pt x="166" y="77"/>
                    </a:cubicBezTo>
                    <a:cubicBezTo>
                      <a:pt x="156" y="73"/>
                      <a:pt x="146" y="71"/>
                      <a:pt x="141" y="85"/>
                    </a:cubicBezTo>
                    <a:cubicBezTo>
                      <a:pt x="137" y="99"/>
                      <a:pt x="144" y="109"/>
                      <a:pt x="150" y="113"/>
                    </a:cubicBezTo>
                    <a:cubicBezTo>
                      <a:pt x="155" y="118"/>
                      <a:pt x="164" y="126"/>
                      <a:pt x="156" y="127"/>
                    </a:cubicBezTo>
                    <a:cubicBezTo>
                      <a:pt x="149" y="127"/>
                      <a:pt x="126" y="142"/>
                      <a:pt x="126" y="142"/>
                    </a:cubicBezTo>
                    <a:cubicBezTo>
                      <a:pt x="126" y="142"/>
                      <a:pt x="111" y="140"/>
                      <a:pt x="108" y="153"/>
                    </a:cubicBezTo>
                    <a:cubicBezTo>
                      <a:pt x="106" y="166"/>
                      <a:pt x="115" y="181"/>
                      <a:pt x="122" y="177"/>
                    </a:cubicBezTo>
                    <a:cubicBezTo>
                      <a:pt x="128" y="173"/>
                      <a:pt x="148" y="161"/>
                      <a:pt x="160" y="156"/>
                    </a:cubicBezTo>
                    <a:cubicBezTo>
                      <a:pt x="173" y="151"/>
                      <a:pt x="194" y="144"/>
                      <a:pt x="202" y="149"/>
                    </a:cubicBezTo>
                    <a:cubicBezTo>
                      <a:pt x="210" y="154"/>
                      <a:pt x="211" y="162"/>
                      <a:pt x="225" y="169"/>
                    </a:cubicBezTo>
                    <a:cubicBezTo>
                      <a:pt x="240" y="177"/>
                      <a:pt x="268" y="178"/>
                      <a:pt x="280" y="173"/>
                    </a:cubicBezTo>
                    <a:cubicBezTo>
                      <a:pt x="292" y="167"/>
                      <a:pt x="356" y="138"/>
                      <a:pt x="369" y="139"/>
                    </a:cubicBezTo>
                    <a:cubicBezTo>
                      <a:pt x="383" y="140"/>
                      <a:pt x="398" y="154"/>
                      <a:pt x="404" y="129"/>
                    </a:cubicBezTo>
                    <a:cubicBezTo>
                      <a:pt x="409" y="104"/>
                      <a:pt x="378" y="37"/>
                      <a:pt x="337" y="21"/>
                    </a:cubicBezTo>
                    <a:cubicBezTo>
                      <a:pt x="295" y="5"/>
                      <a:pt x="248" y="0"/>
                      <a:pt x="193" y="12"/>
                    </a:cubicBezTo>
                    <a:cubicBezTo>
                      <a:pt x="139" y="23"/>
                      <a:pt x="113" y="34"/>
                      <a:pt x="93" y="54"/>
                    </a:cubicBezTo>
                    <a:cubicBezTo>
                      <a:pt x="73" y="73"/>
                      <a:pt x="68" y="82"/>
                      <a:pt x="62" y="79"/>
                    </a:cubicBezTo>
                    <a:cubicBezTo>
                      <a:pt x="62" y="79"/>
                      <a:pt x="62" y="79"/>
                      <a:pt x="62" y="79"/>
                    </a:cubicBezTo>
                    <a:close/>
                    <a:moveTo>
                      <a:pt x="204" y="125"/>
                    </a:moveTo>
                    <a:cubicBezTo>
                      <a:pt x="204" y="125"/>
                      <a:pt x="200" y="122"/>
                      <a:pt x="194" y="124"/>
                    </a:cubicBezTo>
                    <a:cubicBezTo>
                      <a:pt x="188" y="125"/>
                      <a:pt x="229" y="99"/>
                      <a:pt x="244" y="90"/>
                    </a:cubicBezTo>
                    <a:cubicBezTo>
                      <a:pt x="259" y="81"/>
                      <a:pt x="253" y="71"/>
                      <a:pt x="245" y="60"/>
                    </a:cubicBezTo>
                    <a:cubicBezTo>
                      <a:pt x="238" y="50"/>
                      <a:pt x="238" y="50"/>
                      <a:pt x="234" y="45"/>
                    </a:cubicBezTo>
                    <a:cubicBezTo>
                      <a:pt x="251" y="42"/>
                      <a:pt x="264" y="41"/>
                      <a:pt x="284" y="43"/>
                    </a:cubicBezTo>
                    <a:cubicBezTo>
                      <a:pt x="310" y="45"/>
                      <a:pt x="341" y="53"/>
                      <a:pt x="357" y="75"/>
                    </a:cubicBezTo>
                    <a:cubicBezTo>
                      <a:pt x="366" y="87"/>
                      <a:pt x="319" y="105"/>
                      <a:pt x="307" y="112"/>
                    </a:cubicBezTo>
                    <a:cubicBezTo>
                      <a:pt x="294" y="118"/>
                      <a:pt x="257" y="138"/>
                      <a:pt x="249" y="142"/>
                    </a:cubicBezTo>
                    <a:cubicBezTo>
                      <a:pt x="241" y="145"/>
                      <a:pt x="238" y="137"/>
                      <a:pt x="229" y="127"/>
                    </a:cubicBezTo>
                    <a:cubicBezTo>
                      <a:pt x="220" y="118"/>
                      <a:pt x="204" y="125"/>
                      <a:pt x="204" y="1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" name="ïslîde"/>
              <p:cNvSpPr/>
              <p:nvPr/>
            </p:nvSpPr>
            <p:spPr bwMode="auto">
              <a:xfrm>
                <a:off x="6911976" y="2584450"/>
                <a:ext cx="781050" cy="1198563"/>
              </a:xfrm>
              <a:custGeom>
                <a:avLst/>
                <a:gdLst>
                  <a:gd name="T0" fmla="*/ 35 w 237"/>
                  <a:gd name="T1" fmla="*/ 87 h 363"/>
                  <a:gd name="T2" fmla="*/ 18 w 237"/>
                  <a:gd name="T3" fmla="*/ 113 h 363"/>
                  <a:gd name="T4" fmla="*/ 29 w 237"/>
                  <a:gd name="T5" fmla="*/ 166 h 363"/>
                  <a:gd name="T6" fmla="*/ 18 w 237"/>
                  <a:gd name="T7" fmla="*/ 273 h 363"/>
                  <a:gd name="T8" fmla="*/ 7 w 237"/>
                  <a:gd name="T9" fmla="*/ 306 h 363"/>
                  <a:gd name="T10" fmla="*/ 16 w 237"/>
                  <a:gd name="T11" fmla="*/ 338 h 363"/>
                  <a:gd name="T12" fmla="*/ 35 w 237"/>
                  <a:gd name="T13" fmla="*/ 311 h 363"/>
                  <a:gd name="T14" fmla="*/ 48 w 237"/>
                  <a:gd name="T15" fmla="*/ 205 h 363"/>
                  <a:gd name="T16" fmla="*/ 52 w 237"/>
                  <a:gd name="T17" fmla="*/ 149 h 363"/>
                  <a:gd name="T18" fmla="*/ 54 w 237"/>
                  <a:gd name="T19" fmla="*/ 114 h 363"/>
                  <a:gd name="T20" fmla="*/ 35 w 237"/>
                  <a:gd name="T21" fmla="*/ 87 h 363"/>
                  <a:gd name="T22" fmla="*/ 35 w 237"/>
                  <a:gd name="T23" fmla="*/ 87 h 363"/>
                  <a:gd name="T24" fmla="*/ 112 w 237"/>
                  <a:gd name="T25" fmla="*/ 102 h 363"/>
                  <a:gd name="T26" fmla="*/ 94 w 237"/>
                  <a:gd name="T27" fmla="*/ 109 h 363"/>
                  <a:gd name="T28" fmla="*/ 98 w 237"/>
                  <a:gd name="T29" fmla="*/ 142 h 363"/>
                  <a:gd name="T30" fmla="*/ 103 w 237"/>
                  <a:gd name="T31" fmla="*/ 171 h 363"/>
                  <a:gd name="T32" fmla="*/ 106 w 237"/>
                  <a:gd name="T33" fmla="*/ 246 h 363"/>
                  <a:gd name="T34" fmla="*/ 127 w 237"/>
                  <a:gd name="T35" fmla="*/ 232 h 363"/>
                  <a:gd name="T36" fmla="*/ 133 w 237"/>
                  <a:gd name="T37" fmla="*/ 191 h 363"/>
                  <a:gd name="T38" fmla="*/ 135 w 237"/>
                  <a:gd name="T39" fmla="*/ 161 h 363"/>
                  <a:gd name="T40" fmla="*/ 133 w 237"/>
                  <a:gd name="T41" fmla="*/ 119 h 363"/>
                  <a:gd name="T42" fmla="*/ 112 w 237"/>
                  <a:gd name="T43" fmla="*/ 102 h 363"/>
                  <a:gd name="T44" fmla="*/ 112 w 237"/>
                  <a:gd name="T45" fmla="*/ 102 h 363"/>
                  <a:gd name="T46" fmla="*/ 209 w 237"/>
                  <a:gd name="T47" fmla="*/ 2 h 363"/>
                  <a:gd name="T48" fmla="*/ 186 w 237"/>
                  <a:gd name="T49" fmla="*/ 5 h 363"/>
                  <a:gd name="T50" fmla="*/ 184 w 237"/>
                  <a:gd name="T51" fmla="*/ 33 h 363"/>
                  <a:gd name="T52" fmla="*/ 190 w 237"/>
                  <a:gd name="T53" fmla="*/ 65 h 363"/>
                  <a:gd name="T54" fmla="*/ 191 w 237"/>
                  <a:gd name="T55" fmla="*/ 174 h 363"/>
                  <a:gd name="T56" fmla="*/ 189 w 237"/>
                  <a:gd name="T57" fmla="*/ 262 h 363"/>
                  <a:gd name="T58" fmla="*/ 199 w 237"/>
                  <a:gd name="T59" fmla="*/ 350 h 363"/>
                  <a:gd name="T60" fmla="*/ 221 w 237"/>
                  <a:gd name="T61" fmla="*/ 330 h 363"/>
                  <a:gd name="T62" fmla="*/ 212 w 237"/>
                  <a:gd name="T63" fmla="*/ 296 h 363"/>
                  <a:gd name="T64" fmla="*/ 208 w 237"/>
                  <a:gd name="T65" fmla="*/ 128 h 363"/>
                  <a:gd name="T66" fmla="*/ 217 w 237"/>
                  <a:gd name="T67" fmla="*/ 68 h 363"/>
                  <a:gd name="T68" fmla="*/ 234 w 237"/>
                  <a:gd name="T69" fmla="*/ 32 h 363"/>
                  <a:gd name="T70" fmla="*/ 209 w 237"/>
                  <a:gd name="T71" fmla="*/ 2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37" h="363">
                    <a:moveTo>
                      <a:pt x="35" y="87"/>
                    </a:moveTo>
                    <a:cubicBezTo>
                      <a:pt x="23" y="88"/>
                      <a:pt x="16" y="93"/>
                      <a:pt x="18" y="113"/>
                    </a:cubicBezTo>
                    <a:cubicBezTo>
                      <a:pt x="21" y="132"/>
                      <a:pt x="33" y="134"/>
                      <a:pt x="29" y="166"/>
                    </a:cubicBezTo>
                    <a:cubicBezTo>
                      <a:pt x="25" y="197"/>
                      <a:pt x="18" y="262"/>
                      <a:pt x="18" y="273"/>
                    </a:cubicBezTo>
                    <a:cubicBezTo>
                      <a:pt x="18" y="283"/>
                      <a:pt x="9" y="299"/>
                      <a:pt x="7" y="306"/>
                    </a:cubicBezTo>
                    <a:cubicBezTo>
                      <a:pt x="4" y="313"/>
                      <a:pt x="0" y="335"/>
                      <a:pt x="16" y="338"/>
                    </a:cubicBezTo>
                    <a:cubicBezTo>
                      <a:pt x="32" y="341"/>
                      <a:pt x="33" y="320"/>
                      <a:pt x="35" y="311"/>
                    </a:cubicBezTo>
                    <a:cubicBezTo>
                      <a:pt x="38" y="301"/>
                      <a:pt x="48" y="218"/>
                      <a:pt x="48" y="205"/>
                    </a:cubicBezTo>
                    <a:cubicBezTo>
                      <a:pt x="47" y="192"/>
                      <a:pt x="49" y="160"/>
                      <a:pt x="52" y="149"/>
                    </a:cubicBezTo>
                    <a:cubicBezTo>
                      <a:pt x="55" y="138"/>
                      <a:pt x="59" y="128"/>
                      <a:pt x="54" y="114"/>
                    </a:cubicBezTo>
                    <a:cubicBezTo>
                      <a:pt x="49" y="101"/>
                      <a:pt x="47" y="86"/>
                      <a:pt x="35" y="87"/>
                    </a:cubicBezTo>
                    <a:cubicBezTo>
                      <a:pt x="35" y="87"/>
                      <a:pt x="35" y="87"/>
                      <a:pt x="35" y="87"/>
                    </a:cubicBezTo>
                    <a:close/>
                    <a:moveTo>
                      <a:pt x="112" y="102"/>
                    </a:moveTo>
                    <a:cubicBezTo>
                      <a:pt x="107" y="101"/>
                      <a:pt x="98" y="100"/>
                      <a:pt x="94" y="109"/>
                    </a:cubicBezTo>
                    <a:cubicBezTo>
                      <a:pt x="89" y="118"/>
                      <a:pt x="94" y="133"/>
                      <a:pt x="98" y="142"/>
                    </a:cubicBezTo>
                    <a:cubicBezTo>
                      <a:pt x="101" y="152"/>
                      <a:pt x="104" y="162"/>
                      <a:pt x="103" y="171"/>
                    </a:cubicBezTo>
                    <a:cubicBezTo>
                      <a:pt x="101" y="180"/>
                      <a:pt x="100" y="240"/>
                      <a:pt x="106" y="246"/>
                    </a:cubicBezTo>
                    <a:cubicBezTo>
                      <a:pt x="111" y="252"/>
                      <a:pt x="121" y="245"/>
                      <a:pt x="127" y="232"/>
                    </a:cubicBezTo>
                    <a:cubicBezTo>
                      <a:pt x="133" y="218"/>
                      <a:pt x="137" y="200"/>
                      <a:pt x="133" y="191"/>
                    </a:cubicBezTo>
                    <a:cubicBezTo>
                      <a:pt x="130" y="183"/>
                      <a:pt x="130" y="173"/>
                      <a:pt x="135" y="161"/>
                    </a:cubicBezTo>
                    <a:cubicBezTo>
                      <a:pt x="140" y="149"/>
                      <a:pt x="137" y="133"/>
                      <a:pt x="133" y="119"/>
                    </a:cubicBezTo>
                    <a:cubicBezTo>
                      <a:pt x="129" y="105"/>
                      <a:pt x="117" y="102"/>
                      <a:pt x="112" y="102"/>
                    </a:cubicBezTo>
                    <a:cubicBezTo>
                      <a:pt x="112" y="102"/>
                      <a:pt x="112" y="102"/>
                      <a:pt x="112" y="102"/>
                    </a:cubicBezTo>
                    <a:close/>
                    <a:moveTo>
                      <a:pt x="209" y="2"/>
                    </a:moveTo>
                    <a:cubicBezTo>
                      <a:pt x="203" y="1"/>
                      <a:pt x="190" y="0"/>
                      <a:pt x="186" y="5"/>
                    </a:cubicBezTo>
                    <a:cubicBezTo>
                      <a:pt x="181" y="10"/>
                      <a:pt x="179" y="21"/>
                      <a:pt x="184" y="33"/>
                    </a:cubicBezTo>
                    <a:cubicBezTo>
                      <a:pt x="190" y="46"/>
                      <a:pt x="191" y="57"/>
                      <a:pt x="190" y="65"/>
                    </a:cubicBezTo>
                    <a:cubicBezTo>
                      <a:pt x="189" y="72"/>
                      <a:pt x="191" y="153"/>
                      <a:pt x="191" y="174"/>
                    </a:cubicBezTo>
                    <a:cubicBezTo>
                      <a:pt x="191" y="195"/>
                      <a:pt x="188" y="235"/>
                      <a:pt x="189" y="262"/>
                    </a:cubicBezTo>
                    <a:cubicBezTo>
                      <a:pt x="190" y="289"/>
                      <a:pt x="189" y="337"/>
                      <a:pt x="199" y="350"/>
                    </a:cubicBezTo>
                    <a:cubicBezTo>
                      <a:pt x="210" y="363"/>
                      <a:pt x="225" y="344"/>
                      <a:pt x="221" y="330"/>
                    </a:cubicBezTo>
                    <a:cubicBezTo>
                      <a:pt x="217" y="317"/>
                      <a:pt x="216" y="321"/>
                      <a:pt x="212" y="296"/>
                    </a:cubicBezTo>
                    <a:cubicBezTo>
                      <a:pt x="209" y="270"/>
                      <a:pt x="208" y="138"/>
                      <a:pt x="208" y="128"/>
                    </a:cubicBezTo>
                    <a:cubicBezTo>
                      <a:pt x="209" y="117"/>
                      <a:pt x="212" y="79"/>
                      <a:pt x="217" y="68"/>
                    </a:cubicBezTo>
                    <a:cubicBezTo>
                      <a:pt x="221" y="57"/>
                      <a:pt x="237" y="45"/>
                      <a:pt x="234" y="32"/>
                    </a:cubicBezTo>
                    <a:cubicBezTo>
                      <a:pt x="236" y="20"/>
                      <a:pt x="215" y="4"/>
                      <a:pt x="209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" name="ïś1idè"/>
              <p:cNvSpPr/>
              <p:nvPr/>
            </p:nvSpPr>
            <p:spPr bwMode="auto">
              <a:xfrm>
                <a:off x="8172451" y="2600325"/>
                <a:ext cx="806450" cy="1046163"/>
              </a:xfrm>
              <a:custGeom>
                <a:avLst/>
                <a:gdLst>
                  <a:gd name="T0" fmla="*/ 144 w 245"/>
                  <a:gd name="T1" fmla="*/ 240 h 317"/>
                  <a:gd name="T2" fmla="*/ 216 w 245"/>
                  <a:gd name="T3" fmla="*/ 298 h 317"/>
                  <a:gd name="T4" fmla="*/ 221 w 245"/>
                  <a:gd name="T5" fmla="*/ 247 h 317"/>
                  <a:gd name="T6" fmla="*/ 155 w 245"/>
                  <a:gd name="T7" fmla="*/ 214 h 317"/>
                  <a:gd name="T8" fmla="*/ 144 w 245"/>
                  <a:gd name="T9" fmla="*/ 240 h 317"/>
                  <a:gd name="T10" fmla="*/ 144 w 245"/>
                  <a:gd name="T11" fmla="*/ 240 h 317"/>
                  <a:gd name="T12" fmla="*/ 117 w 245"/>
                  <a:gd name="T13" fmla="*/ 59 h 317"/>
                  <a:gd name="T14" fmla="*/ 114 w 245"/>
                  <a:gd name="T15" fmla="*/ 20 h 317"/>
                  <a:gd name="T16" fmla="*/ 132 w 245"/>
                  <a:gd name="T17" fmla="*/ 2 h 317"/>
                  <a:gd name="T18" fmla="*/ 151 w 245"/>
                  <a:gd name="T19" fmla="*/ 32 h 317"/>
                  <a:gd name="T20" fmla="*/ 142 w 245"/>
                  <a:gd name="T21" fmla="*/ 57 h 317"/>
                  <a:gd name="T22" fmla="*/ 136 w 245"/>
                  <a:gd name="T23" fmla="*/ 74 h 317"/>
                  <a:gd name="T24" fmla="*/ 131 w 245"/>
                  <a:gd name="T25" fmla="*/ 98 h 317"/>
                  <a:gd name="T26" fmla="*/ 151 w 245"/>
                  <a:gd name="T27" fmla="*/ 91 h 317"/>
                  <a:gd name="T28" fmla="*/ 177 w 245"/>
                  <a:gd name="T29" fmla="*/ 76 h 317"/>
                  <a:gd name="T30" fmla="*/ 208 w 245"/>
                  <a:gd name="T31" fmla="*/ 82 h 317"/>
                  <a:gd name="T32" fmla="*/ 199 w 245"/>
                  <a:gd name="T33" fmla="*/ 103 h 317"/>
                  <a:gd name="T34" fmla="*/ 172 w 245"/>
                  <a:gd name="T35" fmla="*/ 109 h 317"/>
                  <a:gd name="T36" fmla="*/ 124 w 245"/>
                  <a:gd name="T37" fmla="*/ 132 h 317"/>
                  <a:gd name="T38" fmla="*/ 107 w 245"/>
                  <a:gd name="T39" fmla="*/ 203 h 317"/>
                  <a:gd name="T40" fmla="*/ 65 w 245"/>
                  <a:gd name="T41" fmla="*/ 263 h 317"/>
                  <a:gd name="T42" fmla="*/ 32 w 245"/>
                  <a:gd name="T43" fmla="*/ 308 h 317"/>
                  <a:gd name="T44" fmla="*/ 14 w 245"/>
                  <a:gd name="T45" fmla="*/ 303 h 317"/>
                  <a:gd name="T46" fmla="*/ 8 w 245"/>
                  <a:gd name="T47" fmla="*/ 275 h 317"/>
                  <a:gd name="T48" fmla="*/ 24 w 245"/>
                  <a:gd name="T49" fmla="*/ 263 h 317"/>
                  <a:gd name="T50" fmla="*/ 36 w 245"/>
                  <a:gd name="T51" fmla="*/ 267 h 317"/>
                  <a:gd name="T52" fmla="*/ 70 w 245"/>
                  <a:gd name="T53" fmla="*/ 222 h 317"/>
                  <a:gd name="T54" fmla="*/ 93 w 245"/>
                  <a:gd name="T55" fmla="*/ 165 h 317"/>
                  <a:gd name="T56" fmla="*/ 98 w 245"/>
                  <a:gd name="T57" fmla="*/ 148 h 317"/>
                  <a:gd name="T58" fmla="*/ 79 w 245"/>
                  <a:gd name="T59" fmla="*/ 160 h 317"/>
                  <a:gd name="T60" fmla="*/ 46 w 245"/>
                  <a:gd name="T61" fmla="*/ 163 h 317"/>
                  <a:gd name="T62" fmla="*/ 20 w 245"/>
                  <a:gd name="T63" fmla="*/ 134 h 317"/>
                  <a:gd name="T64" fmla="*/ 30 w 245"/>
                  <a:gd name="T65" fmla="*/ 115 h 317"/>
                  <a:gd name="T66" fmla="*/ 64 w 245"/>
                  <a:gd name="T67" fmla="*/ 119 h 317"/>
                  <a:gd name="T68" fmla="*/ 105 w 245"/>
                  <a:gd name="T69" fmla="*/ 106 h 317"/>
                  <a:gd name="T70" fmla="*/ 106 w 245"/>
                  <a:gd name="T71" fmla="*/ 105 h 317"/>
                  <a:gd name="T72" fmla="*/ 117 w 245"/>
                  <a:gd name="T73" fmla="*/ 59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245" h="317">
                    <a:moveTo>
                      <a:pt x="144" y="240"/>
                    </a:moveTo>
                    <a:cubicBezTo>
                      <a:pt x="154" y="257"/>
                      <a:pt x="187" y="309"/>
                      <a:pt x="216" y="298"/>
                    </a:cubicBezTo>
                    <a:cubicBezTo>
                      <a:pt x="245" y="288"/>
                      <a:pt x="233" y="255"/>
                      <a:pt x="221" y="247"/>
                    </a:cubicBezTo>
                    <a:cubicBezTo>
                      <a:pt x="210" y="239"/>
                      <a:pt x="155" y="214"/>
                      <a:pt x="155" y="214"/>
                    </a:cubicBezTo>
                    <a:cubicBezTo>
                      <a:pt x="132" y="204"/>
                      <a:pt x="138" y="230"/>
                      <a:pt x="144" y="240"/>
                    </a:cubicBezTo>
                    <a:cubicBezTo>
                      <a:pt x="144" y="240"/>
                      <a:pt x="144" y="240"/>
                      <a:pt x="144" y="240"/>
                    </a:cubicBezTo>
                    <a:close/>
                    <a:moveTo>
                      <a:pt x="117" y="59"/>
                    </a:moveTo>
                    <a:cubicBezTo>
                      <a:pt x="120" y="57"/>
                      <a:pt x="113" y="32"/>
                      <a:pt x="114" y="20"/>
                    </a:cubicBezTo>
                    <a:cubicBezTo>
                      <a:pt x="115" y="8"/>
                      <a:pt x="124" y="0"/>
                      <a:pt x="132" y="2"/>
                    </a:cubicBezTo>
                    <a:cubicBezTo>
                      <a:pt x="140" y="4"/>
                      <a:pt x="152" y="23"/>
                      <a:pt x="151" y="32"/>
                    </a:cubicBezTo>
                    <a:cubicBezTo>
                      <a:pt x="150" y="42"/>
                      <a:pt x="145" y="53"/>
                      <a:pt x="142" y="57"/>
                    </a:cubicBezTo>
                    <a:cubicBezTo>
                      <a:pt x="139" y="60"/>
                      <a:pt x="137" y="64"/>
                      <a:pt x="136" y="74"/>
                    </a:cubicBezTo>
                    <a:cubicBezTo>
                      <a:pt x="135" y="80"/>
                      <a:pt x="133" y="89"/>
                      <a:pt x="131" y="98"/>
                    </a:cubicBezTo>
                    <a:cubicBezTo>
                      <a:pt x="140" y="95"/>
                      <a:pt x="148" y="93"/>
                      <a:pt x="151" y="91"/>
                    </a:cubicBezTo>
                    <a:cubicBezTo>
                      <a:pt x="157" y="87"/>
                      <a:pt x="168" y="83"/>
                      <a:pt x="177" y="76"/>
                    </a:cubicBezTo>
                    <a:cubicBezTo>
                      <a:pt x="187" y="68"/>
                      <a:pt x="197" y="76"/>
                      <a:pt x="208" y="82"/>
                    </a:cubicBezTo>
                    <a:cubicBezTo>
                      <a:pt x="218" y="88"/>
                      <a:pt x="209" y="98"/>
                      <a:pt x="199" y="103"/>
                    </a:cubicBezTo>
                    <a:cubicBezTo>
                      <a:pt x="188" y="109"/>
                      <a:pt x="179" y="106"/>
                      <a:pt x="172" y="109"/>
                    </a:cubicBezTo>
                    <a:cubicBezTo>
                      <a:pt x="166" y="112"/>
                      <a:pt x="138" y="124"/>
                      <a:pt x="124" y="132"/>
                    </a:cubicBezTo>
                    <a:cubicBezTo>
                      <a:pt x="121" y="152"/>
                      <a:pt x="113" y="188"/>
                      <a:pt x="107" y="203"/>
                    </a:cubicBezTo>
                    <a:cubicBezTo>
                      <a:pt x="101" y="221"/>
                      <a:pt x="77" y="248"/>
                      <a:pt x="65" y="263"/>
                    </a:cubicBezTo>
                    <a:cubicBezTo>
                      <a:pt x="52" y="279"/>
                      <a:pt x="45" y="300"/>
                      <a:pt x="32" y="308"/>
                    </a:cubicBezTo>
                    <a:cubicBezTo>
                      <a:pt x="19" y="317"/>
                      <a:pt x="16" y="311"/>
                      <a:pt x="14" y="303"/>
                    </a:cubicBezTo>
                    <a:cubicBezTo>
                      <a:pt x="12" y="295"/>
                      <a:pt x="0" y="285"/>
                      <a:pt x="8" y="275"/>
                    </a:cubicBezTo>
                    <a:cubicBezTo>
                      <a:pt x="16" y="264"/>
                      <a:pt x="18" y="252"/>
                      <a:pt x="24" y="263"/>
                    </a:cubicBezTo>
                    <a:cubicBezTo>
                      <a:pt x="29" y="273"/>
                      <a:pt x="38" y="267"/>
                      <a:pt x="36" y="267"/>
                    </a:cubicBezTo>
                    <a:cubicBezTo>
                      <a:pt x="34" y="266"/>
                      <a:pt x="62" y="236"/>
                      <a:pt x="70" y="222"/>
                    </a:cubicBezTo>
                    <a:cubicBezTo>
                      <a:pt x="79" y="207"/>
                      <a:pt x="89" y="173"/>
                      <a:pt x="93" y="165"/>
                    </a:cubicBezTo>
                    <a:cubicBezTo>
                      <a:pt x="94" y="163"/>
                      <a:pt x="96" y="157"/>
                      <a:pt x="98" y="148"/>
                    </a:cubicBezTo>
                    <a:cubicBezTo>
                      <a:pt x="91" y="152"/>
                      <a:pt x="84" y="156"/>
                      <a:pt x="79" y="160"/>
                    </a:cubicBezTo>
                    <a:cubicBezTo>
                      <a:pt x="68" y="168"/>
                      <a:pt x="66" y="171"/>
                      <a:pt x="46" y="163"/>
                    </a:cubicBezTo>
                    <a:cubicBezTo>
                      <a:pt x="26" y="154"/>
                      <a:pt x="21" y="145"/>
                      <a:pt x="20" y="134"/>
                    </a:cubicBezTo>
                    <a:cubicBezTo>
                      <a:pt x="18" y="123"/>
                      <a:pt x="24" y="116"/>
                      <a:pt x="30" y="115"/>
                    </a:cubicBezTo>
                    <a:cubicBezTo>
                      <a:pt x="37" y="113"/>
                      <a:pt x="53" y="117"/>
                      <a:pt x="64" y="119"/>
                    </a:cubicBezTo>
                    <a:cubicBezTo>
                      <a:pt x="76" y="121"/>
                      <a:pt x="99" y="108"/>
                      <a:pt x="105" y="106"/>
                    </a:cubicBezTo>
                    <a:cubicBezTo>
                      <a:pt x="105" y="106"/>
                      <a:pt x="106" y="105"/>
                      <a:pt x="106" y="105"/>
                    </a:cubicBezTo>
                    <a:cubicBezTo>
                      <a:pt x="111" y="82"/>
                      <a:pt x="115" y="60"/>
                      <a:pt x="117" y="5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" name="ïsľîďè"/>
              <p:cNvSpPr/>
              <p:nvPr/>
            </p:nvSpPr>
            <p:spPr bwMode="auto">
              <a:xfrm>
                <a:off x="9385301" y="2428875"/>
                <a:ext cx="784225" cy="1284288"/>
              </a:xfrm>
              <a:custGeom>
                <a:avLst/>
                <a:gdLst>
                  <a:gd name="T0" fmla="*/ 62 w 238"/>
                  <a:gd name="T1" fmla="*/ 102 h 389"/>
                  <a:gd name="T2" fmla="*/ 70 w 238"/>
                  <a:gd name="T3" fmla="*/ 150 h 389"/>
                  <a:gd name="T4" fmla="*/ 80 w 238"/>
                  <a:gd name="T5" fmla="*/ 191 h 389"/>
                  <a:gd name="T6" fmla="*/ 98 w 238"/>
                  <a:gd name="T7" fmla="*/ 182 h 389"/>
                  <a:gd name="T8" fmla="*/ 98 w 238"/>
                  <a:gd name="T9" fmla="*/ 198 h 389"/>
                  <a:gd name="T10" fmla="*/ 16 w 238"/>
                  <a:gd name="T11" fmla="*/ 237 h 389"/>
                  <a:gd name="T12" fmla="*/ 7 w 238"/>
                  <a:gd name="T13" fmla="*/ 265 h 389"/>
                  <a:gd name="T14" fmla="*/ 70 w 238"/>
                  <a:gd name="T15" fmla="*/ 235 h 389"/>
                  <a:gd name="T16" fmla="*/ 183 w 238"/>
                  <a:gd name="T17" fmla="*/ 180 h 389"/>
                  <a:gd name="T18" fmla="*/ 183 w 238"/>
                  <a:gd name="T19" fmla="*/ 205 h 389"/>
                  <a:gd name="T20" fmla="*/ 199 w 238"/>
                  <a:gd name="T21" fmla="*/ 209 h 389"/>
                  <a:gd name="T22" fmla="*/ 212 w 238"/>
                  <a:gd name="T23" fmla="*/ 164 h 389"/>
                  <a:gd name="T24" fmla="*/ 163 w 238"/>
                  <a:gd name="T25" fmla="*/ 161 h 389"/>
                  <a:gd name="T26" fmla="*/ 188 w 238"/>
                  <a:gd name="T27" fmla="*/ 110 h 389"/>
                  <a:gd name="T28" fmla="*/ 183 w 238"/>
                  <a:gd name="T29" fmla="*/ 77 h 389"/>
                  <a:gd name="T30" fmla="*/ 179 w 238"/>
                  <a:gd name="T31" fmla="*/ 43 h 389"/>
                  <a:gd name="T32" fmla="*/ 189 w 238"/>
                  <a:gd name="T33" fmla="*/ 22 h 389"/>
                  <a:gd name="T34" fmla="*/ 163 w 238"/>
                  <a:gd name="T35" fmla="*/ 5 h 389"/>
                  <a:gd name="T36" fmla="*/ 163 w 238"/>
                  <a:gd name="T37" fmla="*/ 42 h 389"/>
                  <a:gd name="T38" fmla="*/ 159 w 238"/>
                  <a:gd name="T39" fmla="*/ 65 h 389"/>
                  <a:gd name="T40" fmla="*/ 145 w 238"/>
                  <a:gd name="T41" fmla="*/ 96 h 389"/>
                  <a:gd name="T42" fmla="*/ 139 w 238"/>
                  <a:gd name="T43" fmla="*/ 145 h 389"/>
                  <a:gd name="T44" fmla="*/ 147 w 238"/>
                  <a:gd name="T45" fmla="*/ 172 h 389"/>
                  <a:gd name="T46" fmla="*/ 120 w 238"/>
                  <a:gd name="T47" fmla="*/ 172 h 389"/>
                  <a:gd name="T48" fmla="*/ 125 w 238"/>
                  <a:gd name="T49" fmla="*/ 127 h 389"/>
                  <a:gd name="T50" fmla="*/ 110 w 238"/>
                  <a:gd name="T51" fmla="*/ 117 h 389"/>
                  <a:gd name="T52" fmla="*/ 115 w 238"/>
                  <a:gd name="T53" fmla="*/ 39 h 389"/>
                  <a:gd name="T54" fmla="*/ 104 w 238"/>
                  <a:gd name="T55" fmla="*/ 73 h 389"/>
                  <a:gd name="T56" fmla="*/ 101 w 238"/>
                  <a:gd name="T57" fmla="*/ 134 h 389"/>
                  <a:gd name="T58" fmla="*/ 86 w 238"/>
                  <a:gd name="T59" fmla="*/ 96 h 389"/>
                  <a:gd name="T60" fmla="*/ 54 w 238"/>
                  <a:gd name="T61" fmla="*/ 88 h 389"/>
                  <a:gd name="T62" fmla="*/ 93 w 238"/>
                  <a:gd name="T63" fmla="*/ 244 h 389"/>
                  <a:gd name="T64" fmla="*/ 151 w 238"/>
                  <a:gd name="T65" fmla="*/ 216 h 389"/>
                  <a:gd name="T66" fmla="*/ 146 w 238"/>
                  <a:gd name="T67" fmla="*/ 262 h 389"/>
                  <a:gd name="T68" fmla="*/ 194 w 238"/>
                  <a:gd name="T69" fmla="*/ 265 h 389"/>
                  <a:gd name="T70" fmla="*/ 168 w 238"/>
                  <a:gd name="T71" fmla="*/ 297 h 389"/>
                  <a:gd name="T72" fmla="*/ 158 w 238"/>
                  <a:gd name="T73" fmla="*/ 349 h 389"/>
                  <a:gd name="T74" fmla="*/ 102 w 238"/>
                  <a:gd name="T75" fmla="*/ 372 h 389"/>
                  <a:gd name="T76" fmla="*/ 112 w 238"/>
                  <a:gd name="T77" fmla="*/ 355 h 389"/>
                  <a:gd name="T78" fmla="*/ 151 w 238"/>
                  <a:gd name="T79" fmla="*/ 319 h 389"/>
                  <a:gd name="T80" fmla="*/ 114 w 238"/>
                  <a:gd name="T81" fmla="*/ 312 h 389"/>
                  <a:gd name="T82" fmla="*/ 62 w 238"/>
                  <a:gd name="T83" fmla="*/ 309 h 389"/>
                  <a:gd name="T84" fmla="*/ 133 w 238"/>
                  <a:gd name="T85" fmla="*/ 280 h 389"/>
                  <a:gd name="T86" fmla="*/ 106 w 238"/>
                  <a:gd name="T87" fmla="*/ 259 h 3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38" h="389">
                    <a:moveTo>
                      <a:pt x="54" y="88"/>
                    </a:moveTo>
                    <a:cubicBezTo>
                      <a:pt x="55" y="91"/>
                      <a:pt x="59" y="99"/>
                      <a:pt x="62" y="102"/>
                    </a:cubicBezTo>
                    <a:cubicBezTo>
                      <a:pt x="66" y="106"/>
                      <a:pt x="73" y="113"/>
                      <a:pt x="72" y="116"/>
                    </a:cubicBezTo>
                    <a:cubicBezTo>
                      <a:pt x="72" y="120"/>
                      <a:pt x="70" y="144"/>
                      <a:pt x="70" y="150"/>
                    </a:cubicBezTo>
                    <a:cubicBezTo>
                      <a:pt x="70" y="156"/>
                      <a:pt x="67" y="172"/>
                      <a:pt x="71" y="176"/>
                    </a:cubicBezTo>
                    <a:cubicBezTo>
                      <a:pt x="74" y="180"/>
                      <a:pt x="80" y="191"/>
                      <a:pt x="80" y="191"/>
                    </a:cubicBezTo>
                    <a:cubicBezTo>
                      <a:pt x="80" y="191"/>
                      <a:pt x="88" y="193"/>
                      <a:pt x="90" y="187"/>
                    </a:cubicBezTo>
                    <a:cubicBezTo>
                      <a:pt x="92" y="180"/>
                      <a:pt x="98" y="182"/>
                      <a:pt x="98" y="182"/>
                    </a:cubicBezTo>
                    <a:cubicBezTo>
                      <a:pt x="98" y="182"/>
                      <a:pt x="110" y="187"/>
                      <a:pt x="107" y="190"/>
                    </a:cubicBezTo>
                    <a:cubicBezTo>
                      <a:pt x="104" y="193"/>
                      <a:pt x="105" y="194"/>
                      <a:pt x="98" y="198"/>
                    </a:cubicBezTo>
                    <a:cubicBezTo>
                      <a:pt x="92" y="202"/>
                      <a:pt x="39" y="231"/>
                      <a:pt x="39" y="231"/>
                    </a:cubicBezTo>
                    <a:cubicBezTo>
                      <a:pt x="39" y="231"/>
                      <a:pt x="21" y="236"/>
                      <a:pt x="16" y="237"/>
                    </a:cubicBezTo>
                    <a:cubicBezTo>
                      <a:pt x="11" y="238"/>
                      <a:pt x="4" y="236"/>
                      <a:pt x="2" y="243"/>
                    </a:cubicBezTo>
                    <a:cubicBezTo>
                      <a:pt x="0" y="250"/>
                      <a:pt x="2" y="260"/>
                      <a:pt x="7" y="265"/>
                    </a:cubicBezTo>
                    <a:cubicBezTo>
                      <a:pt x="10" y="266"/>
                      <a:pt x="22" y="271"/>
                      <a:pt x="33" y="266"/>
                    </a:cubicBezTo>
                    <a:cubicBezTo>
                      <a:pt x="47" y="260"/>
                      <a:pt x="60" y="244"/>
                      <a:pt x="70" y="235"/>
                    </a:cubicBezTo>
                    <a:cubicBezTo>
                      <a:pt x="88" y="221"/>
                      <a:pt x="104" y="211"/>
                      <a:pt x="119" y="204"/>
                    </a:cubicBezTo>
                    <a:cubicBezTo>
                      <a:pt x="134" y="198"/>
                      <a:pt x="167" y="182"/>
                      <a:pt x="183" y="180"/>
                    </a:cubicBezTo>
                    <a:cubicBezTo>
                      <a:pt x="199" y="178"/>
                      <a:pt x="202" y="186"/>
                      <a:pt x="199" y="190"/>
                    </a:cubicBezTo>
                    <a:cubicBezTo>
                      <a:pt x="197" y="195"/>
                      <a:pt x="188" y="203"/>
                      <a:pt x="183" y="205"/>
                    </a:cubicBezTo>
                    <a:cubicBezTo>
                      <a:pt x="179" y="208"/>
                      <a:pt x="181" y="213"/>
                      <a:pt x="181" y="213"/>
                    </a:cubicBezTo>
                    <a:cubicBezTo>
                      <a:pt x="181" y="213"/>
                      <a:pt x="185" y="213"/>
                      <a:pt x="199" y="209"/>
                    </a:cubicBezTo>
                    <a:cubicBezTo>
                      <a:pt x="214" y="205"/>
                      <a:pt x="234" y="205"/>
                      <a:pt x="236" y="200"/>
                    </a:cubicBezTo>
                    <a:cubicBezTo>
                      <a:pt x="238" y="196"/>
                      <a:pt x="230" y="165"/>
                      <a:pt x="212" y="164"/>
                    </a:cubicBezTo>
                    <a:cubicBezTo>
                      <a:pt x="193" y="163"/>
                      <a:pt x="172" y="168"/>
                      <a:pt x="167" y="170"/>
                    </a:cubicBezTo>
                    <a:cubicBezTo>
                      <a:pt x="162" y="171"/>
                      <a:pt x="157" y="167"/>
                      <a:pt x="163" y="161"/>
                    </a:cubicBezTo>
                    <a:cubicBezTo>
                      <a:pt x="169" y="154"/>
                      <a:pt x="178" y="146"/>
                      <a:pt x="182" y="133"/>
                    </a:cubicBezTo>
                    <a:cubicBezTo>
                      <a:pt x="186" y="119"/>
                      <a:pt x="192" y="116"/>
                      <a:pt x="188" y="110"/>
                    </a:cubicBezTo>
                    <a:cubicBezTo>
                      <a:pt x="183" y="104"/>
                      <a:pt x="176" y="92"/>
                      <a:pt x="173" y="90"/>
                    </a:cubicBezTo>
                    <a:cubicBezTo>
                      <a:pt x="170" y="88"/>
                      <a:pt x="173" y="81"/>
                      <a:pt x="183" y="77"/>
                    </a:cubicBezTo>
                    <a:cubicBezTo>
                      <a:pt x="193" y="72"/>
                      <a:pt x="204" y="61"/>
                      <a:pt x="198" y="54"/>
                    </a:cubicBezTo>
                    <a:cubicBezTo>
                      <a:pt x="192" y="46"/>
                      <a:pt x="180" y="50"/>
                      <a:pt x="179" y="43"/>
                    </a:cubicBezTo>
                    <a:cubicBezTo>
                      <a:pt x="179" y="35"/>
                      <a:pt x="173" y="31"/>
                      <a:pt x="179" y="29"/>
                    </a:cubicBezTo>
                    <a:cubicBezTo>
                      <a:pt x="185" y="27"/>
                      <a:pt x="191" y="25"/>
                      <a:pt x="189" y="22"/>
                    </a:cubicBezTo>
                    <a:cubicBezTo>
                      <a:pt x="187" y="18"/>
                      <a:pt x="184" y="12"/>
                      <a:pt x="180" y="6"/>
                    </a:cubicBezTo>
                    <a:cubicBezTo>
                      <a:pt x="175" y="1"/>
                      <a:pt x="164" y="0"/>
                      <a:pt x="163" y="5"/>
                    </a:cubicBezTo>
                    <a:cubicBezTo>
                      <a:pt x="161" y="11"/>
                      <a:pt x="161" y="21"/>
                      <a:pt x="161" y="26"/>
                    </a:cubicBezTo>
                    <a:cubicBezTo>
                      <a:pt x="161" y="31"/>
                      <a:pt x="160" y="38"/>
                      <a:pt x="163" y="42"/>
                    </a:cubicBezTo>
                    <a:cubicBezTo>
                      <a:pt x="167" y="46"/>
                      <a:pt x="168" y="48"/>
                      <a:pt x="167" y="52"/>
                    </a:cubicBezTo>
                    <a:cubicBezTo>
                      <a:pt x="166" y="55"/>
                      <a:pt x="166" y="61"/>
                      <a:pt x="159" y="65"/>
                    </a:cubicBezTo>
                    <a:cubicBezTo>
                      <a:pt x="151" y="69"/>
                      <a:pt x="147" y="69"/>
                      <a:pt x="145" y="74"/>
                    </a:cubicBezTo>
                    <a:cubicBezTo>
                      <a:pt x="142" y="80"/>
                      <a:pt x="142" y="94"/>
                      <a:pt x="145" y="96"/>
                    </a:cubicBezTo>
                    <a:cubicBezTo>
                      <a:pt x="147" y="97"/>
                      <a:pt x="155" y="95"/>
                      <a:pt x="153" y="105"/>
                    </a:cubicBezTo>
                    <a:cubicBezTo>
                      <a:pt x="150" y="116"/>
                      <a:pt x="138" y="141"/>
                      <a:pt x="139" y="145"/>
                    </a:cubicBezTo>
                    <a:cubicBezTo>
                      <a:pt x="140" y="150"/>
                      <a:pt x="148" y="148"/>
                      <a:pt x="148" y="153"/>
                    </a:cubicBezTo>
                    <a:cubicBezTo>
                      <a:pt x="148" y="159"/>
                      <a:pt x="151" y="169"/>
                      <a:pt x="147" y="172"/>
                    </a:cubicBezTo>
                    <a:cubicBezTo>
                      <a:pt x="143" y="176"/>
                      <a:pt x="130" y="180"/>
                      <a:pt x="130" y="180"/>
                    </a:cubicBezTo>
                    <a:cubicBezTo>
                      <a:pt x="130" y="180"/>
                      <a:pt x="116" y="184"/>
                      <a:pt x="120" y="172"/>
                    </a:cubicBezTo>
                    <a:cubicBezTo>
                      <a:pt x="123" y="160"/>
                      <a:pt x="126" y="141"/>
                      <a:pt x="127" y="137"/>
                    </a:cubicBezTo>
                    <a:cubicBezTo>
                      <a:pt x="127" y="133"/>
                      <a:pt x="131" y="128"/>
                      <a:pt x="125" y="127"/>
                    </a:cubicBezTo>
                    <a:cubicBezTo>
                      <a:pt x="120" y="127"/>
                      <a:pt x="126" y="117"/>
                      <a:pt x="119" y="120"/>
                    </a:cubicBezTo>
                    <a:cubicBezTo>
                      <a:pt x="113" y="122"/>
                      <a:pt x="108" y="125"/>
                      <a:pt x="110" y="117"/>
                    </a:cubicBezTo>
                    <a:cubicBezTo>
                      <a:pt x="111" y="108"/>
                      <a:pt x="121" y="80"/>
                      <a:pt x="124" y="63"/>
                    </a:cubicBezTo>
                    <a:cubicBezTo>
                      <a:pt x="126" y="46"/>
                      <a:pt x="120" y="43"/>
                      <a:pt x="115" y="39"/>
                    </a:cubicBezTo>
                    <a:cubicBezTo>
                      <a:pt x="110" y="36"/>
                      <a:pt x="95" y="44"/>
                      <a:pt x="95" y="50"/>
                    </a:cubicBezTo>
                    <a:cubicBezTo>
                      <a:pt x="95" y="56"/>
                      <a:pt x="103" y="65"/>
                      <a:pt x="104" y="73"/>
                    </a:cubicBezTo>
                    <a:cubicBezTo>
                      <a:pt x="105" y="81"/>
                      <a:pt x="103" y="107"/>
                      <a:pt x="104" y="110"/>
                    </a:cubicBezTo>
                    <a:cubicBezTo>
                      <a:pt x="104" y="113"/>
                      <a:pt x="102" y="130"/>
                      <a:pt x="101" y="134"/>
                    </a:cubicBezTo>
                    <a:cubicBezTo>
                      <a:pt x="100" y="137"/>
                      <a:pt x="83" y="150"/>
                      <a:pt x="85" y="136"/>
                    </a:cubicBezTo>
                    <a:cubicBezTo>
                      <a:pt x="88" y="122"/>
                      <a:pt x="89" y="105"/>
                      <a:pt x="86" y="96"/>
                    </a:cubicBezTo>
                    <a:cubicBezTo>
                      <a:pt x="82" y="87"/>
                      <a:pt x="67" y="75"/>
                      <a:pt x="62" y="74"/>
                    </a:cubicBezTo>
                    <a:cubicBezTo>
                      <a:pt x="58" y="74"/>
                      <a:pt x="54" y="84"/>
                      <a:pt x="54" y="88"/>
                    </a:cubicBezTo>
                    <a:cubicBezTo>
                      <a:pt x="54" y="88"/>
                      <a:pt x="54" y="88"/>
                      <a:pt x="54" y="88"/>
                    </a:cubicBezTo>
                    <a:close/>
                    <a:moveTo>
                      <a:pt x="93" y="244"/>
                    </a:moveTo>
                    <a:cubicBezTo>
                      <a:pt x="93" y="236"/>
                      <a:pt x="103" y="232"/>
                      <a:pt x="110" y="230"/>
                    </a:cubicBezTo>
                    <a:cubicBezTo>
                      <a:pt x="116" y="229"/>
                      <a:pt x="140" y="217"/>
                      <a:pt x="151" y="216"/>
                    </a:cubicBezTo>
                    <a:cubicBezTo>
                      <a:pt x="162" y="216"/>
                      <a:pt x="162" y="232"/>
                      <a:pt x="159" y="239"/>
                    </a:cubicBezTo>
                    <a:cubicBezTo>
                      <a:pt x="156" y="246"/>
                      <a:pt x="150" y="257"/>
                      <a:pt x="146" y="262"/>
                    </a:cubicBezTo>
                    <a:cubicBezTo>
                      <a:pt x="143" y="267"/>
                      <a:pt x="159" y="270"/>
                      <a:pt x="159" y="270"/>
                    </a:cubicBezTo>
                    <a:cubicBezTo>
                      <a:pt x="159" y="270"/>
                      <a:pt x="184" y="264"/>
                      <a:pt x="194" y="265"/>
                    </a:cubicBezTo>
                    <a:cubicBezTo>
                      <a:pt x="203" y="266"/>
                      <a:pt x="205" y="280"/>
                      <a:pt x="203" y="291"/>
                    </a:cubicBezTo>
                    <a:cubicBezTo>
                      <a:pt x="201" y="302"/>
                      <a:pt x="174" y="298"/>
                      <a:pt x="168" y="297"/>
                    </a:cubicBezTo>
                    <a:cubicBezTo>
                      <a:pt x="162" y="296"/>
                      <a:pt x="166" y="307"/>
                      <a:pt x="164" y="313"/>
                    </a:cubicBezTo>
                    <a:cubicBezTo>
                      <a:pt x="163" y="319"/>
                      <a:pt x="163" y="329"/>
                      <a:pt x="158" y="349"/>
                    </a:cubicBezTo>
                    <a:cubicBezTo>
                      <a:pt x="153" y="368"/>
                      <a:pt x="139" y="381"/>
                      <a:pt x="131" y="385"/>
                    </a:cubicBezTo>
                    <a:cubicBezTo>
                      <a:pt x="122" y="389"/>
                      <a:pt x="106" y="379"/>
                      <a:pt x="102" y="372"/>
                    </a:cubicBezTo>
                    <a:cubicBezTo>
                      <a:pt x="99" y="365"/>
                      <a:pt x="92" y="366"/>
                      <a:pt x="89" y="355"/>
                    </a:cubicBezTo>
                    <a:cubicBezTo>
                      <a:pt x="85" y="344"/>
                      <a:pt x="104" y="351"/>
                      <a:pt x="112" y="355"/>
                    </a:cubicBezTo>
                    <a:cubicBezTo>
                      <a:pt x="119" y="358"/>
                      <a:pt x="132" y="358"/>
                      <a:pt x="139" y="356"/>
                    </a:cubicBezTo>
                    <a:cubicBezTo>
                      <a:pt x="146" y="353"/>
                      <a:pt x="151" y="328"/>
                      <a:pt x="151" y="319"/>
                    </a:cubicBezTo>
                    <a:cubicBezTo>
                      <a:pt x="152" y="309"/>
                      <a:pt x="145" y="302"/>
                      <a:pt x="142" y="301"/>
                    </a:cubicBezTo>
                    <a:cubicBezTo>
                      <a:pt x="139" y="300"/>
                      <a:pt x="126" y="306"/>
                      <a:pt x="114" y="312"/>
                    </a:cubicBezTo>
                    <a:cubicBezTo>
                      <a:pt x="103" y="318"/>
                      <a:pt x="95" y="325"/>
                      <a:pt x="86" y="327"/>
                    </a:cubicBezTo>
                    <a:cubicBezTo>
                      <a:pt x="76" y="329"/>
                      <a:pt x="64" y="319"/>
                      <a:pt x="62" y="309"/>
                    </a:cubicBezTo>
                    <a:cubicBezTo>
                      <a:pt x="60" y="299"/>
                      <a:pt x="88" y="298"/>
                      <a:pt x="93" y="297"/>
                    </a:cubicBezTo>
                    <a:cubicBezTo>
                      <a:pt x="99" y="296"/>
                      <a:pt x="133" y="280"/>
                      <a:pt x="133" y="280"/>
                    </a:cubicBezTo>
                    <a:cubicBezTo>
                      <a:pt x="135" y="272"/>
                      <a:pt x="139" y="251"/>
                      <a:pt x="126" y="249"/>
                    </a:cubicBezTo>
                    <a:cubicBezTo>
                      <a:pt x="118" y="248"/>
                      <a:pt x="113" y="259"/>
                      <a:pt x="106" y="259"/>
                    </a:cubicBezTo>
                    <a:cubicBezTo>
                      <a:pt x="99" y="259"/>
                      <a:pt x="94" y="252"/>
                      <a:pt x="93" y="2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grpSp>
        <p:nvGrpSpPr>
          <p:cNvPr id="61" name="组合 60"/>
          <p:cNvGrpSpPr/>
          <p:nvPr/>
        </p:nvGrpSpPr>
        <p:grpSpPr>
          <a:xfrm>
            <a:off x="5085240" y="5565682"/>
            <a:ext cx="1701690" cy="328936"/>
            <a:chOff x="4073302" y="4836469"/>
            <a:chExt cx="1701690" cy="328936"/>
          </a:xfrm>
        </p:grpSpPr>
        <p:sp>
          <p:nvSpPr>
            <p:cNvPr id="59" name="矩形 58"/>
            <p:cNvSpPr/>
            <p:nvPr/>
          </p:nvSpPr>
          <p:spPr>
            <a:xfrm>
              <a:off x="4333572" y="4836469"/>
              <a:ext cx="1441420" cy="328936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答辩</a:t>
              </a:r>
              <a:r>
                <a:rPr lang="zh-CN" altLang="en-US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人：王晨宇</a:t>
              </a:r>
              <a:endPara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</p:txBody>
        </p:sp>
        <p:sp>
          <p:nvSpPr>
            <p:cNvPr id="60" name="graduation-cap_16905"/>
            <p:cNvSpPr>
              <a:spLocks noChangeAspect="1"/>
            </p:cNvSpPr>
            <p:nvPr/>
          </p:nvSpPr>
          <p:spPr bwMode="auto">
            <a:xfrm>
              <a:off x="4073302" y="4926953"/>
              <a:ext cx="255014" cy="152520"/>
            </a:xfrm>
            <a:custGeom>
              <a:avLst/>
              <a:gdLst>
                <a:gd name="connsiteX0" fmla="*/ 82550 w 331788"/>
                <a:gd name="connsiteY0" fmla="*/ 117475 h 198438"/>
                <a:gd name="connsiteX1" fmla="*/ 165100 w 331788"/>
                <a:gd name="connsiteY1" fmla="*/ 157163 h 198438"/>
                <a:gd name="connsiteX2" fmla="*/ 247650 w 331788"/>
                <a:gd name="connsiteY2" fmla="*/ 117475 h 198438"/>
                <a:gd name="connsiteX3" fmla="*/ 247650 w 331788"/>
                <a:gd name="connsiteY3" fmla="*/ 157163 h 198438"/>
                <a:gd name="connsiteX4" fmla="*/ 165100 w 331788"/>
                <a:gd name="connsiteY4" fmla="*/ 198438 h 198438"/>
                <a:gd name="connsiteX5" fmla="*/ 82550 w 331788"/>
                <a:gd name="connsiteY5" fmla="*/ 157163 h 198438"/>
                <a:gd name="connsiteX6" fmla="*/ 20638 w 331788"/>
                <a:gd name="connsiteY6" fmla="*/ 82550 h 198438"/>
                <a:gd name="connsiteX7" fmla="*/ 24606 w 331788"/>
                <a:gd name="connsiteY7" fmla="*/ 86447 h 198438"/>
                <a:gd name="connsiteX8" fmla="*/ 24606 w 331788"/>
                <a:gd name="connsiteY8" fmla="*/ 150091 h 198438"/>
                <a:gd name="connsiteX9" fmla="*/ 28575 w 331788"/>
                <a:gd name="connsiteY9" fmla="*/ 157885 h 198438"/>
                <a:gd name="connsiteX10" fmla="*/ 24606 w 331788"/>
                <a:gd name="connsiteY10" fmla="*/ 164379 h 198438"/>
                <a:gd name="connsiteX11" fmla="*/ 24606 w 331788"/>
                <a:gd name="connsiteY11" fmla="*/ 178667 h 198438"/>
                <a:gd name="connsiteX12" fmla="*/ 20638 w 331788"/>
                <a:gd name="connsiteY12" fmla="*/ 182563 h 198438"/>
                <a:gd name="connsiteX13" fmla="*/ 16669 w 331788"/>
                <a:gd name="connsiteY13" fmla="*/ 178667 h 198438"/>
                <a:gd name="connsiteX14" fmla="*/ 16669 w 331788"/>
                <a:gd name="connsiteY14" fmla="*/ 164379 h 198438"/>
                <a:gd name="connsiteX15" fmla="*/ 12700 w 331788"/>
                <a:gd name="connsiteY15" fmla="*/ 157885 h 198438"/>
                <a:gd name="connsiteX16" fmla="*/ 16669 w 331788"/>
                <a:gd name="connsiteY16" fmla="*/ 150091 h 198438"/>
                <a:gd name="connsiteX17" fmla="*/ 16669 w 331788"/>
                <a:gd name="connsiteY17" fmla="*/ 86447 h 198438"/>
                <a:gd name="connsiteX18" fmla="*/ 20638 w 331788"/>
                <a:gd name="connsiteY18" fmla="*/ 82550 h 198438"/>
                <a:gd name="connsiteX19" fmla="*/ 165100 w 331788"/>
                <a:gd name="connsiteY19" fmla="*/ 58738 h 198438"/>
                <a:gd name="connsiteX20" fmla="*/ 152400 w 331788"/>
                <a:gd name="connsiteY20" fmla="*/ 66676 h 198438"/>
                <a:gd name="connsiteX21" fmla="*/ 165100 w 331788"/>
                <a:gd name="connsiteY21" fmla="*/ 74614 h 198438"/>
                <a:gd name="connsiteX22" fmla="*/ 177800 w 331788"/>
                <a:gd name="connsiteY22" fmla="*/ 66676 h 198438"/>
                <a:gd name="connsiteX23" fmla="*/ 165100 w 331788"/>
                <a:gd name="connsiteY23" fmla="*/ 58738 h 198438"/>
                <a:gd name="connsiteX24" fmla="*/ 165100 w 331788"/>
                <a:gd name="connsiteY24" fmla="*/ 0 h 198438"/>
                <a:gd name="connsiteX25" fmla="*/ 331788 w 331788"/>
                <a:gd name="connsiteY25" fmla="*/ 66675 h 198438"/>
                <a:gd name="connsiteX26" fmla="*/ 165100 w 331788"/>
                <a:gd name="connsiteY26" fmla="*/ 149225 h 198438"/>
                <a:gd name="connsiteX27" fmla="*/ 0 w 331788"/>
                <a:gd name="connsiteY27" fmla="*/ 66675 h 19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31788" h="198438">
                  <a:moveTo>
                    <a:pt x="82550" y="117475"/>
                  </a:moveTo>
                  <a:lnTo>
                    <a:pt x="165100" y="157163"/>
                  </a:lnTo>
                  <a:lnTo>
                    <a:pt x="247650" y="117475"/>
                  </a:lnTo>
                  <a:lnTo>
                    <a:pt x="247650" y="157163"/>
                  </a:lnTo>
                  <a:lnTo>
                    <a:pt x="165100" y="198438"/>
                  </a:lnTo>
                  <a:lnTo>
                    <a:pt x="82550" y="157163"/>
                  </a:lnTo>
                  <a:close/>
                  <a:moveTo>
                    <a:pt x="20638" y="82550"/>
                  </a:moveTo>
                  <a:cubicBezTo>
                    <a:pt x="23283" y="82550"/>
                    <a:pt x="24606" y="85148"/>
                    <a:pt x="24606" y="86447"/>
                  </a:cubicBezTo>
                  <a:cubicBezTo>
                    <a:pt x="24606" y="86447"/>
                    <a:pt x="24606" y="86447"/>
                    <a:pt x="24606" y="150091"/>
                  </a:cubicBezTo>
                  <a:cubicBezTo>
                    <a:pt x="27252" y="151390"/>
                    <a:pt x="28575" y="153988"/>
                    <a:pt x="28575" y="157885"/>
                  </a:cubicBezTo>
                  <a:cubicBezTo>
                    <a:pt x="28575" y="160482"/>
                    <a:pt x="27252" y="163080"/>
                    <a:pt x="24606" y="164379"/>
                  </a:cubicBezTo>
                  <a:cubicBezTo>
                    <a:pt x="24606" y="164379"/>
                    <a:pt x="24606" y="164379"/>
                    <a:pt x="24606" y="178667"/>
                  </a:cubicBezTo>
                  <a:cubicBezTo>
                    <a:pt x="24606" y="181264"/>
                    <a:pt x="23283" y="182563"/>
                    <a:pt x="20638" y="182563"/>
                  </a:cubicBezTo>
                  <a:cubicBezTo>
                    <a:pt x="17992" y="182563"/>
                    <a:pt x="16669" y="181264"/>
                    <a:pt x="16669" y="178667"/>
                  </a:cubicBezTo>
                  <a:cubicBezTo>
                    <a:pt x="16669" y="178667"/>
                    <a:pt x="16669" y="178667"/>
                    <a:pt x="16669" y="164379"/>
                  </a:cubicBezTo>
                  <a:cubicBezTo>
                    <a:pt x="14023" y="163080"/>
                    <a:pt x="12700" y="160482"/>
                    <a:pt x="12700" y="157885"/>
                  </a:cubicBezTo>
                  <a:cubicBezTo>
                    <a:pt x="12700" y="153988"/>
                    <a:pt x="14023" y="151390"/>
                    <a:pt x="16669" y="150091"/>
                  </a:cubicBezTo>
                  <a:cubicBezTo>
                    <a:pt x="16669" y="150091"/>
                    <a:pt x="16669" y="150091"/>
                    <a:pt x="16669" y="86447"/>
                  </a:cubicBezTo>
                  <a:cubicBezTo>
                    <a:pt x="16669" y="85148"/>
                    <a:pt x="17992" y="82550"/>
                    <a:pt x="20638" y="82550"/>
                  </a:cubicBezTo>
                  <a:close/>
                  <a:moveTo>
                    <a:pt x="165100" y="58738"/>
                  </a:moveTo>
                  <a:cubicBezTo>
                    <a:pt x="158086" y="58738"/>
                    <a:pt x="152400" y="62292"/>
                    <a:pt x="152400" y="66676"/>
                  </a:cubicBezTo>
                  <a:cubicBezTo>
                    <a:pt x="152400" y="71060"/>
                    <a:pt x="158086" y="74614"/>
                    <a:pt x="165100" y="74614"/>
                  </a:cubicBezTo>
                  <a:cubicBezTo>
                    <a:pt x="172114" y="74614"/>
                    <a:pt x="177800" y="71060"/>
                    <a:pt x="177800" y="66676"/>
                  </a:cubicBezTo>
                  <a:cubicBezTo>
                    <a:pt x="177800" y="62292"/>
                    <a:pt x="172114" y="58738"/>
                    <a:pt x="165100" y="58738"/>
                  </a:cubicBezTo>
                  <a:close/>
                  <a:moveTo>
                    <a:pt x="165100" y="0"/>
                  </a:moveTo>
                  <a:lnTo>
                    <a:pt x="331788" y="66675"/>
                  </a:lnTo>
                  <a:lnTo>
                    <a:pt x="165100" y="14922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3F3B3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763a3f4e-9d53-4af4-bab9-7348766026b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763a3f4e-9d53-4af4-bab9-7348766026be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693</TotalTime>
  <Words>2107</Words>
  <Application>Microsoft Office PowerPoint</Application>
  <PresentationFormat>宽屏</PresentationFormat>
  <Paragraphs>376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3" baseType="lpstr">
      <vt:lpstr>思源黑体 CN Bold</vt:lpstr>
      <vt:lpstr>思源黑体 CN Light</vt:lpstr>
      <vt:lpstr>Microsoft YaHei</vt:lpstr>
      <vt:lpstr>Microsoft YaHei</vt:lpstr>
      <vt:lpstr>Arial</vt:lpstr>
      <vt:lpstr>Calibri</vt:lpstr>
      <vt:lpstr>Office 主题</vt:lpstr>
      <vt:lpstr>PowerPoint 演示文稿</vt:lpstr>
      <vt:lpstr>项目背景和目标</vt:lpstr>
      <vt:lpstr>小组分工</vt:lpstr>
      <vt:lpstr>系统架构总览</vt:lpstr>
      <vt:lpstr>CV 模块 —— 人脸表情识别（7 分类）</vt:lpstr>
      <vt:lpstr>NLP 模块 —— 中文文本情感分析（3 分类）</vt:lpstr>
      <vt:lpstr>融合模块 —— 多模态融合（5 分类）</vt:lpstr>
      <vt:lpstr>系统界面与功能演示</vt:lpstr>
      <vt:lpstr>实验数据与性能对比</vt:lpstr>
      <vt:lpstr>项目创新点与主要贡献</vt:lpstr>
      <vt:lpstr>多模态融合策略—— 冲突感知 SarcasmAwareFusion </vt:lpstr>
      <vt:lpstr>典型案例分析 —— 矛盾 vs 一致场景</vt:lpstr>
      <vt:lpstr>系统演示 Demo</vt:lpstr>
      <vt:lpstr>问题与改进</vt:lpstr>
      <vt:lpstr>总结与展望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王晨宇</dc:creator>
  <cp:lastModifiedBy>晨宇 王</cp:lastModifiedBy>
  <cp:revision>42</cp:revision>
  <dcterms:created xsi:type="dcterms:W3CDTF">2019-03-31T07:42:00Z</dcterms:created>
  <dcterms:modified xsi:type="dcterms:W3CDTF">2026-06-17T16:56:31Z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2052-11.1.0.10700</vt:lpwstr>
  </property>
  <property fmtid="{D5CDD505-2E9C-101B-9397-08002B2CF9AE}" pid="3" name="KSOTemplateUUID">
    <vt:lpwstr>v1.0_mb_usuw9q9XEWFxJUDe9/GA8Q==</vt:lpwstr>
  </property>
  <property fmtid="{D5CDD505-2E9C-101B-9397-08002B2CF9AE}" pid="4" name="ICV">
    <vt:lpwstr>CACFCBD8BEF74D499D060554C9A928F1</vt:lpwstr>
  </property>
</Properties>
</file>